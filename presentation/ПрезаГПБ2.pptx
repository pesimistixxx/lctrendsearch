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-6" y="-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Источники: README.md; docs/architecture.md; ТЗ Газпромбанк.Тех, разделы 3-4. Текущий search score в репозитории является эвристикой, а не обученной вероятностью.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/Users/komputer/Downloads/1. Газпромбанк.Тех (1).pdf, страницы 4-10. Слайд суммирует обязательные требования к результату и критериям оценки.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Источники: docs/architecture.md; docs/pipeline-before-after.md; README.md; compose.yaml. Диаграмма отражает реализованные модули и планируемое подключение обученной модели.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Источники: README.md; docs/architecture.md; frontend/README.md; src/lctrend/ingest. Онлайн-поиск EPO не заявлен: реализован разбор локального EPO XML.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Временной граф хранит состояние технологий, публикаций, организаций и связей на дату наблюдения. Это позволяет восстановить срез на дату T, сравнить траектории роста и исключить утечку будущих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До текущей схемы рассматривались каскадный поиск, поиск по гэпам и финальное LLM-ранжирование. Итоговый гибрид сохраняет полноту кандидатов, объяснимость score и проверку доказательств во времени.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Источники: src/lctrend/ranking/search.py; src/lctrend/ranking/scoring.py; src/lctrend/ranking/signals.py; docs/hgt-pipeline-2026-09-29.md.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Источники: docs/model-training.md; docs/technology-contract.md; src/lctrend/llm/validation.py; src/lctrend/ranking/scoring.py.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Скриншоты сделаны из локальной сборки frontend/dist 29.09.2026. Интерфейс работал в demo/mock-режиме, поэтому показанные технологии, числа и источники синтетические.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Три преимущества связаны с архитектурой проекта: скорость через инкрементальную обработку, интерпретируемость через признаки и цитаты, масштабируемость через адаптеры, очереди, временной граф и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Масштабирование основано на существующей модульной архитектуре: адаптеры источников, очереди, raw snapshots, временной граф Neo4j, FastAPI и отдельный контур обучения моделей.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/>
          <a:lstStyle>
            <a:lvl1pPr>
              <a:buNone/>
              <a:defRPr/>
            </a:lvl1pPr>
          </a:lstStyle>
          <a:p>
            <a:r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/>
          <a:lstStyle>
            <a:lvl1pPr marL="0" indent="712788"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/>
          <a:lstStyle>
            <a:lvl1pPr>
              <a:buNone/>
              <a:defRPr/>
            </a:lvl1pPr>
          </a:lstStyle>
          <a:p>
            <a:r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sz="1600" b="0"/>
              <a:t>Номер и название задачи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/>
          <a:lstStyle>
            <a:lvl1pPr>
              <a:buNone/>
              <a:defRPr/>
            </a:lvl1pPr>
          </a:lstStyle>
          <a:p>
            <a:r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>
            <a:lvl1pPr>
              <a:buNone/>
              <a:defRPr/>
            </a:lvl1pPr>
          </a:lstStyle>
          <a:p>
            <a:r>
              <a:t>КОМАНДА «НАЗВАНИЕ»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t>29.09.2026</a:t>
            </a:fld>
            <a:endParaRPr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>
            <a:lvl1pPr>
              <a:buNone/>
              <a:defRPr/>
            </a:lvl1pPr>
          </a:lstStyle>
          <a:p>
            <a:r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buNone/>
            </a:pPr>
            <a:r>
              <a:t>Роль в команде</a:t>
            </a:r>
          </a:p>
          <a:p>
            <a:pPr lvl="0">
              <a:buNone/>
            </a:pPr>
            <a:r>
              <a:t>Telegram</a:t>
            </a:r>
          </a:p>
          <a:p>
            <a:pPr lvl="0">
              <a:buNone/>
            </a:pPr>
            <a:r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buNone/>
            </a:pPr>
            <a:r>
              <a:t>Роль в команде</a:t>
            </a:r>
          </a:p>
          <a:p>
            <a:pPr lvl="0">
              <a:buNone/>
            </a:pPr>
            <a:r>
              <a:t>Telegram</a:t>
            </a:r>
          </a:p>
          <a:p>
            <a:pPr lvl="0">
              <a:buNone/>
            </a:pPr>
            <a:r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buNone/>
            </a:pPr>
            <a:r>
              <a:t>Роль в команде</a:t>
            </a:r>
          </a:p>
          <a:p>
            <a:pPr lvl="0">
              <a:buNone/>
            </a:pPr>
            <a:r>
              <a:t>Telegram</a:t>
            </a:r>
          </a:p>
          <a:p>
            <a:pPr lvl="0">
              <a:buNone/>
            </a:pPr>
            <a:r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buNone/>
            </a:pPr>
            <a:r>
              <a:t>Роль в команде</a:t>
            </a:r>
          </a:p>
          <a:p>
            <a:pPr lvl="0">
              <a:buNone/>
            </a:pPr>
            <a:r>
              <a:t>Telegram</a:t>
            </a:r>
          </a:p>
          <a:p>
            <a:pPr lvl="0">
              <a:buNone/>
            </a:pPr>
            <a:r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buNone/>
            </a:pPr>
            <a:r>
              <a:t>Роль в команде</a:t>
            </a:r>
          </a:p>
          <a:p>
            <a:pPr lvl="0">
              <a:buNone/>
            </a:pPr>
            <a:r>
              <a:t>Telegram</a:t>
            </a:r>
          </a:p>
          <a:p>
            <a:pPr lvl="0">
              <a:buNone/>
            </a:pPr>
            <a:r>
              <a:t>Номер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t>29.09.2026</a:t>
            </a:fld>
            <a:endParaRPr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t>29.09.2026</a:t>
            </a:fld>
            <a:endParaRPr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t>29.09.2026</a:t>
            </a:fld>
            <a:endParaRPr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r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t>29.09.2026</a:t>
            </a:fld>
            <a:endParaRPr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r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t>29.09.2026</a:t>
            </a:fld>
            <a:endParaRPr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buNone/>
              <a:defRPr sz="24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buNone/>
              <a:defRPr sz="1773"/>
            </a:lvl1pPr>
            <a:lvl2pPr>
              <a:buNone/>
              <a:defRPr sz="1520"/>
            </a:lvl2pPr>
            <a:lvl3pPr>
              <a:buNone/>
              <a:defRPr sz="1266"/>
            </a:lvl3pPr>
            <a:lvl4pPr>
              <a:buNone/>
              <a:defRPr sz="1141"/>
            </a:lvl4pPr>
            <a:lvl5pPr>
              <a:buNone/>
              <a:defRPr sz="1141"/>
            </a:lvl5pPr>
            <a:lvl6pPr>
              <a:buNone/>
              <a:defRPr sz="1266"/>
            </a:lvl6pPr>
            <a:lvl7pPr>
              <a:buNone/>
              <a:defRPr sz="1266"/>
            </a:lvl7pPr>
            <a:lvl8pPr>
              <a:buNone/>
              <a:defRPr sz="1266"/>
            </a:lvl8pPr>
            <a:lvl9pPr>
              <a:buNone/>
              <a:defRPr sz="1266"/>
            </a:lvl9pPr>
          </a:lstStyle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t>29.09.2026</a:t>
            </a:fld>
            <a:endParaRPr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BAB2196-A440-4E25-B9FF-D0ADB01B1A15}" type="datetime1">
              <a:t>29.09.2026</a:t>
            </a:fld>
            <a:endParaRPr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/>
          <a:lstStyle>
            <a:lvl1pPr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t>29.09.2026</a:t>
            </a:fld>
            <a:endParaRPr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buNone/>
              <a:defRPr sz="1400"/>
            </a:lvl2pPr>
          </a:lstStyle>
          <a:p>
            <a:pPr lvl="1">
              <a:buNone/>
            </a:pPr>
            <a:r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buNone/>
              <a:defRPr sz="1400"/>
            </a:lvl2pPr>
          </a:lstStyle>
          <a:p>
            <a:pPr lvl="1">
              <a:buNone/>
            </a:pPr>
            <a:r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buNone/>
              <a:defRPr sz="1400"/>
            </a:lvl2pPr>
          </a:lstStyle>
          <a:p>
            <a:pPr lvl="1">
              <a:buNone/>
            </a:pPr>
            <a:r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buNone/>
              <a:defRPr sz="1400"/>
            </a:lvl2pPr>
          </a:lstStyle>
          <a:p>
            <a:pPr lvl="1">
              <a:buNone/>
            </a:pPr>
            <a:r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buNone/>
              <a:defRPr sz="1400"/>
            </a:lvl2pPr>
          </a:lstStyle>
          <a:p>
            <a:pPr lvl="1">
              <a:buNone/>
            </a:pPr>
            <a:r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buNone/>
              <a:defRPr sz="1400"/>
            </a:lvl2pPr>
          </a:lstStyle>
          <a:p>
            <a:pPr lvl="1">
              <a:buNone/>
            </a:pPr>
            <a:r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r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06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t>29.09.2026</a:t>
            </a:fld>
            <a:endParaRPr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r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t>29.09.2026</a:t>
            </a:fld>
            <a:endParaRPr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r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>
              <a:buNone/>
            </a:pPr>
            <a:r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t>29.09.2026</a:t>
            </a:fld>
            <a:endParaRPr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r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t>29.09.2026</a:t>
            </a:fld>
            <a:endParaRPr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r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t>29.09.2026</a:t>
            </a:fld>
            <a:endParaRPr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r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t>29.09.2026</a:t>
            </a:fld>
            <a:endParaRPr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r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t>29.09.2026</a:t>
            </a:fld>
            <a:endParaRPr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r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Решение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t>29.09.2026</a:t>
            </a:fld>
            <a:endParaRPr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r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t>29.09.2026</a:t>
            </a:fld>
            <a:endParaRPr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r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6855540" y="1577998"/>
            <a:ext cx="4121688" cy="2283975"/>
          </a:xfrm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cxnSp>
        <p:nvCxnSpPr>
          <p:cNvPr id="194" name="Google Shape;2799;p94"/>
          <p:cNvCxnSpPr/>
          <p:nvPr/>
        </p:nvCxnSpPr>
        <p:spPr>
          <a:xfrm>
            <a:off x="4244694" y="1870413"/>
            <a:ext cx="686698" cy="0"/>
          </a:xfrm>
          <a:prstGeom prst="straightConnector1">
            <a:avLst/>
          </a:prstGeom>
          <a:ln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5" name="Google Shape;2799;p94"/>
          <p:cNvCxnSpPr/>
          <p:nvPr/>
        </p:nvCxnSpPr>
        <p:spPr>
          <a:xfrm>
            <a:off x="4244694" y="4094630"/>
            <a:ext cx="686698" cy="0"/>
          </a:xfrm>
          <a:prstGeom prst="straightConnector1">
            <a:avLst/>
          </a:prstGeom>
          <a:ln w="25400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" name="Google Shape;2799;p94"/>
          <p:cNvCxnSpPr/>
          <p:nvPr/>
        </p:nvCxnSpPr>
        <p:spPr>
          <a:xfrm>
            <a:off x="7250583" y="1870413"/>
            <a:ext cx="686698" cy="0"/>
          </a:xfrm>
          <a:prstGeom prst="straightConnector1">
            <a:avLst/>
          </a:prstGeom>
          <a:ln w="25400" cap="flat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" name="Google Shape;2799;p94"/>
          <p:cNvCxnSpPr/>
          <p:nvPr/>
        </p:nvCxnSpPr>
        <p:spPr>
          <a:xfrm>
            <a:off x="7250583" y="4094630"/>
            <a:ext cx="686698" cy="0"/>
          </a:xfrm>
          <a:prstGeom prst="straightConnector1">
            <a:avLst/>
          </a:prstGeom>
          <a:ln w="25400" cap="flat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fld id="{9D490EE5-ED7D-46E8-8345-A78A0CB0F4A4}" type="datetime1">
              <a:t>29.09.2026</a:t>
            </a:fld>
            <a:endParaRPr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endParaRPr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52DCC5B9-D646-4B76-891F-6FF4E74E9CB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t>29.09.2026</a:t>
            </a:fld>
            <a:endParaRPr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r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t>29.09.2026</a:t>
            </a:fld>
            <a:endParaRPr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hdr="0" ftr="0" dt="0"/>
  <p:txStyles>
    <p:titleStyle>
      <a:lvl1pPr algn="l" defTabSz="578755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lt"/>
          <a:cs typeface="+mj-lt"/>
        </a:defRPr>
      </a:lvl1pPr>
    </p:titleStyle>
    <p:bodyStyle>
      <a:lvl1pPr marL="144688" indent="-144688" algn="l" defTabSz="578755">
        <a:lnSpc>
          <a:spcPct val="90000"/>
        </a:lnSpc>
        <a:spcBef>
          <a:spcPts val="631"/>
        </a:spcBef>
        <a:buFont typeface="Arial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1pPr>
      <a:lvl2pPr marL="434067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2pPr>
      <a:lvl3pPr marL="72344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3pPr>
      <a:lvl4pPr marL="101282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4pPr>
      <a:lvl5pPr marL="1302200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5pPr>
      <a:lvl6pPr marL="1591576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marL="188095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marL="2170334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marL="245971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1pPr>
      <a:lvl2pPr marL="289378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2pPr>
      <a:lvl3pPr marL="578755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3pPr>
      <a:lvl4pPr marL="868132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4pPr>
      <a:lvl5pPr marL="115751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5pPr>
      <a:lvl6pPr marL="1446887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marL="1736266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marL="2025644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marL="2315021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>
              <a:buNone/>
            </a:pPr>
            <a:r>
              <a:rPr sz="4800"/>
              <a:t>Лавандовый Раф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0" y="5659501"/>
            <a:ext cx="8930641" cy="757174"/>
          </a:xfrm>
        </p:spPr>
        <p:txBody>
          <a:bodyPr anchor="ctr">
            <a:normAutofit lnSpcReduction="10000"/>
          </a:bodyPr>
          <a:lstStyle/>
          <a:p>
            <a:pPr indent="268288">
              <a:buNone/>
            </a:pPr>
            <a:r>
              <a:t>Бизнес 1. Сервис для автоматизированного сбора и анализа зарождающихся трендов (слабые сигналы) в научно-технологических отраслях</a:t>
            </a: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>
            <a:spLocks noGrp="1"/>
          </p:cNvSpPr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pic>
        <p:nvPicPr>
          <p:cNvPr id="10" name="Imag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605" y="660565"/>
            <a:ext cx="4162527" cy="596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>
            <a:spLocks noGrp="1"/>
          </p:cNvSpPr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C7F1B208-7478-7BDA-1FDE-22C1555254C4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0" y="335267"/>
            <a:ext cx="6456363" cy="2971784"/>
          </a:xfrm>
        </p:spPr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>
            <a:spLocks noGrp="1"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>
            <a:spLocks noGrp="1"/>
          </p:cNvSpPr>
          <p:nvPr/>
        </p:nvSpPr>
        <p:spPr>
          <a:xfrm>
            <a:off x="6836606" y="4876070"/>
            <a:ext cx="4945565" cy="148028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 lnSpcReduction="10000"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</a:pPr>
            <a:r>
              <a:rPr>
                <a:solidFill>
                  <a:schemeClr val="tx1"/>
                </a:solidFill>
              </a:rPr>
              <a:t>Решение сочетает граф знаний, HGT для анализа разнородных связей и CatBoost для интерпретируемой классификации. Система показывает не только итоговый рейтинг, но и конкретные источники, связи и признаки, повлиявшие на оценку. Это делает поиск слабых сигналов прозрачным и проверяемым.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>
            <a:spLocks noGrp="1"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tx1"/>
                </a:solidFill>
              </a:rPr>
              <a:t>Капитан: Заренков Пётр Иванович</a:t>
            </a:r>
            <a:r>
              <a:rPr>
                <a:solidFill>
                  <a:schemeClr val="tx1"/>
                </a:solidFill>
              </a:rPr>
              <a:t>, Ml engineer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tx1"/>
                </a:solidFill>
              </a:rPr>
              <a:t>Кол-во участников: </a:t>
            </a:r>
            <a:r>
              <a:rPr>
                <a:solidFill>
                  <a:schemeClr val="tx1"/>
                </a:solidFill>
              </a:rPr>
              <a:t>5 человек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tx1"/>
                </a:solidFill>
              </a:rPr>
              <a:t>Краткое описание: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i="1">
                <a:solidFill>
                  <a:schemeClr val="tx1"/>
                </a:solidFill>
              </a:rPr>
              <a:t>Команда образовалась спонтанно, собрались на мероприятии и решили вместе поучаствовать в хакатоне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i="1">
                <a:solidFill>
                  <a:schemeClr val="tx1"/>
                </a:solidFill>
              </a:rPr>
              <a:t>Собрали в команде людей из разных университетов: Вшэ, Маи, Финансовый Университет, а также разных компаний: МТС, Яндекс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tx1"/>
                </a:solidFill>
              </a:rPr>
              <a:t>Город и регион: Москва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>
            <a:spLocks noGrp="1"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r>
              <a:rPr sz="2400">
                <a:solidFill>
                  <a:schemeClr val="accent5"/>
                </a:solidFill>
                <a:latin typeface="+mn-lt"/>
                <a:ea typeface="+mn-lt"/>
                <a:cs typeface="+mn-lt"/>
              </a:rPr>
              <a:t>Команда</a:t>
            </a:r>
            <a:br/>
            <a:r>
              <a:rPr sz="2400">
                <a:solidFill>
                  <a:schemeClr val="accent5"/>
                </a:solidFill>
                <a:latin typeface="+mn-lt"/>
                <a:ea typeface="+mn-lt"/>
                <a:cs typeface="+mn-lt"/>
              </a:rPr>
              <a:t>Лавандовый Раф</a:t>
            </a:r>
          </a:p>
        </p:txBody>
      </p:sp>
      <p:sp>
        <p:nv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519DCAAB-C6B6-4A0C-BBF2-DE0F7B84E12E}"/>
              </a:ext>
            </a:extLst>
          </p:cNvPr>
          <p:cNvSpPr>
            <a:spLocks noGrp="1"/>
          </p:cNvSpPr>
          <p:nvPr/>
        </p:nv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2A2B9CC2-4201-486B-B533-5238DB8A7AF7}"/>
              </a:ext>
            </a:extLst>
          </p:cNvPr>
          <p:cNvSpPr>
            <a:spLocks noGrp="1"/>
          </p:cNvSpPr>
          <p:nvPr/>
        </p:nv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BD42338E-F20E-4834-94F1-D137415088FB}"/>
              </a:ext>
            </a:extLst>
          </p:cNvPr>
          <p:cNvSpPr>
            <a:spLocks noGrp="1"/>
          </p:cNvSpPr>
          <p:nvPr/>
        </p:nv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>
            <a:spLocks noGrp="1"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>
            <a:spLocks noGrp="1"/>
          </p:cNvSpPr>
          <p:nvPr/>
        </p:nvSpPr>
        <p:spPr>
          <a:xfrm>
            <a:off x="6808027" y="2619902"/>
            <a:ext cx="4945565" cy="163230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 lnSpcReduction="10000"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</a:pPr>
            <a:r>
              <a:rPr>
                <a:solidFill>
                  <a:schemeClr val="tx1"/>
                </a:solidFill>
              </a:rPr>
              <a:t>Система автоматически собирает и анализирует данные из научных публикаций, патентов, репозиториев и других открытых источников. Извлечённые технологии, организации, события и их взаимосвязи сохраняются в графе знаний. Модели HGT и CatBoost выявляют, классифицируют и ранжируют слабые технологические сигналы.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>
            <a:spLocks noGrp="1"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lvl1pPr marL="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11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2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32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43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54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658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765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6877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fld id="{52DCC5B9-D646-4B76-891F-6FF4E74E9CB4}" type="slidenum">
              <a:rPr sz="1200">
                <a:solidFill>
                  <a:schemeClr val="accent5"/>
                </a:solidFill>
              </a:rPr>
              <a:t>2</a:t>
            </a:fld>
            <a:endParaRPr sz="1200">
              <a:solidFill>
                <a:schemeClr val="accent5"/>
              </a:solidFill>
            </a:endParaRPr>
          </a:p>
        </p:txBody>
      </p:sp>
      <p:pic>
        <p:nvPicPr>
          <p:cNvPr id="33" name="Рисунок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34" y="37291"/>
            <a:ext cx="6456363" cy="2934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>
            <a:spLocks noGrp="1"/>
          </p:cNvSpPr>
          <p:nvPr/>
        </p:nvSpPr>
        <p:spPr>
          <a:xfrm>
            <a:off x="2651394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>
            <a:spLocks noGrp="1"/>
          </p:cNvSpPr>
          <p:nvPr/>
        </p:nvSpPr>
        <p:spPr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Ml engineer</a:t>
            </a:r>
          </a:p>
          <a:p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@Regqwe </a:t>
            </a:r>
          </a:p>
          <a:p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+7 963 977 1623</a:t>
            </a:r>
          </a:p>
          <a:p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Московский Авиационный институт + МТС</a:t>
            </a: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>
            <a:spLocks noGrp="1"/>
          </p:cNvSpPr>
          <p:nvPr/>
        </p:nvSpPr>
        <p:spPr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>Артемий</a:t>
            </a:r>
          </a:p>
          <a:p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>Дергачёв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>
            <a:spLocks noGrp="1"/>
          </p:cNvSpPr>
          <p:nvPr/>
        </p:nvSpPr>
        <p:spPr>
          <a:xfrm>
            <a:off x="4956712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>
            <a:spLocks noGrp="1"/>
          </p:cNvSpPr>
          <p:nvPr/>
        </p:nvSpPr>
        <p:spPr>
          <a:xfrm>
            <a:off x="512899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Ml engineer</a:t>
            </a:r>
          </a:p>
          <a:p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@shetyaash </a:t>
            </a:r>
          </a:p>
          <a:p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+7 910 134 9308</a:t>
            </a:r>
          </a:p>
          <a:p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Высшая школа экономики + Яндекс</a:t>
            </a: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>
            <a:spLocks noGrp="1"/>
          </p:cNvSpPr>
          <p:nvPr/>
        </p:nvSpPr>
        <p:spPr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>Даниил</a:t>
            </a:r>
          </a:p>
          <a:p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>Щетинин</a:t>
            </a:r>
          </a:p>
        </p:txBody>
      </p:sp>
      <p:sp>
        <p:nvSpPr>
          <p:cNvPr id="62" name="Скругленный прямоугольник 61">
            <a:extLst>
              <a:ext uri="{FF2B5EF4-FFF2-40B4-BE49-F238E27FC236}">
                <a16:creationId xmlns:a16="http://schemas.microsoft.com/office/drawing/2014/main" id="{D1FBCE3B-1D71-DB46-9E48-C63F3ADD4968}"/>
              </a:ext>
            </a:extLst>
          </p:cNvPr>
          <p:cNvSpPr>
            <a:spLocks noGrp="1"/>
          </p:cNvSpPr>
          <p:nvPr/>
        </p:nvSpPr>
        <p:spPr>
          <a:xfrm>
            <a:off x="7262031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3" name="Текст 8">
            <a:extLst>
              <a:ext uri="{FF2B5EF4-FFF2-40B4-BE49-F238E27FC236}">
                <a16:creationId xmlns:a16="http://schemas.microsoft.com/office/drawing/2014/main" id="{CB4F394B-14E6-36F0-A4B2-EFA5843E9DB6}"/>
              </a:ext>
            </a:extLst>
          </p:cNvPr>
          <p:cNvSpPr>
            <a:spLocks noGrp="1"/>
          </p:cNvSpPr>
          <p:nvPr/>
        </p:nvSpPr>
        <p:spPr>
          <a:xfrm>
            <a:off x="7434315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Капитан – Ml engineer</a:t>
            </a:r>
          </a:p>
          <a:p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@Pe_True_Shka </a:t>
            </a:r>
          </a:p>
          <a:p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+7 964 717 7600</a:t>
            </a:r>
          </a:p>
          <a:p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Высшая школа экономики + МТС</a:t>
            </a:r>
          </a:p>
        </p:txBody>
      </p:sp>
      <p:sp>
        <p:nvSpPr>
          <p:cNvPr id="64" name="Текст 8">
            <a:extLst>
              <a:ext uri="{FF2B5EF4-FFF2-40B4-BE49-F238E27FC236}">
                <a16:creationId xmlns:a16="http://schemas.microsoft.com/office/drawing/2014/main" id="{FF91B8FA-A68A-4E4D-B286-02AF30BFB771}"/>
              </a:ext>
            </a:extLst>
          </p:cNvPr>
          <p:cNvSpPr>
            <a:spLocks noGrp="1"/>
          </p:cNvSpPr>
          <p:nvPr/>
        </p:nvSpPr>
        <p:spPr>
          <a:xfrm>
            <a:off x="743431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>Пётр</a:t>
            </a:r>
          </a:p>
          <a:p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>Заренков</a:t>
            </a:r>
          </a:p>
          <a:p>
            <a:pPr marL="0" indent="0">
              <a:buNone/>
            </a:pPr>
            <a:endParaRPr sz="1600" b="1">
              <a:solidFill>
                <a:schemeClr val="accent5"/>
              </a:solidFill>
            </a:endParaRPr>
          </a:p>
        </p:txBody>
      </p:sp>
      <p:sp>
        <p:nvSpPr>
          <p:cNvPr id="65" name="Скругленный прямоугольник 64">
            <a:extLst>
              <a:ext uri="{FF2B5EF4-FFF2-40B4-BE49-F238E27FC236}">
                <a16:creationId xmlns:a16="http://schemas.microsoft.com/office/drawing/2014/main" id="{603D078F-23CD-0C3A-EF6E-9FA3818E22BC}"/>
              </a:ext>
            </a:extLst>
          </p:cNvPr>
          <p:cNvSpPr>
            <a:spLocks noGrp="1"/>
          </p:cNvSpPr>
          <p:nvPr/>
        </p:nvSpPr>
        <p:spPr>
          <a:xfrm>
            <a:off x="9567349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6" name="Текст 8">
            <a:extLst>
              <a:ext uri="{FF2B5EF4-FFF2-40B4-BE49-F238E27FC236}">
                <a16:creationId xmlns:a16="http://schemas.microsoft.com/office/drawing/2014/main" id="{575DCA32-E606-5EE7-1034-420DB36234D1}"/>
              </a:ext>
            </a:extLst>
          </p:cNvPr>
          <p:cNvSpPr>
            <a:spLocks noGrp="1"/>
          </p:cNvSpPr>
          <p:nvPr/>
        </p:nvSpPr>
        <p:spPr>
          <a:xfrm>
            <a:off x="9739633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Ml engineer</a:t>
            </a:r>
          </a:p>
          <a:p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@lapa_14 </a:t>
            </a:r>
          </a:p>
          <a:p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+7 919 233 7048</a:t>
            </a:r>
          </a:p>
          <a:p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Высшая школа экономики</a:t>
            </a:r>
          </a:p>
        </p:txBody>
      </p:sp>
      <p:sp>
        <p:nvSpPr>
          <p:cNvPr id="67" name="Текст 8">
            <a:extLst>
              <a:ext uri="{FF2B5EF4-FFF2-40B4-BE49-F238E27FC236}">
                <a16:creationId xmlns:a16="http://schemas.microsoft.com/office/drawing/2014/main" id="{9E3872F7-FC5C-5043-A741-AF2746714BA2}"/>
              </a:ext>
            </a:extLst>
          </p:cNvPr>
          <p:cNvSpPr>
            <a:spLocks noGrp="1"/>
          </p:cNvSpPr>
          <p:nvPr/>
        </p:nvSpPr>
        <p:spPr>
          <a:xfrm>
            <a:off x="9739632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>Владислав</a:t>
            </a:r>
          </a:p>
          <a:p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>Лапшин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>
            <a:spLocks noGrp="1"/>
          </p:cNvSpPr>
          <p:nvPr/>
        </p:nvSpPr>
        <p:spPr>
          <a:xfrm>
            <a:off x="346076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52DCC5B9-D646-4B76-891F-6FF4E74E9CB4}" type="slidenum">
              <a:rPr>
                <a:solidFill>
                  <a:schemeClr val="bg1"/>
                </a:solidFill>
              </a:rPr>
              <a:t>3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4C94D4FF-301C-477D-8018-73C5CC99D493}"/>
              </a:ext>
            </a:extLst>
          </p:cNvPr>
          <p:cNvSpPr>
            <a:spLocks noGrp="1"/>
          </p:cNvSpPr>
          <p:nvPr>
            <p:ph type="pic" idx="4294967295"/>
          </p:nvPr>
        </p:nvSpPr>
        <p:spPr>
          <a:xfrm>
            <a:off x="581397" y="1816054"/>
            <a:ext cx="1722566" cy="1552901"/>
          </a:xfrm>
        </p:spPr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55F75D9-2AE8-476E-3BFF-E3DD59A60081}"/>
              </a:ext>
            </a:extLst>
          </p:cNvPr>
          <p:cNvSpPr>
            <a:spLocks noGrp="1"/>
          </p:cNvSpPr>
          <p:nvPr>
            <p:ph type="pic" idx="4294967295"/>
          </p:nvPr>
        </p:nvSpPr>
        <p:spPr>
          <a:xfrm>
            <a:off x="2886467" y="1826554"/>
            <a:ext cx="1722566" cy="1542401"/>
          </a:xfrm>
        </p:spPr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767E99FD-70C0-A2B6-EA8E-C07EBA0B37E0}"/>
              </a:ext>
            </a:extLst>
          </p:cNvPr>
          <p:cNvSpPr>
            <a:spLocks noGrp="1"/>
          </p:cNvSpPr>
          <p:nvPr>
            <p:ph type="pic" idx="4294967295"/>
          </p:nvPr>
        </p:nvSpPr>
        <p:spPr>
          <a:xfrm>
            <a:off x="5191784" y="1809238"/>
            <a:ext cx="1722567" cy="1559717"/>
          </a:xfrm>
        </p:spPr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D6C4749F-7C67-9CD8-7C7C-023BB23DC622}"/>
              </a:ext>
            </a:extLst>
          </p:cNvPr>
          <p:cNvSpPr>
            <a:spLocks noGrp="1"/>
          </p:cNvSpPr>
          <p:nvPr>
            <p:ph type="pic" idx="4294967295"/>
          </p:nvPr>
        </p:nvSpPr>
        <p:spPr>
          <a:xfrm>
            <a:off x="7520208" y="1809238"/>
            <a:ext cx="1722567" cy="1559717"/>
          </a:xfrm>
        </p:spPr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B1F74E3B-D178-4815-DD0C-A02592AA14E6}"/>
              </a:ext>
            </a:extLst>
          </p:cNvPr>
          <p:cNvSpPr>
            <a:spLocks noGrp="1"/>
          </p:cNvSpPr>
          <p:nvPr>
            <p:ph type="pic" idx="4294967295"/>
          </p:nvPr>
        </p:nvSpPr>
        <p:spPr>
          <a:xfrm>
            <a:off x="9802422" y="1809238"/>
            <a:ext cx="1722566" cy="1559717"/>
          </a:xfrm>
        </p:spPr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r>
              <a:rPr>
                <a:latin typeface="+mn-lt"/>
                <a:ea typeface="+mn-lt"/>
                <a:cs typeface="+mn-lt"/>
              </a:rPr>
              <a:t>Команда Лавандовый Раф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Ml engineer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@pesim1st 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+7 999 898 4104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Финансовый университет при правительстве РФ + МТС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>
            <a:spLocks noGrp="1"/>
          </p:cNvSpPr>
          <p:nvPr/>
        </p:nvSpPr>
        <p:spPr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>Игорь</a:t>
            </a:r>
          </a:p>
          <a:p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>Мусиенко</a:t>
            </a: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52DCC5B9-D646-4B76-891F-6FF4E74E9CB4}" type="slidenum">
              <a:rPr>
                <a:solidFill>
                  <a:schemeClr val="accent5"/>
                </a:solidFill>
              </a:rPr>
              <a:t>4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r>
              <a:rPr>
                <a:latin typeface="+mn-lt"/>
                <a:ea typeface="+mn-lt"/>
                <a:cs typeface="+mn-lt"/>
              </a:rPr>
              <a:t>Команда Лавандовый Раф</a:t>
            </a: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533606" y="1602273"/>
            <a:ext cx="11323431" cy="1055362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>
                <a:solidFill>
                  <a:schemeClr val="tx1"/>
                </a:solidFill>
              </a:rPr>
              <a:t>Мы уже участвовали вместе в хакатонах и совместных проектах, однако именно таким составом объединились впервые. У команды есть опыт слаженной работы: мы хорошо знаем сильные стороны друг друга, быстро распределяем роли и эффективно принимаем решения в условиях ограниченного времени. Нас объединяют взаимное доверие, ответственность за общий результат и стремление создавать решения, которые можно развивать после хакатона.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>
            <a:spLocks noGrp="1"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>
            <a:spLocks noGrp="1"/>
          </p:cNvSpPr>
          <p:nvPr/>
        </p:nvSpPr>
        <p:spPr>
          <a:xfrm>
            <a:off x="533607" y="5139255"/>
            <a:ext cx="11051752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>
                <a:solidFill>
                  <a:schemeClr val="tx1"/>
                </a:solidFill>
              </a:rPr>
              <a:t>Одним из самых сложных и важных моментов стал пересмотр первоначальной архитектуры: мы начинали с идеи рекомендательной системы с онлайн-инференсом, но быстро столкнулись с требованиями к объяснимости, устойчивости и обработке сложных связей. Команда совместно переосмыслила подход и перешла к графу знаний с офлайн-инференсом, что позволило заранее анализировать большие объёмы данных и прозрачно обосновывать каждый найденный сигнал. Этот переход потребовал оперативно перераспределить задачи и пересобрать ключевые компоненты, но благодаря опыту совместной работы мы быстро адаптировались и получили более целостное решение.</a:t>
            </a: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>
            <a:spLocks noGrp="1"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b="1">
                <a:solidFill>
                  <a:schemeClr val="accent5"/>
                </a:solidFill>
              </a:rPr>
              <a:t>С какими основными сложностями или вызовами </a:t>
            </a:r>
            <a:br/>
            <a:r>
              <a:rPr b="1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>
            <a:spLocks noGrp="1"/>
          </p:cNvSpPr>
          <p:nvPr/>
        </p:nvSpPr>
        <p:spPr>
          <a:xfrm>
            <a:off x="533607" y="3429000"/>
            <a:ext cx="11323430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>
                <a:solidFill>
                  <a:schemeClr val="tx1"/>
                </a:solidFill>
              </a:rPr>
              <a:t>Нас заинтересовала возможность углубить знания в области рекомендательных систем и применить их к реальной задаче поиска зарождающихся трендов. В процессе работы мы поняли, что можем усилить решение нашей ключевой компетенцией — графами знаний, которые позволяют учитывать сложные связи между технологиями, источниками и событиями. Для нас проект стал возможностью объединить новое направление с тем, в чём команда уже сильна.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>
            <a:spLocks noGrp="1"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Почему вы выбрали именно эту задачу </a:t>
            </a:r>
            <a:br/>
            <a:r>
              <a:rPr b="1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sp>
        <p:nv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0637DA5F-8464-4D40-8672-DB58167F2463}"/>
              </a:ext>
            </a:extLst>
          </p:cNvPr>
          <p:cNvSpPr>
            <a:spLocks noGrp="1"/>
          </p:cNvSpPr>
          <p:nvPr/>
        </p:nv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EDF72B21-4CF1-4518-9064-CFB8A9C55612}"/>
              </a:ext>
            </a:extLst>
          </p:cNvPr>
          <p:cNvSpPr>
            <a:spLocks noGrp="1"/>
          </p:cNvSpPr>
          <p:nvPr/>
        </p:nv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61F54552-9A91-413D-8527-EDC249F157D1}"/>
              </a:ext>
            </a:extLst>
          </p:cNvPr>
          <p:cNvSpPr>
            <a:spLocks noGrp="1"/>
          </p:cNvSpPr>
          <p:nvPr/>
        </p:nv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>
            <a:spLocks noGrp="1"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r">
              <a:buNone/>
            </a:pPr>
            <a:r>
              <a:rPr b="1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>
            <a:spLocks noGrp="1"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>
            <a:spLocks noGrp="1"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>
            <a:spLocks noGrp="1"/>
          </p:cNvSpPr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>
            <a:spLocks noGrp="1"/>
          </p:cNvSpPr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52DCC5B9-D646-4B76-891F-6FF4E74E9CB4}" type="slidenum">
              <a:rPr>
                <a:solidFill>
                  <a:schemeClr val="bg1"/>
                </a:solidFill>
              </a:rPr>
              <a:t>5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589493" y="1920927"/>
            <a:ext cx="4929861" cy="3868581"/>
          </a:xfrm>
        </p:spPr>
        <p:txBody>
          <a:bodyPr lIns="57150" tIns="76200" rIns="95250" bIns="76200">
            <a:normAutofit/>
          </a:bodyPr>
          <a:lstStyle/>
          <a:p>
            <a:pPr marL="228600" indent="-114300">
              <a:lnSpc>
                <a:spcPct val="108000"/>
              </a:lnSpc>
              <a:spcAft>
                <a:spcPts val="1000"/>
              </a:spcAft>
              <a:buNone/>
              <a:defRPr sz="1313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313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Конвейер собирает OpenAlex, GitHub, PyPI и локальные документы. Docling разбирает PDF и сохраняет структуру текста.</a:t>
            </a:r>
          </a:p>
          <a:p>
            <a:pPr marL="228600" indent="-114300">
              <a:lnSpc>
                <a:spcPct val="108000"/>
              </a:lnSpc>
              <a:spcAft>
                <a:spcPts val="1000"/>
              </a:spcAft>
              <a:buNone/>
              <a:defRPr sz="1313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313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GigaChat извлекает технологии, участников, зрелость и рыночные события только из цитируемых фрагментов. Отдельная рецензия и код проверяют утверждения.</a:t>
            </a:r>
          </a:p>
          <a:p>
            <a:pPr marL="228600" indent="-114300">
              <a:lnSpc>
                <a:spcPct val="108000"/>
              </a:lnSpc>
              <a:spcAft>
                <a:spcPts val="1000"/>
              </a:spcAft>
              <a:buNone/>
              <a:defRPr sz="1313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313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Neo4j хранит временной граф знаний. Гибридный поиск объединяет BM25 и эмбеддинги, затем фильтры отделяют ранние сигналы от зрелых технологий и шума.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idx="42"/>
          </p:nvPr>
        </p:nvSpPr>
        <p:spPr>
          <a:xfrm>
            <a:off x="6513513" y="1920927"/>
            <a:ext cx="4957144" cy="3876445"/>
          </a:xfrm>
        </p:spPr>
        <p:txBody>
          <a:bodyPr lIns="57150" tIns="76200" rIns="95250" bIns="76200">
            <a:normAutofit/>
          </a:bodyPr>
          <a:lstStyle/>
          <a:p>
            <a:pPr marL="228600" indent="-114300">
              <a:lnSpc>
                <a:spcPct val="108000"/>
              </a:lnSpc>
              <a:spcAft>
                <a:spcPts val="1000"/>
              </a:spcAft>
              <a:buNone/>
              <a:defRPr sz="1313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313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Сервис формирует TOP-15 по открытому запросу и показывает описание, преимущества, кейсы, источники, ключевые признаки и причины исключения кандидатов.</a:t>
            </a:r>
          </a:p>
          <a:p>
            <a:pPr marL="228600" indent="-114300">
              <a:lnSpc>
                <a:spcPct val="108000"/>
              </a:lnSpc>
              <a:spcAft>
                <a:spcPts val="1000"/>
              </a:spcAft>
              <a:buNone/>
              <a:defRPr sz="1313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313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Формат внедрения: внутренний модуль Платформы ИИ-аналитики и API для продуктовых и стратегических команд.</a:t>
            </a:r>
          </a:p>
          <a:p>
            <a:pPr marL="228600" indent="-114300">
              <a:lnSpc>
                <a:spcPct val="108000"/>
              </a:lnSpc>
              <a:spcAft>
                <a:spcPts val="1000"/>
              </a:spcAft>
              <a:buNone/>
              <a:defRPr sz="1313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313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Масштабирование идёт через новые коннекторы, отраслевые профили и инкрементальный пересчёт только затронутой части графа.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  <a:buNone/>
            </a:pPr>
            <a:r>
              <a:rPr sz="2000" b="1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  <a:buNone/>
            </a:pPr>
            <a:r>
              <a:rPr sz="2000" b="1">
                <a:solidFill>
                  <a:schemeClr val="accent5"/>
                </a:solidFill>
              </a:rPr>
              <a:t>Маркетинговая суть решения</a:t>
            </a:r>
          </a:p>
          <a:p>
            <a:pPr>
              <a:lnSpc>
                <a:spcPct val="100000"/>
              </a:lnSpc>
              <a:buNone/>
            </a:pPr>
            <a:endParaRPr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>
            <a:spLocks noGrp="1"/>
          </p:cNvSpPr>
          <p:nvPr/>
        </p:nvSpPr>
        <p:spPr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52DCC5B9-D646-4B76-891F-6FF4E74E9CB4}" type="slidenum">
              <a:rPr>
                <a:solidFill>
                  <a:schemeClr val="bg1"/>
                </a:solidFill>
              </a:rPr>
              <a:t>6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22" name="content-title">
            <a:extLst>
              <a:ext uri="{FF2B5EF4-FFF2-40B4-BE49-F238E27FC236}">
                <a16:creationId xmlns:a16="http://schemas.microsoft.com/office/drawing/2014/main" id="{31C9FD1B-BBDB-49B9-BDF5-C26F9CB9A450}"/>
              </a:ext>
            </a:extLst>
          </p:cNvPr>
          <p:cNvSpPr>
            <a:spLocks noGrp="1"/>
          </p:cNvSpPr>
          <p:nvPr/>
        </p:nvSpPr>
        <p:spPr>
          <a:xfrm>
            <a:off x="523875" y="390525"/>
            <a:ext cx="49530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ЧТО ВАЖНО ЗАКАЗЧИКУ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5619FA64-1DED-44D1-9A3F-707E49E5E5CD}"/>
              </a:ext>
            </a:extLst>
          </p:cNvPr>
          <p:cNvSpPr>
            <a:spLocks noGrp="1"/>
          </p:cNvSpPr>
          <p:nvPr/>
        </p:nvSpPr>
        <p:spPr>
          <a:xfrm>
            <a:off x="781050" y="1743075"/>
            <a:ext cx="666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95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95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B8CB9994-523E-4063-8942-6B84A5A71EB2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9527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Раньше мейнстрима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D1E1DBFB-E10F-496A-81D7-37C25D11306F}"/>
              </a:ext>
            </a:extLst>
          </p:cNvPr>
          <p:cNvSpPr>
            <a:spLocks noGrp="1"/>
          </p:cNvSpPr>
          <p:nvPr/>
        </p:nvSpPr>
        <p:spPr>
          <a:xfrm>
            <a:off x="781050" y="3143250"/>
            <a:ext cx="2952750" cy="2724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19050" bIns="0" anchor="t">
            <a:normAutofit/>
          </a:bodyPr>
          <a:lstStyle/>
          <a:p>
            <a:pPr marL="215900" indent="-101600" algn="l">
              <a:lnSpc>
                <a:spcPct val="108000"/>
              </a:lnSpc>
              <a:spcAft>
                <a:spcPts val="1000"/>
              </a:spcAft>
              <a:buNone/>
              <a:defRPr sz="1275" b="0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Ранние стадии: исследования, прототипы и первые пилоты.</a:t>
            </a:r>
          </a:p>
          <a:p>
            <a:pPr marL="215900" indent="-101600" algn="l">
              <a:lnSpc>
                <a:spcPct val="108000"/>
              </a:lnSpc>
              <a:spcAft>
                <a:spcPts val="1000"/>
              </a:spcAft>
              <a:buNone/>
              <a:defRPr sz="1275" b="0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Массовое внедрение, зрелый рынок, отраслевой стандарт, хайп и шум исключаются.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96CE22B3-22D6-4BAC-A1E8-649E70EEE528}"/>
              </a:ext>
            </a:extLst>
          </p:cNvPr>
          <p:cNvSpPr>
            <a:spLocks noGrp="1"/>
          </p:cNvSpPr>
          <p:nvPr/>
        </p:nvSpPr>
        <p:spPr>
          <a:xfrm>
            <a:off x="4619625" y="1743075"/>
            <a:ext cx="666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95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95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5417255B-67D6-42D8-B07B-D034D5A12BBB}"/>
              </a:ext>
            </a:extLst>
          </p:cNvPr>
          <p:cNvSpPr>
            <a:spLocks noGrp="1"/>
          </p:cNvSpPr>
          <p:nvPr/>
        </p:nvSpPr>
        <p:spPr>
          <a:xfrm>
            <a:off x="4619625" y="2428875"/>
            <a:ext cx="29527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Проверяемые выводы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DD1FE503-4471-4E5A-BD55-4CEF3C4B140F}"/>
              </a:ext>
            </a:extLst>
          </p:cNvPr>
          <p:cNvSpPr>
            <a:spLocks noGrp="1"/>
          </p:cNvSpPr>
          <p:nvPr/>
        </p:nvSpPr>
        <p:spPr>
          <a:xfrm>
            <a:off x="4619625" y="3143250"/>
            <a:ext cx="2952750" cy="2724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19050" bIns="0" anchor="t">
            <a:normAutofit/>
          </a:bodyPr>
          <a:lstStyle/>
          <a:p>
            <a:pPr marL="215900" indent="-101600" algn="l">
              <a:lnSpc>
                <a:spcPct val="108000"/>
              </a:lnSpc>
              <a:spcAft>
                <a:spcPts val="1000"/>
              </a:spcAft>
              <a:buNone/>
              <a:defRPr sz="1275" b="0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Каждый вывод связан с цитатой и исходным документом.</a:t>
            </a:r>
          </a:p>
          <a:p>
            <a:pPr marL="215900" indent="-101600" algn="l">
              <a:lnSpc>
                <a:spcPct val="108000"/>
              </a:lnSpc>
              <a:spcAft>
                <a:spcPts val="1000"/>
              </a:spcAft>
              <a:buNone/>
              <a:defRPr sz="1275" b="0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В карточке видны ссылка, дата, тип источника, язык и доверенность.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B62C9412-234F-4CFD-B191-0E9B5D3FA9DC}"/>
              </a:ext>
            </a:extLst>
          </p:cNvPr>
          <p:cNvSpPr>
            <a:spLocks noGrp="1"/>
          </p:cNvSpPr>
          <p:nvPr/>
        </p:nvSpPr>
        <p:spPr>
          <a:xfrm>
            <a:off x="8543925" y="1743075"/>
            <a:ext cx="666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95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95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0B08BE4D-33C9-43C6-B021-5E5983C9EABF}"/>
              </a:ext>
            </a:extLst>
          </p:cNvPr>
          <p:cNvSpPr>
            <a:spLocks noGrp="1"/>
          </p:cNvSpPr>
          <p:nvPr/>
        </p:nvSpPr>
        <p:spPr>
          <a:xfrm>
            <a:off x="8543925" y="2428875"/>
            <a:ext cx="29527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Результат для эксперта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8F65E4DC-A1F8-43C6-BFFA-ACEEFF1A2898}"/>
              </a:ext>
            </a:extLst>
          </p:cNvPr>
          <p:cNvSpPr>
            <a:spLocks noGrp="1"/>
          </p:cNvSpPr>
          <p:nvPr/>
        </p:nvSpPr>
        <p:spPr>
          <a:xfrm>
            <a:off x="8543925" y="3143250"/>
            <a:ext cx="2952750" cy="2724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19050" bIns="0" anchor="t">
            <a:normAutofit/>
          </a:bodyPr>
          <a:lstStyle/>
          <a:p>
            <a:pPr marL="215900" indent="-101600" algn="l">
              <a:lnSpc>
                <a:spcPct val="108000"/>
              </a:lnSpc>
              <a:spcAft>
                <a:spcPts val="1000"/>
              </a:spcAft>
              <a:buNone/>
              <a:defRPr sz="1275" b="0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Свободный запрос на русском языке и TOP-15 кандидатов.</a:t>
            </a:r>
          </a:p>
          <a:p>
            <a:pPr marL="215900" indent="-101600" algn="l">
              <a:lnSpc>
                <a:spcPct val="108000"/>
              </a:lnSpc>
              <a:spcAft>
                <a:spcPts val="1000"/>
              </a:spcAft>
              <a:buNone/>
              <a:defRPr sz="1275" b="0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Для каждого: описание, преимущество, кейс, источники и объяснение оценки.</a:t>
            </a:r>
          </a:p>
        </p:txBody>
      </p:sp>
    </p:spTree>
    <p:extLst>
      <p:ext uri="{BB962C8B-B14F-4D97-AF65-F5344CB8AC3E}">
        <p14:creationId xmlns:p14="http://schemas.microsoft.com/office/powerpoint/2010/main" val="2320403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D181C43B-81A7-CE1F-8FD8-59408853402A}"/>
              </a:ext>
            </a:extLst>
          </p:cNvPr>
          <p:cNvSpPr>
            <a:spLocks noGrp="1"/>
          </p:cNvSpPr>
          <p:nvPr/>
        </p:nvSpPr>
        <p:spPr>
          <a:xfrm>
            <a:off x="346074" y="1216241"/>
            <a:ext cx="11179175" cy="5381408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12700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1A398F8-7100-0AC0-7CC3-53622EA3457D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52DCC5B9-D646-4B76-891F-6FF4E74E9CB4}" type="slidenum">
              <a:rPr>
                <a:solidFill>
                  <a:schemeClr val="bg1"/>
                </a:solidFill>
              </a:rPr>
              <a:t>7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10" name="content-title">
            <a:extLst>
              <a:ext uri="{FF2B5EF4-FFF2-40B4-BE49-F238E27FC236}">
                <a16:creationId xmlns:a16="http://schemas.microsoft.com/office/drawing/2014/main" id="{63583150-A9BF-482C-9357-F3BE9F5127C3}"/>
              </a:ext>
            </a:extLst>
          </p:cNvPr>
          <p:cNvSpPr>
            <a:spLocks noGrp="1"/>
          </p:cNvSpPr>
          <p:nvPr/>
        </p:nvSpPr>
        <p:spPr>
          <a:xfrm>
            <a:off x="523875" y="390525"/>
            <a:ext cx="49530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65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АРХИТЕКТУРА РЕШЕНИЯ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ED8C17C-0E0A-4E2E-B544-16B1215EA3A9}"/>
              </a:ext>
            </a:extLst>
          </p:cNvPr>
          <p:cNvSpPr>
            <a:spLocks noGrp="1"/>
          </p:cNvSpPr>
          <p:nvPr/>
        </p:nvSpPr>
        <p:spPr>
          <a:xfrm>
            <a:off x="638175" y="1438275"/>
            <a:ext cx="6858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Два контура используют одну временную модель знаний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A827E07-764C-4952-9435-8224A7DBE840}"/>
              </a:ext>
            </a:extLst>
          </p:cNvPr>
          <p:cNvSpPr>
            <a:spLocks noGrp="1"/>
          </p:cNvSpPr>
          <p:nvPr/>
        </p:nvSpPr>
        <p:spPr>
          <a:xfrm>
            <a:off x="666750" y="18954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ОНЛАЙН: ОТКРЫТЫЙ ЗАПРОС</a:t>
            </a:r>
          </a:p>
        </p:txBody>
      </p:sp>
      <p:sp>
        <p:nvSpPr>
          <p:cNvPr id="13" name="node-Запрос">
            <a:extLst>
              <a:ext uri="{FF2B5EF4-FFF2-40B4-BE49-F238E27FC236}">
                <a16:creationId xmlns:a16="http://schemas.microsoft.com/office/drawing/2014/main" id="{50A748F7-614D-4EB1-B05D-9CCB50B71DA3}"/>
              </a:ext>
            </a:extLst>
          </p:cNvPr>
          <p:cNvSpPr>
            <a:spLocks noGrp="1"/>
          </p:cNvSpPr>
          <p:nvPr/>
        </p:nvSpPr>
        <p:spPr>
          <a:xfrm>
            <a:off x="666750" y="2247900"/>
            <a:ext cx="1952625" cy="742950"/>
          </a:xfrm>
          <a:prstGeom prst="roundRect">
            <a:avLst>
              <a:gd name="adj" fmla="val 17949"/>
            </a:avLst>
          </a:prstGeom>
          <a:solidFill>
            <a:srgbClr val="310F53"/>
          </a:solidFill>
          <a:ln w="9525">
            <a:solidFill>
              <a:srgbClr val="FFFFFF"/>
            </a:solidFill>
            <a:prstDash val="solid"/>
          </a:ln>
        </p:spPr>
        <p:txBody>
          <a:bodyPr lIns="76200" tIns="76200" rIns="76200" bIns="76200" anchor="ctr">
            <a:normAutofit fontScale="93401"/>
          </a:bodyPr>
          <a:lstStyle/>
          <a:p>
            <a:pPr algn="ctr">
              <a:buNone/>
              <a:defRPr sz="120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Запрос</a:t>
            </a:r>
          </a:p>
          <a:p>
            <a:pPr algn="ctr">
              <a:buNone/>
              <a:defRPr sz="120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русский язык, свободная форма</a:t>
            </a:r>
          </a:p>
        </p:txBody>
      </p:sp>
      <p:sp>
        <p:nvSpPr>
          <p:cNvPr id="14" name="node-Гибридный поиск">
            <a:extLst>
              <a:ext uri="{FF2B5EF4-FFF2-40B4-BE49-F238E27FC236}">
                <a16:creationId xmlns:a16="http://schemas.microsoft.com/office/drawing/2014/main" id="{F0F4743B-864B-40FA-9D4C-D59E7F841F88}"/>
              </a:ext>
            </a:extLst>
          </p:cNvPr>
          <p:cNvSpPr>
            <a:spLocks noGrp="1"/>
          </p:cNvSpPr>
          <p:nvPr/>
        </p:nvSpPr>
        <p:spPr>
          <a:xfrm>
            <a:off x="3152775" y="2247900"/>
            <a:ext cx="2095500" cy="742950"/>
          </a:xfrm>
          <a:prstGeom prst="roundRect">
            <a:avLst>
              <a:gd name="adj" fmla="val 17949"/>
            </a:avLst>
          </a:prstGeom>
          <a:solidFill>
            <a:srgbClr val="520978"/>
          </a:solidFill>
          <a:ln w="9525">
            <a:solidFill>
              <a:srgbClr val="FFFFFF"/>
            </a:solidFill>
            <a:prstDash val="solid"/>
          </a:ln>
        </p:spPr>
        <p:txBody>
          <a:bodyPr lIns="76200" tIns="76200" rIns="76200" bIns="76200" anchor="ctr">
            <a:normAutofit fontScale="93401"/>
          </a:bodyPr>
          <a:lstStyle/>
          <a:p>
            <a:pPr algn="ctr">
              <a:buNone/>
              <a:defRPr sz="120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Гибридный поиск</a:t>
            </a:r>
          </a:p>
          <a:p>
            <a:pPr algn="ctr">
              <a:buNone/>
              <a:defRPr sz="120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BM25 по именам + эмбеддинги</a:t>
            </a:r>
          </a:p>
        </p:txBody>
      </p:sp>
      <p:sp>
        <p:nvSpPr>
          <p:cNvPr id="15" name="node-Фильтры">
            <a:extLst>
              <a:ext uri="{FF2B5EF4-FFF2-40B4-BE49-F238E27FC236}">
                <a16:creationId xmlns:a16="http://schemas.microsoft.com/office/drawing/2014/main" id="{1318E590-7296-4775-ABFF-2A1B2C2459E0}"/>
              </a:ext>
            </a:extLst>
          </p:cNvPr>
          <p:cNvSpPr>
            <a:spLocks noGrp="1"/>
          </p:cNvSpPr>
          <p:nvPr/>
        </p:nvSpPr>
        <p:spPr>
          <a:xfrm>
            <a:off x="5781675" y="2247900"/>
            <a:ext cx="2095500" cy="742950"/>
          </a:xfrm>
          <a:prstGeom prst="roundRect">
            <a:avLst>
              <a:gd name="adj" fmla="val 17949"/>
            </a:avLst>
          </a:prstGeom>
          <a:solidFill>
            <a:srgbClr val="FF0053"/>
          </a:solidFill>
          <a:ln w="9525">
            <a:solidFill>
              <a:srgbClr val="FFFFFF"/>
            </a:solidFill>
            <a:prstDash val="solid"/>
          </a:ln>
        </p:spPr>
        <p:txBody>
          <a:bodyPr lIns="76200" tIns="76200" rIns="76200" bIns="76200" anchor="ctr">
            <a:normAutofit fontScale="93401"/>
          </a:bodyPr>
          <a:lstStyle/>
          <a:p>
            <a:pPr algn="ctr">
              <a:buNone/>
              <a:defRPr sz="120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Фильтры</a:t>
            </a:r>
          </a:p>
          <a:p>
            <a:pPr algn="ctr">
              <a:buNone/>
              <a:defRPr sz="120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зрелость, стандарт, хайп, шум</a:t>
            </a:r>
          </a:p>
        </p:txBody>
      </p:sp>
      <p:sp>
        <p:nvSpPr>
          <p:cNvPr id="16" name="node-TOP-15 и справка">
            <a:extLst>
              <a:ext uri="{FF2B5EF4-FFF2-40B4-BE49-F238E27FC236}">
                <a16:creationId xmlns:a16="http://schemas.microsoft.com/office/drawing/2014/main" id="{6C4FE436-9E33-4CDB-A2A1-107E4C5814E3}"/>
              </a:ext>
            </a:extLst>
          </p:cNvPr>
          <p:cNvSpPr>
            <a:spLocks noGrp="1"/>
          </p:cNvSpPr>
          <p:nvPr/>
        </p:nvSpPr>
        <p:spPr>
          <a:xfrm>
            <a:off x="8410575" y="2247900"/>
            <a:ext cx="2762250" cy="742950"/>
          </a:xfrm>
          <a:prstGeom prst="roundRect">
            <a:avLst>
              <a:gd name="adj" fmla="val 17949"/>
            </a:avLst>
          </a:prstGeom>
          <a:solidFill>
            <a:srgbClr val="310F53"/>
          </a:solidFill>
          <a:ln w="9525">
            <a:solidFill>
              <a:srgbClr val="FFFFFF"/>
            </a:solidFill>
            <a:prstDash val="solid"/>
          </a:ln>
        </p:spPr>
        <p:txBody>
          <a:bodyPr lIns="76200" tIns="76200" rIns="76200" bIns="76200" anchor="ctr">
            <a:normAutofit fontScale="96603" lnSpcReduction="10000"/>
          </a:bodyPr>
          <a:lstStyle/>
          <a:p>
            <a:pPr algn="ctr">
              <a:buNone/>
              <a:defRPr sz="120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TOP-15 и справка</a:t>
            </a:r>
          </a:p>
          <a:p>
            <a:pPr algn="ctr">
              <a:buNone/>
              <a:defRPr sz="120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признаки, кейсы, цитаты, источники</a:t>
            </a:r>
          </a:p>
        </p:txBody>
      </p:sp>
      <p:cxnSp>
        <p:nvCxnSpPr>
          <p:cNvPr id="69" name="Прямая со стрелкой 44"/>
          <p:cNvCxnSpPr>
            <a:stCxn id="13" idx="3"/>
            <a:endCxn id="14" idx="1"/>
          </p:cNvCxnSpPr>
          <p:nvPr/>
        </p:nvCxnSpPr>
        <p:spPr>
          <a:xfrm>
            <a:off x="2619375" y="2619375"/>
            <a:ext cx="533400" cy="0"/>
          </a:xfrm>
          <a:prstGeom prst="straightConnector1">
            <a:avLst/>
          </a:prstGeom>
          <a:ln w="19050">
            <a:solidFill>
              <a:srgbClr val="8A83D1"/>
            </a:solidFill>
            <a:prstDash val="solid"/>
            <a:headEnd type="triangle" w="sm" len="sm"/>
          </a:ln>
        </p:spPr>
      </p:cxnSp>
      <p:cxnSp>
        <p:nvCxnSpPr>
          <p:cNvPr id="70" name="Прямая со стрелкой 45"/>
          <p:cNvCxnSpPr>
            <a:stCxn id="14" idx="3"/>
            <a:endCxn id="15" idx="1"/>
          </p:cNvCxnSpPr>
          <p:nvPr/>
        </p:nvCxnSpPr>
        <p:spPr>
          <a:xfrm>
            <a:off x="5248275" y="2619375"/>
            <a:ext cx="533400" cy="0"/>
          </a:xfrm>
          <a:prstGeom prst="straightConnector1">
            <a:avLst/>
          </a:prstGeom>
          <a:ln w="19050">
            <a:solidFill>
              <a:srgbClr val="8A83D1"/>
            </a:solidFill>
            <a:prstDash val="solid"/>
            <a:headEnd type="triangle" w="sm" len="sm"/>
          </a:ln>
        </p:spPr>
      </p:cxnSp>
      <p:cxnSp>
        <p:nvCxnSpPr>
          <p:cNvPr id="71" name="Прямая со стрелкой 46"/>
          <p:cNvCxnSpPr>
            <a:stCxn id="15" idx="3"/>
            <a:endCxn id="16" idx="1"/>
          </p:cNvCxnSpPr>
          <p:nvPr/>
        </p:nvCxnSpPr>
        <p:spPr>
          <a:xfrm>
            <a:off x="7877175" y="2619375"/>
            <a:ext cx="533400" cy="0"/>
          </a:xfrm>
          <a:prstGeom prst="straightConnector1">
            <a:avLst/>
          </a:prstGeom>
          <a:ln w="19050">
            <a:solidFill>
              <a:srgbClr val="8A83D1"/>
            </a:solidFill>
            <a:prstDash val="solid"/>
            <a:headEnd type="triangle" w="sm" len="sm"/>
          </a:ln>
        </p:spPr>
      </p:cxn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BE33802A-47B4-4F4D-97A4-364F453802EE}"/>
              </a:ext>
            </a:extLst>
          </p:cNvPr>
          <p:cNvSpPr>
            <a:spLocks noGrp="1"/>
          </p:cNvSpPr>
          <p:nvPr/>
        </p:nvSpPr>
        <p:spPr>
          <a:xfrm>
            <a:off x="666750" y="3362325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ОФЛАЙН: ПОПОЛНЕНИЕ ЗНАНИЙ И ПЕРЕОЦЕНКА</a:t>
            </a:r>
          </a:p>
        </p:txBody>
      </p:sp>
      <p:sp>
        <p:nvSpPr>
          <p:cNvPr id="21" name="node-Источники">
            <a:extLst>
              <a:ext uri="{FF2B5EF4-FFF2-40B4-BE49-F238E27FC236}">
                <a16:creationId xmlns:a16="http://schemas.microsoft.com/office/drawing/2014/main" id="{5EC5F3A5-6326-43FB-A8D3-20EEF97C40AF}"/>
              </a:ext>
            </a:extLst>
          </p:cNvPr>
          <p:cNvSpPr>
            <a:spLocks noGrp="1"/>
          </p:cNvSpPr>
          <p:nvPr/>
        </p:nvSpPr>
        <p:spPr>
          <a:xfrm>
            <a:off x="666750" y="3752850"/>
            <a:ext cx="1714500" cy="819150"/>
          </a:xfrm>
          <a:prstGeom prst="roundRect">
            <a:avLst>
              <a:gd name="adj" fmla="val 16279"/>
            </a:avLst>
          </a:prstGeom>
          <a:solidFill>
            <a:srgbClr val="8A83D1"/>
          </a:solidFill>
          <a:ln w="9525">
            <a:solidFill>
              <a:srgbClr val="FFFFFF"/>
            </a:solidFill>
            <a:prstDash val="solid"/>
          </a:ln>
        </p:spPr>
        <p:txBody>
          <a:bodyPr lIns="76200" tIns="76200" rIns="76200" bIns="76200" anchor="ctr">
            <a:normAutofit/>
          </a:bodyPr>
          <a:lstStyle/>
          <a:p>
            <a:pPr algn="ctr">
              <a:buNone/>
              <a:defRPr sz="120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Источники</a:t>
            </a:r>
          </a:p>
          <a:p>
            <a:pPr algn="ctr">
              <a:buNone/>
              <a:defRPr sz="120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OpenAlex, GitHub, PyPI, файлы</a:t>
            </a:r>
          </a:p>
        </p:txBody>
      </p:sp>
      <p:sp>
        <p:nvSpPr>
          <p:cNvPr id="22" name="node-Ingest">
            <a:extLst>
              <a:ext uri="{FF2B5EF4-FFF2-40B4-BE49-F238E27FC236}">
                <a16:creationId xmlns:a16="http://schemas.microsoft.com/office/drawing/2014/main" id="{24641F30-574B-4938-B0CD-65F684918980}"/>
              </a:ext>
            </a:extLst>
          </p:cNvPr>
          <p:cNvSpPr>
            <a:spLocks noGrp="1"/>
          </p:cNvSpPr>
          <p:nvPr/>
        </p:nvSpPr>
        <p:spPr>
          <a:xfrm>
            <a:off x="2695575" y="3752850"/>
            <a:ext cx="1905000" cy="819150"/>
          </a:xfrm>
          <a:prstGeom prst="roundRect">
            <a:avLst>
              <a:gd name="adj" fmla="val 16279"/>
            </a:avLst>
          </a:prstGeom>
          <a:solidFill>
            <a:srgbClr val="520978"/>
          </a:solidFill>
          <a:ln w="9525">
            <a:solidFill>
              <a:srgbClr val="FFFFFF"/>
            </a:solidFill>
            <a:prstDash val="solid"/>
          </a:ln>
        </p:spPr>
        <p:txBody>
          <a:bodyPr lIns="76200" tIns="76200" rIns="76200" bIns="76200" anchor="ctr">
            <a:normAutofit/>
          </a:bodyPr>
          <a:lstStyle/>
          <a:p>
            <a:pPr algn="ctr">
              <a:buNone/>
              <a:defRPr sz="120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Ingest</a:t>
            </a:r>
          </a:p>
          <a:p>
            <a:pPr algn="ctr">
              <a:buNone/>
              <a:defRPr sz="120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снимок, адаптер, Docling</a:t>
            </a:r>
          </a:p>
        </p:txBody>
      </p:sp>
      <p:sp>
        <p:nvSpPr>
          <p:cNvPr id="23" name="node-Извлечение">
            <a:extLst>
              <a:ext uri="{FF2B5EF4-FFF2-40B4-BE49-F238E27FC236}">
                <a16:creationId xmlns:a16="http://schemas.microsoft.com/office/drawing/2014/main" id="{5A7D9EC6-B4F0-46BB-AC58-65B5AE2C83D7}"/>
              </a:ext>
            </a:extLst>
          </p:cNvPr>
          <p:cNvSpPr>
            <a:spLocks noGrp="1"/>
          </p:cNvSpPr>
          <p:nvPr/>
        </p:nvSpPr>
        <p:spPr>
          <a:xfrm>
            <a:off x="4914900" y="3752850"/>
            <a:ext cx="2076450" cy="819150"/>
          </a:xfrm>
          <a:prstGeom prst="roundRect">
            <a:avLst>
              <a:gd name="adj" fmla="val 16279"/>
            </a:avLst>
          </a:prstGeom>
          <a:solidFill>
            <a:srgbClr val="FF0053"/>
          </a:solidFill>
          <a:ln w="9525">
            <a:solidFill>
              <a:srgbClr val="FFFFFF"/>
            </a:solidFill>
            <a:prstDash val="solid"/>
          </a:ln>
        </p:spPr>
        <p:txBody>
          <a:bodyPr lIns="76200" tIns="76200" rIns="76200" bIns="76200" anchor="ctr">
            <a:normAutofit/>
          </a:bodyPr>
          <a:lstStyle/>
          <a:p>
            <a:pPr algn="ctr">
              <a:buNone/>
              <a:defRPr sz="120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Извлечение</a:t>
            </a:r>
          </a:p>
          <a:p>
            <a:pPr algn="ctr">
              <a:buNone/>
              <a:defRPr sz="120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GigaChat, цитаты, рецензия</a:t>
            </a:r>
          </a:p>
        </p:txBody>
      </p:sp>
      <p:sp>
        <p:nvSpPr>
          <p:cNvPr id="24" name="node-Neo4j">
            <a:extLst>
              <a:ext uri="{FF2B5EF4-FFF2-40B4-BE49-F238E27FC236}">
                <a16:creationId xmlns:a16="http://schemas.microsoft.com/office/drawing/2014/main" id="{632B803B-5586-49C6-979F-06CCAB7E1881}"/>
              </a:ext>
            </a:extLst>
          </p:cNvPr>
          <p:cNvSpPr>
            <a:spLocks noGrp="1"/>
          </p:cNvSpPr>
          <p:nvPr/>
        </p:nvSpPr>
        <p:spPr>
          <a:xfrm>
            <a:off x="7305675" y="3752850"/>
            <a:ext cx="1809750" cy="819150"/>
          </a:xfrm>
          <a:prstGeom prst="roundRect">
            <a:avLst>
              <a:gd name="adj" fmla="val 16279"/>
            </a:avLst>
          </a:prstGeom>
          <a:solidFill>
            <a:srgbClr val="310F53"/>
          </a:solidFill>
          <a:ln w="9525">
            <a:solidFill>
              <a:srgbClr val="FFFFFF"/>
            </a:solidFill>
            <a:prstDash val="solid"/>
          </a:ln>
        </p:spPr>
        <p:txBody>
          <a:bodyPr lIns="76200" tIns="76200" rIns="76200" bIns="76200" anchor="ctr">
            <a:normAutofit/>
          </a:bodyPr>
          <a:lstStyle/>
          <a:p>
            <a:pPr algn="ctr">
              <a:buNone/>
              <a:defRPr sz="120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Neo4j</a:t>
            </a:r>
          </a:p>
          <a:p>
            <a:pPr algn="ctr">
              <a:buNone/>
              <a:defRPr sz="120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резолвинг и временной граф</a:t>
            </a:r>
          </a:p>
        </p:txBody>
      </p:sp>
      <p:sp>
        <p:nvSpPr>
          <p:cNvPr id="25" name="node-Модель">
            <a:extLst>
              <a:ext uri="{FF2B5EF4-FFF2-40B4-BE49-F238E27FC236}">
                <a16:creationId xmlns:a16="http://schemas.microsoft.com/office/drawing/2014/main" id="{EACF0617-93CC-4AA0-A239-5AA28C6E5699}"/>
              </a:ext>
            </a:extLst>
          </p:cNvPr>
          <p:cNvSpPr>
            <a:spLocks noGrp="1"/>
          </p:cNvSpPr>
          <p:nvPr/>
        </p:nvSpPr>
        <p:spPr>
          <a:xfrm>
            <a:off x="9429750" y="3752850"/>
            <a:ext cx="1743075" cy="819150"/>
          </a:xfrm>
          <a:prstGeom prst="roundRect">
            <a:avLst>
              <a:gd name="adj" fmla="val 16279"/>
            </a:avLst>
          </a:prstGeom>
          <a:solidFill>
            <a:srgbClr val="520978"/>
          </a:solidFill>
          <a:ln w="9525">
            <a:solidFill>
              <a:srgbClr val="FFFFFF"/>
            </a:solidFill>
            <a:prstDash val="solid"/>
          </a:ln>
        </p:spPr>
        <p:txBody>
          <a:bodyPr lIns="76200" tIns="76200" rIns="76200" bIns="76200" anchor="ctr">
            <a:normAutofit/>
          </a:bodyPr>
          <a:lstStyle/>
          <a:p>
            <a:pPr algn="ctr">
              <a:buNone/>
              <a:defRPr sz="120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Модель</a:t>
            </a:r>
          </a:p>
          <a:p>
            <a:pPr algn="ctr">
              <a:buNone/>
              <a:defRPr sz="120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признаки, CatBoost / HGT</a:t>
            </a:r>
          </a:p>
        </p:txBody>
      </p:sp>
      <p:cxnSp>
        <p:nvCxnSpPr>
          <p:cNvPr id="78" name="Прямая со стрелкой 53"/>
          <p:cNvCxnSpPr>
            <a:stCxn id="21" idx="3"/>
            <a:endCxn id="22" idx="1"/>
          </p:cNvCxnSpPr>
          <p:nvPr/>
        </p:nvCxnSpPr>
        <p:spPr>
          <a:xfrm>
            <a:off x="2381250" y="4162425"/>
            <a:ext cx="314325" cy="0"/>
          </a:xfrm>
          <a:prstGeom prst="straightConnector1">
            <a:avLst/>
          </a:prstGeom>
          <a:ln w="19050">
            <a:solidFill>
              <a:srgbClr val="8A83D1"/>
            </a:solidFill>
            <a:prstDash val="solid"/>
            <a:headEnd type="triangle" w="sm" len="sm"/>
          </a:ln>
        </p:spPr>
      </p:cxnSp>
      <p:cxnSp>
        <p:nvCxnSpPr>
          <p:cNvPr id="79" name="Прямая со стрелкой 54"/>
          <p:cNvCxnSpPr>
            <a:stCxn id="22" idx="3"/>
            <a:endCxn id="23" idx="1"/>
          </p:cNvCxnSpPr>
          <p:nvPr/>
        </p:nvCxnSpPr>
        <p:spPr>
          <a:xfrm>
            <a:off x="4600575" y="4162425"/>
            <a:ext cx="314325" cy="0"/>
          </a:xfrm>
          <a:prstGeom prst="straightConnector1">
            <a:avLst/>
          </a:prstGeom>
          <a:ln w="19050">
            <a:solidFill>
              <a:srgbClr val="8A83D1"/>
            </a:solidFill>
            <a:prstDash val="solid"/>
            <a:headEnd type="triangle" w="sm" len="sm"/>
          </a:ln>
        </p:spPr>
      </p:cxnSp>
      <p:cxnSp>
        <p:nvCxnSpPr>
          <p:cNvPr id="80" name="Прямая со стрелкой 55"/>
          <p:cNvCxnSpPr>
            <a:stCxn id="23" idx="3"/>
            <a:endCxn id="24" idx="1"/>
          </p:cNvCxnSpPr>
          <p:nvPr/>
        </p:nvCxnSpPr>
        <p:spPr>
          <a:xfrm>
            <a:off x="6991350" y="4162425"/>
            <a:ext cx="314325" cy="0"/>
          </a:xfrm>
          <a:prstGeom prst="straightConnector1">
            <a:avLst/>
          </a:prstGeom>
          <a:ln w="19050">
            <a:solidFill>
              <a:srgbClr val="8A83D1"/>
            </a:solidFill>
            <a:prstDash val="solid"/>
            <a:headEnd type="triangle" w="sm" len="sm"/>
          </a:ln>
        </p:spPr>
      </p:cxnSp>
      <p:cxnSp>
        <p:nvCxnSpPr>
          <p:cNvPr id="81" name="Прямая со стрелкой 56"/>
          <p:cNvCxnSpPr>
            <a:stCxn id="24" idx="3"/>
            <a:endCxn id="25" idx="1"/>
          </p:cNvCxnSpPr>
          <p:nvPr/>
        </p:nvCxnSpPr>
        <p:spPr>
          <a:xfrm>
            <a:off x="9115425" y="4162425"/>
            <a:ext cx="314325" cy="0"/>
          </a:xfrm>
          <a:prstGeom prst="straightConnector1">
            <a:avLst/>
          </a:prstGeom>
          <a:ln w="19050">
            <a:solidFill>
              <a:srgbClr val="8A83D1"/>
            </a:solidFill>
            <a:prstDash val="solid"/>
            <a:headEnd type="triangle" w="sm" len="sm"/>
          </a:ln>
        </p:spPr>
      </p:cxnSp>
      <p:cxnSp>
        <p:nvCxnSpPr>
          <p:cNvPr id="82" name="Соединитель: уступ 57"/>
          <p:cNvCxnSpPr>
            <a:stCxn id="24" idx="0"/>
            <a:endCxn id="14" idx="2"/>
          </p:cNvCxnSpPr>
          <p:nvPr/>
        </p:nvCxnSpPr>
        <p:spPr>
          <a:xfrm flipH="1" flipV="1">
            <a:off x="4200525" y="2990850"/>
            <a:ext cx="4010025" cy="762000"/>
          </a:xfrm>
          <a:prstGeom prst="bentConnector4">
            <a:avLst>
              <a:gd name="adj1" fmla="val 0"/>
              <a:gd name="adj2" fmla="val 70000"/>
            </a:avLst>
          </a:prstGeom>
          <a:ln w="19050">
            <a:solidFill>
              <a:srgbClr val="FF0053"/>
            </a:solidFill>
            <a:prstDash val="solid"/>
            <a:headEnd type="triangle" w="sm" len="sm"/>
          </a:ln>
        </p:spPr>
      </p:cxnSp>
      <p:cxnSp>
        <p:nvCxnSpPr>
          <p:cNvPr id="83" name="Соединитель: уступ 58"/>
          <p:cNvCxnSpPr>
            <a:stCxn id="25" idx="0"/>
            <a:endCxn id="15" idx="2"/>
          </p:cNvCxnSpPr>
          <p:nvPr/>
        </p:nvCxnSpPr>
        <p:spPr>
          <a:xfrm flipH="1" flipV="1">
            <a:off x="6829425" y="2990850"/>
            <a:ext cx="3471863" cy="7620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FF0053"/>
            </a:solidFill>
            <a:prstDash val="solid"/>
            <a:headEnd type="triangle" w="sm" len="sm"/>
          </a:ln>
        </p:spPr>
      </p:cxn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DB81CF22-A253-4EA4-A69A-0C06A4D3AF0D}"/>
              </a:ext>
            </a:extLst>
          </p:cNvPr>
          <p:cNvSpPr>
            <a:spLocks noGrp="1"/>
          </p:cNvSpPr>
          <p:nvPr/>
        </p:nvSpPr>
        <p:spPr>
          <a:xfrm>
            <a:off x="666750" y="4953000"/>
            <a:ext cx="1047750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8A83D1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buNone/>
              <a:defRPr sz="1125" b="0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Хранилища и роли: raw snapshots и очередь заданий, Neo4j для фактов и связей, React + FastAPI для интерфейса и API</a:t>
            </a:r>
          </a:p>
        </p:txBody>
      </p:sp>
    </p:spTree>
    <p:extLst>
      <p:ext uri="{BB962C8B-B14F-4D97-AF65-F5344CB8AC3E}">
        <p14:creationId xmlns:p14="http://schemas.microsoft.com/office/powerpoint/2010/main" val="1201716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419735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8EE648F1-70BD-354A-6DAE-07E6E3044DC8}"/>
              </a:ext>
            </a:extLst>
          </p:cNvPr>
          <p:cNvSpPr>
            <a:spLocks noGrp="1"/>
          </p:cNvSpPr>
          <p:nvPr/>
        </p:nvSpPr>
        <p:spPr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>
            <a:spLocks noGrp="1"/>
          </p:cNvSpPr>
          <p:nvPr/>
        </p:nvSpPr>
        <p:spPr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5" name="Скругленный прямоугольник 24">
            <a:extLst>
              <a:ext uri="{FF2B5EF4-FFF2-40B4-BE49-F238E27FC236}">
                <a16:creationId xmlns:a16="http://schemas.microsoft.com/office/drawing/2014/main" id="{9B320FD4-0F75-8FB9-F799-AFA2CA575375}"/>
              </a:ext>
            </a:extLst>
          </p:cNvPr>
          <p:cNvSpPr>
            <a:spLocks noGrp="1"/>
          </p:cNvSpPr>
          <p:nvPr/>
        </p:nvSpPr>
        <p:spPr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>
            <a:spLocks noGrp="1"/>
          </p:cNvSpPr>
          <p:nvPr/>
        </p:nvSpPr>
        <p:spPr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52DCC5B9-D646-4B76-891F-6FF4E74E9CB4}" type="slidenum">
              <a:rPr>
                <a:solidFill>
                  <a:schemeClr val="bg1"/>
                </a:solidFill>
              </a:rPr>
              <a:t>8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0B115FEC-D79C-233C-419E-0B0BE3EB4A02}"/>
              </a:ext>
            </a:extLst>
          </p:cNvPr>
          <p:cNvSpPr>
            <a:spLocks noGrp="1"/>
          </p:cNvSpPr>
          <p:nvPr>
            <p:ph type="body" idx="37"/>
          </p:nvPr>
        </p:nvSpPr>
        <p:spPr>
          <a:xfrm>
            <a:off x="520913" y="2339783"/>
            <a:ext cx="2284071" cy="423628"/>
          </a:xfrm>
        </p:spPr>
        <p:txBody>
          <a:bodyPr/>
          <a:lstStyle/>
          <a:p>
            <a:endParaRPr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520913" y="3128740"/>
            <a:ext cx="2284071" cy="2797928"/>
          </a:xfrm>
        </p:spPr>
        <p:txBody>
          <a:bodyPr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670742-0112-ABA9-7C47-FE6D64A30A91}"/>
              </a:ext>
            </a:extLst>
          </p:cNvPr>
          <p:cNvSpPr>
            <a:spLocks noGrp="1"/>
          </p:cNvSpPr>
          <p:nvPr>
            <p:ph type="body" idx="39"/>
          </p:nvPr>
        </p:nvSpPr>
        <p:spPr>
          <a:xfrm>
            <a:off x="3457903" y="2373557"/>
            <a:ext cx="2337416" cy="403756"/>
          </a:xfrm>
        </p:spPr>
        <p:txBody>
          <a:bodyPr/>
          <a:lstStyle/>
          <a:p>
            <a:endParaRPr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A5C658C-1FD4-CD12-D517-15F6F46CFE3C}"/>
              </a:ext>
            </a:extLst>
          </p:cNvPr>
          <p:cNvSpPr>
            <a:spLocks noGrp="1"/>
          </p:cNvSpPr>
          <p:nvPr>
            <p:ph type="body" idx="40"/>
          </p:nvPr>
        </p:nvSpPr>
        <p:spPr>
          <a:xfrm>
            <a:off x="3457903" y="3134070"/>
            <a:ext cx="2337416" cy="2797928"/>
          </a:xfrm>
        </p:spPr>
        <p:txBody>
          <a:bodyPr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FAFE374-953E-0336-76DE-D143BB9C6451}"/>
              </a:ext>
            </a:extLst>
          </p:cNvPr>
          <p:cNvSpPr>
            <a:spLocks noGrp="1"/>
          </p:cNvSpPr>
          <p:nvPr>
            <p:ph type="body" idx="41"/>
          </p:nvPr>
        </p:nvSpPr>
        <p:spPr>
          <a:xfrm>
            <a:off x="6456363" y="2379657"/>
            <a:ext cx="2268537" cy="403913"/>
          </a:xfrm>
        </p:spPr>
        <p:txBody>
          <a:bodyPr/>
          <a:lstStyle/>
          <a:p>
            <a:endParaRPr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idx="42"/>
          </p:nvPr>
        </p:nvSpPr>
        <p:spPr>
          <a:xfrm>
            <a:off x="6456363" y="3136604"/>
            <a:ext cx="2268537" cy="2797928"/>
          </a:xfrm>
        </p:spPr>
        <p:txBody>
          <a:bodyPr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8E32729-5FCC-21EA-16FD-CEF0C8FAABAA}"/>
              </a:ext>
            </a:extLst>
          </p:cNvPr>
          <p:cNvSpPr>
            <a:spLocks noGrp="1"/>
          </p:cNvSpPr>
          <p:nvPr>
            <p:ph type="body" idx="43"/>
          </p:nvPr>
        </p:nvSpPr>
        <p:spPr>
          <a:xfrm>
            <a:off x="9407534" y="2339783"/>
            <a:ext cx="2263553" cy="423628"/>
          </a:xfrm>
        </p:spPr>
        <p:txBody>
          <a:bodyPr/>
          <a:lstStyle/>
          <a:p>
            <a:endParaRPr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6A6BF68-6470-CE0D-3E5F-0B15EDDCA14B}"/>
              </a:ext>
            </a:extLst>
          </p:cNvPr>
          <p:cNvSpPr>
            <a:spLocks noGrp="1"/>
          </p:cNvSpPr>
          <p:nvPr>
            <p:ph type="body" idx="44"/>
          </p:nvPr>
        </p:nvSpPr>
        <p:spPr>
          <a:xfrm>
            <a:off x="9407534" y="3128739"/>
            <a:ext cx="2263553" cy="2797928"/>
          </a:xfrm>
        </p:spPr>
        <p:txBody>
          <a:bodyPr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idx="49"/>
          </p:nvPr>
        </p:nvSpPr>
        <p:spPr>
          <a:xfrm>
            <a:off x="520913" y="1772416"/>
            <a:ext cx="771003" cy="423628"/>
          </a:xfrm>
        </p:spPr>
        <p:txBody>
          <a:bodyPr/>
          <a:lstStyle/>
          <a:p>
            <a:endParaRPr b="1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DE8FDF14-E7C8-6EE3-EBD8-B5DDE4F7F60B}"/>
              </a:ext>
            </a:extLst>
          </p:cNvPr>
          <p:cNvSpPr>
            <a:spLocks noGrp="1"/>
          </p:cNvSpPr>
          <p:nvPr>
            <p:ph type="body" idx="50"/>
          </p:nvPr>
        </p:nvSpPr>
        <p:spPr>
          <a:xfrm>
            <a:off x="3449944" y="1766200"/>
            <a:ext cx="771003" cy="403756"/>
          </a:xfrm>
        </p:spPr>
        <p:txBody>
          <a:bodyPr/>
          <a:lstStyle/>
          <a:p>
            <a:endParaRPr b="1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idx="51"/>
          </p:nvPr>
        </p:nvSpPr>
        <p:spPr>
          <a:xfrm>
            <a:off x="6456363" y="1766043"/>
            <a:ext cx="771003" cy="403913"/>
          </a:xfrm>
        </p:spPr>
        <p:txBody>
          <a:bodyPr/>
          <a:lstStyle/>
          <a:p>
            <a:endParaRPr b="1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59F6129C-95BA-0836-7395-00F4830237D5}"/>
              </a:ext>
            </a:extLst>
          </p:cNvPr>
          <p:cNvSpPr>
            <a:spLocks noGrp="1"/>
          </p:cNvSpPr>
          <p:nvPr>
            <p:ph type="body" idx="52"/>
          </p:nvPr>
        </p:nvSpPr>
        <p:spPr>
          <a:xfrm>
            <a:off x="9407534" y="1772416"/>
            <a:ext cx="771003" cy="423628"/>
          </a:xfrm>
        </p:spPr>
        <p:txBody>
          <a:bodyPr/>
          <a:lstStyle/>
          <a:p>
            <a:endParaRPr b="1">
              <a:solidFill>
                <a:schemeClr val="accent5"/>
              </a:solidFill>
            </a:endParaRPr>
          </a:p>
        </p:txBody>
      </p:sp>
      <p:sp>
        <p:nvSpPr>
          <p:cNvPr id="28" name="content-title">
            <a:extLst>
              <a:ext uri="{FF2B5EF4-FFF2-40B4-BE49-F238E27FC236}">
                <a16:creationId xmlns:a16="http://schemas.microsoft.com/office/drawing/2014/main" id="{5E92F188-AC9C-49A7-B7F3-6552F4E27570}"/>
              </a:ext>
            </a:extLst>
          </p:cNvPr>
          <p:cNvSpPr>
            <a:spLocks noGrp="1"/>
          </p:cNvSpPr>
          <p:nvPr/>
        </p:nvSpPr>
        <p:spPr>
          <a:xfrm>
            <a:off x="523875" y="390525"/>
            <a:ext cx="91440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ИСТОЧНИКИ И ДОКАЗАТЕЛЬСТВА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5AF8F55C-18AE-4D9C-9924-63721AD0A34E}"/>
              </a:ext>
            </a:extLst>
          </p:cNvPr>
          <p:cNvSpPr>
            <a:spLocks noGrp="1"/>
          </p:cNvSpPr>
          <p:nvPr/>
        </p:nvSpPr>
        <p:spPr>
          <a:xfrm>
            <a:off x="190500" y="1238250"/>
            <a:ext cx="11811000" cy="5095875"/>
          </a:xfrm>
          <a:prstGeom prst="rect">
            <a:avLst/>
          </a:prstGeom>
          <a:solidFill>
            <a:srgbClr val="310F53"/>
          </a:solidFill>
          <a:ln w="0">
            <a:noFill/>
          </a:ln>
        </p:spPr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992359EB-9605-4DF4-8D73-B057C961B9F3}"/>
              </a:ext>
            </a:extLst>
          </p:cNvPr>
          <p:cNvSpPr>
            <a:spLocks noGrp="1"/>
          </p:cNvSpPr>
          <p:nvPr/>
        </p:nvSpPr>
        <p:spPr>
          <a:xfrm>
            <a:off x="381000" y="1428750"/>
            <a:ext cx="3714750" cy="466725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FFD6E4"/>
            </a:solidFill>
            <a:prstDash val="solid"/>
          </a:ln>
        </p:spPr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8120EA87-AFC1-49B3-BCC5-6DF05E5269E7}"/>
              </a:ext>
            </a:extLst>
          </p:cNvPr>
          <p:cNvSpPr>
            <a:spLocks noGrp="1"/>
          </p:cNvSpPr>
          <p:nvPr/>
        </p:nvSpPr>
        <p:spPr>
          <a:xfrm>
            <a:off x="4238625" y="1428750"/>
            <a:ext cx="3714750" cy="466725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FFD6E4"/>
            </a:solidFill>
            <a:prstDash val="solid"/>
          </a:ln>
        </p:spPr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460689ED-9DB1-4661-BB3D-E7317EB75906}"/>
              </a:ext>
            </a:extLst>
          </p:cNvPr>
          <p:cNvSpPr>
            <a:spLocks noGrp="1"/>
          </p:cNvSpPr>
          <p:nvPr/>
        </p:nvSpPr>
        <p:spPr>
          <a:xfrm>
            <a:off x="8096250" y="1428750"/>
            <a:ext cx="3714750" cy="466725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FFD6E4"/>
            </a:solidFill>
            <a:prstDash val="solid"/>
          </a:ln>
        </p:spPr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D2954777-A517-4924-A319-97852E3E6574}"/>
              </a:ext>
            </a:extLst>
          </p:cNvPr>
          <p:cNvSpPr>
            <a:spLocks noGrp="1"/>
          </p:cNvSpPr>
          <p:nvPr/>
        </p:nvSpPr>
        <p:spPr>
          <a:xfrm>
            <a:off x="619125" y="1724025"/>
            <a:ext cx="7143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788875A9-4D09-4044-930C-FE08A5766697}"/>
              </a:ext>
            </a:extLst>
          </p:cNvPr>
          <p:cNvSpPr>
            <a:spLocks noGrp="1"/>
          </p:cNvSpPr>
          <p:nvPr/>
        </p:nvSpPr>
        <p:spPr>
          <a:xfrm>
            <a:off x="619125" y="3219450"/>
            <a:ext cx="31908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Открытые данные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0D5CA063-58C7-49C5-B879-FDC8D2950103}"/>
              </a:ext>
            </a:extLst>
          </p:cNvPr>
          <p:cNvSpPr>
            <a:spLocks noGrp="1"/>
          </p:cNvSpPr>
          <p:nvPr/>
        </p:nvSpPr>
        <p:spPr>
          <a:xfrm>
            <a:off x="619125" y="3829050"/>
            <a:ext cx="3190875" cy="2105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19050" bIns="0" anchor="t">
            <a:normAutofit/>
          </a:bodyPr>
          <a:lstStyle/>
          <a:p>
            <a:pPr marL="215900" indent="-101600" algn="l">
              <a:lnSpc>
                <a:spcPct val="108000"/>
              </a:lnSpc>
              <a:spcAft>
                <a:spcPts val="800"/>
              </a:spcAft>
              <a:buNone/>
              <a:defRPr sz="1200" b="0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OpenAlex: карточки, аннотации и доступный полный текст PDF.</a:t>
            </a:r>
          </a:p>
          <a:p>
            <a:pPr marL="215900" indent="-101600" algn="l">
              <a:lnSpc>
                <a:spcPct val="108000"/>
              </a:lnSpc>
              <a:spcAft>
                <a:spcPts val="800"/>
              </a:spcAft>
              <a:buNone/>
              <a:defRPr sz="1200" b="0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GitHub: README, релизы и владелец. PyPI: пакеты и версии.</a:t>
            </a:r>
          </a:p>
          <a:p>
            <a:pPr marL="215900" indent="-101600" algn="l">
              <a:lnSpc>
                <a:spcPct val="108000"/>
              </a:lnSpc>
              <a:spcAft>
                <a:spcPts val="800"/>
              </a:spcAft>
              <a:buNone/>
              <a:defRPr sz="1200" b="0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Локально: EPO XML, PDF, DOCX, TXT, MD и HTML. Также гранты и вакансии.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9541F318-FCBB-4630-9214-93A5B0DD6D30}"/>
              </a:ext>
            </a:extLst>
          </p:cNvPr>
          <p:cNvSpPr>
            <a:spLocks noGrp="1"/>
          </p:cNvSpPr>
          <p:nvPr/>
        </p:nvSpPr>
        <p:spPr>
          <a:xfrm>
            <a:off x="4543425" y="1724025"/>
            <a:ext cx="7143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9AC742B4-5287-4840-9A0C-E0F14F8BE00B}"/>
              </a:ext>
            </a:extLst>
          </p:cNvPr>
          <p:cNvSpPr>
            <a:spLocks noGrp="1"/>
          </p:cNvSpPr>
          <p:nvPr/>
        </p:nvSpPr>
        <p:spPr>
          <a:xfrm>
            <a:off x="4543425" y="3219450"/>
            <a:ext cx="31908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Контроль качества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EC00BFBB-4770-4E77-920A-7B9285C1CDA8}"/>
              </a:ext>
            </a:extLst>
          </p:cNvPr>
          <p:cNvSpPr>
            <a:spLocks noGrp="1"/>
          </p:cNvSpPr>
          <p:nvPr/>
        </p:nvSpPr>
        <p:spPr>
          <a:xfrm>
            <a:off x="4543425" y="3829050"/>
            <a:ext cx="3190875" cy="2105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19050" bIns="0" anchor="t">
            <a:normAutofit/>
          </a:bodyPr>
          <a:lstStyle/>
          <a:p>
            <a:pPr marL="215900" indent="-101600" algn="l">
              <a:lnSpc>
                <a:spcPct val="108000"/>
              </a:lnSpc>
              <a:spcAft>
                <a:spcPts val="800"/>
              </a:spcAft>
              <a:buNone/>
              <a:defRPr sz="1200" b="0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Сырые ответы сохраняются по SHA-256 и повторно разбираются без новой загрузки.</a:t>
            </a:r>
          </a:p>
          <a:p>
            <a:pPr marL="215900" indent="-101600" algn="l">
              <a:lnSpc>
                <a:spcPct val="108000"/>
              </a:lnSpc>
              <a:spcAft>
                <a:spcPts val="800"/>
              </a:spcAft>
              <a:buNone/>
              <a:defRPr sz="1200" b="0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Повторы, таймауты, checkpoints и идемпотентная обработка защищают длинный сбор.</a:t>
            </a:r>
          </a:p>
          <a:p>
            <a:pPr marL="215900" indent="-101600" algn="l">
              <a:lnSpc>
                <a:spcPct val="108000"/>
              </a:lnSpc>
              <a:spcAft>
                <a:spcPts val="800"/>
              </a:spcAft>
              <a:buNone/>
              <a:defRPr sz="1200" b="0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Извлечение и рецензия используют разные промпты.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F0EF9D94-7E7C-46B9-A8C5-DCB0E72517C8}"/>
              </a:ext>
            </a:extLst>
          </p:cNvPr>
          <p:cNvSpPr>
            <a:spLocks noGrp="1"/>
          </p:cNvSpPr>
          <p:nvPr/>
        </p:nvSpPr>
        <p:spPr>
          <a:xfrm>
            <a:off x="8382000" y="1724025"/>
            <a:ext cx="7143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88BB864B-7C74-4856-A313-A5BA9467D4BB}"/>
              </a:ext>
            </a:extLst>
          </p:cNvPr>
          <p:cNvSpPr>
            <a:spLocks noGrp="1"/>
          </p:cNvSpPr>
          <p:nvPr/>
        </p:nvSpPr>
        <p:spPr>
          <a:xfrm>
            <a:off x="8382000" y="3219450"/>
            <a:ext cx="31908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Доказательство</a:t>
            </a: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8BF99462-A82D-4283-957F-5CD7D1D13ABB}"/>
              </a:ext>
            </a:extLst>
          </p:cNvPr>
          <p:cNvSpPr>
            <a:spLocks noGrp="1"/>
          </p:cNvSpPr>
          <p:nvPr/>
        </p:nvSpPr>
        <p:spPr>
          <a:xfrm>
            <a:off x="8382000" y="3829050"/>
            <a:ext cx="3190875" cy="2105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19050" bIns="0" anchor="t">
            <a:normAutofit/>
          </a:bodyPr>
          <a:lstStyle/>
          <a:p>
            <a:pPr marL="215900" indent="-101600" algn="l">
              <a:lnSpc>
                <a:spcPct val="108000"/>
              </a:lnSpc>
              <a:spcAft>
                <a:spcPts val="800"/>
              </a:spcAft>
              <a:buNone/>
              <a:defRPr sz="1200" b="0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Утверждение попадает в граф только с дословной цитатой и после проверки.</a:t>
            </a:r>
          </a:p>
          <a:p>
            <a:pPr marL="215900" indent="-101600" algn="l">
              <a:lnSpc>
                <a:spcPct val="108000"/>
              </a:lnSpc>
              <a:spcAft>
                <a:spcPts val="800"/>
              </a:spcAft>
              <a:buNone/>
              <a:defRPr sz="1200" b="0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Источник хранит название, ссылку, дату, тип, язык и уровень доверия.</a:t>
            </a:r>
          </a:p>
          <a:p>
            <a:pPr marL="215900" indent="-101600" algn="l">
              <a:lnSpc>
                <a:spcPct val="108000"/>
              </a:lnSpc>
              <a:spcAft>
                <a:spcPts val="800"/>
              </a:spcAft>
              <a:buNone/>
              <a:defRPr sz="1200" b="0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Автоперевод и сгенерированное резюме получают явную отметку.</a:t>
            </a:r>
          </a:p>
        </p:txBody>
      </p:sp>
    </p:spTree>
    <p:extLst>
      <p:ext uri="{BB962C8B-B14F-4D97-AF65-F5344CB8AC3E}">
        <p14:creationId xmlns:p14="http://schemas.microsoft.com/office/powerpoint/2010/main" val="1739114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8587F3BD-E802-93BD-3D32-FDF202FEA64D}"/>
              </a:ext>
            </a:extLst>
          </p:cNvPr>
          <p:cNvSpPr>
            <a:spLocks noGrp="1"/>
          </p:cNvSpPr>
          <p:nvPr/>
        </p:nvSpPr>
        <p:spPr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B6016C66-2F45-3093-7675-966377141ADD}"/>
              </a:ext>
            </a:extLst>
          </p:cNvPr>
          <p:cNvSpPr>
            <a:spLocks noGrp="1"/>
          </p:cNvSpPr>
          <p:nvPr/>
        </p:nvSpPr>
        <p:spPr>
          <a:xfrm>
            <a:off x="836595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A68CA47-326C-A498-C456-623193EF0FFA}"/>
              </a:ext>
            </a:extLst>
          </p:cNvPr>
          <p:cNvSpPr>
            <a:spLocks noGrp="1"/>
          </p:cNvSpPr>
          <p:nvPr/>
        </p:nvSpPr>
        <p:spPr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E769D24B-D4D8-3322-BCAB-77138E027046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52DCC5B9-D646-4B76-891F-6FF4E74E9CB4}" type="slidenum">
              <a:rPr>
                <a:solidFill>
                  <a:schemeClr val="accent5"/>
                </a:solidFill>
              </a:rPr>
              <a:t>9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5DF4935E-10E9-5CA8-85EF-08A77383EBE6}"/>
              </a:ext>
            </a:extLst>
          </p:cNvPr>
          <p:cNvSpPr>
            <a:spLocks noGrp="1"/>
          </p:cNvSpPr>
          <p:nvPr>
            <p:ph type="body" idx="37"/>
          </p:nvPr>
        </p:nvSpPr>
        <p:spPr>
          <a:xfrm>
            <a:off x="780565" y="2493074"/>
            <a:ext cx="2965634" cy="423628"/>
          </a:xfrm>
        </p:spPr>
        <p:txBody>
          <a:bodyPr/>
          <a:lstStyle/>
          <a:p>
            <a:endParaRPr sz="180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63156EE-B99A-3E1C-1DFF-C779A3E1B5D8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780565" y="3128740"/>
            <a:ext cx="2965633" cy="2797928"/>
          </a:xfrm>
        </p:spPr>
        <p:txBody>
          <a:bodyPr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B578740-7F02-5606-0701-43CBE42E6173}"/>
              </a:ext>
            </a:extLst>
          </p:cNvPr>
          <p:cNvSpPr>
            <a:spLocks noGrp="1"/>
          </p:cNvSpPr>
          <p:nvPr>
            <p:ph type="body" idx="41"/>
          </p:nvPr>
        </p:nvSpPr>
        <p:spPr>
          <a:xfrm>
            <a:off x="8547959" y="2493074"/>
            <a:ext cx="2945464" cy="403913"/>
          </a:xfrm>
        </p:spPr>
        <p:txBody>
          <a:bodyPr/>
          <a:lstStyle/>
          <a:p>
            <a:endParaRPr sz="1800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143A847-7B5C-EA94-880E-65D8582653EB}"/>
              </a:ext>
            </a:extLst>
          </p:cNvPr>
          <p:cNvSpPr>
            <a:spLocks noGrp="1"/>
          </p:cNvSpPr>
          <p:nvPr>
            <p:ph type="body" idx="42"/>
          </p:nvPr>
        </p:nvSpPr>
        <p:spPr>
          <a:xfrm>
            <a:off x="8547959" y="3128740"/>
            <a:ext cx="2945464" cy="2797928"/>
          </a:xfrm>
        </p:spPr>
        <p:txBody>
          <a:bodyPr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AEBED94-4F5F-339A-0CCE-082BCC33E925}"/>
              </a:ext>
            </a:extLst>
          </p:cNvPr>
          <p:cNvSpPr>
            <a:spLocks noGrp="1"/>
          </p:cNvSpPr>
          <p:nvPr>
            <p:ph type="body" idx="49"/>
          </p:nvPr>
        </p:nvSpPr>
        <p:spPr>
          <a:xfrm>
            <a:off x="780565" y="1772415"/>
            <a:ext cx="1311031" cy="601141"/>
          </a:xfrm>
        </p:spPr>
        <p:txBody>
          <a:bodyPr/>
          <a:lstStyle/>
          <a:p>
            <a:endParaRPr sz="4400" b="1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01B288C6-447F-2720-CB9D-6F216BD0C554}"/>
              </a:ext>
            </a:extLst>
          </p:cNvPr>
          <p:cNvSpPr>
            <a:spLocks noGrp="1"/>
          </p:cNvSpPr>
          <p:nvPr>
            <p:ph type="body" idx="50"/>
          </p:nvPr>
        </p:nvSpPr>
        <p:spPr>
          <a:xfrm>
            <a:off x="4615219" y="1766200"/>
            <a:ext cx="1311031" cy="572942"/>
          </a:xfrm>
        </p:spPr>
        <p:txBody>
          <a:bodyPr/>
          <a:lstStyle/>
          <a:p>
            <a:endParaRPr sz="4400" b="1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78DB70E8-1110-C23C-1E37-53138E3F8F02}"/>
              </a:ext>
            </a:extLst>
          </p:cNvPr>
          <p:cNvSpPr>
            <a:spLocks noGrp="1"/>
          </p:cNvSpPr>
          <p:nvPr>
            <p:ph type="body" idx="51"/>
          </p:nvPr>
        </p:nvSpPr>
        <p:spPr>
          <a:xfrm>
            <a:off x="8547959" y="1766043"/>
            <a:ext cx="1311031" cy="573165"/>
          </a:xfrm>
        </p:spPr>
        <p:txBody>
          <a:bodyPr/>
          <a:lstStyle/>
          <a:p>
            <a:endParaRPr sz="4400" b="1">
              <a:solidFill>
                <a:schemeClr val="accent5"/>
              </a:solidFill>
            </a:endParaRPr>
          </a:p>
        </p:txBody>
      </p:sp>
      <p:sp>
        <p:nvSpPr>
          <p:cNvPr id="22" name="content-title">
            <a:extLst>
              <a:ext uri="{FF2B5EF4-FFF2-40B4-BE49-F238E27FC236}">
                <a16:creationId xmlns:a16="http://schemas.microsoft.com/office/drawing/2014/main" id="{B7C442BB-1667-46ED-A35D-777051AE28B2}"/>
              </a:ext>
            </a:extLst>
          </p:cNvPr>
          <p:cNvSpPr>
            <a:spLocks noGrp="1"/>
          </p:cNvSpPr>
          <p:nvPr/>
        </p:nvSpPr>
        <p:spPr>
          <a:xfrm>
            <a:off x="523875" y="390525"/>
            <a:ext cx="91440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65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МЕТОДОЛОГИЯ СЛАБОГО СИГНАЛА</a:t>
            </a: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A3B8D365-FC24-4FD6-BC84-D71BDBA7DA4F}"/>
              </a:ext>
            </a:extLst>
          </p:cNvPr>
          <p:cNvSpPr>
            <a:spLocks noGrp="1"/>
          </p:cNvSpPr>
          <p:nvPr/>
        </p:nvSpPr>
        <p:spPr>
          <a:xfrm>
            <a:off x="428625" y="1381125"/>
            <a:ext cx="5286375" cy="4810125"/>
          </a:xfrm>
          <a:prstGeom prst="roundRect">
            <a:avLst>
              <a:gd name="adj" fmla="val 3564"/>
            </a:avLst>
          </a:prstGeom>
          <a:solidFill>
            <a:srgbClr val="FFFFFF"/>
          </a:solidFill>
          <a:ln w="9525">
            <a:solidFill>
              <a:srgbClr val="8A83D1"/>
            </a:solidFill>
            <a:prstDash val="solid"/>
          </a:ln>
        </p:spPr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AAF52086-0D02-47E6-A87E-5C5BE2D2BEF6}"/>
              </a:ext>
            </a:extLst>
          </p:cNvPr>
          <p:cNvSpPr>
            <a:spLocks noGrp="1"/>
          </p:cNvSpPr>
          <p:nvPr/>
        </p:nvSpPr>
        <p:spPr>
          <a:xfrm>
            <a:off x="5905500" y="1381125"/>
            <a:ext cx="5715000" cy="4810125"/>
          </a:xfrm>
          <a:prstGeom prst="roundRect">
            <a:avLst>
              <a:gd name="adj" fmla="val 3564"/>
            </a:avLst>
          </a:prstGeom>
          <a:solidFill>
            <a:srgbClr val="FFFFFF"/>
          </a:solidFill>
          <a:ln w="9525">
            <a:solidFill>
              <a:srgbClr val="8A83D1"/>
            </a:solidFill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B0BAD5F0-E234-4B98-BAB1-42B06CCD584C}"/>
              </a:ext>
            </a:extLst>
          </p:cNvPr>
          <p:cNvSpPr>
            <a:spLocks noGrp="1"/>
          </p:cNvSpPr>
          <p:nvPr/>
        </p:nvSpPr>
        <p:spPr>
          <a:xfrm>
            <a:off x="647700" y="1695450"/>
            <a:ext cx="4762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/>
          </a:bodyPr>
          <a:lstStyle/>
          <a:p>
            <a:pPr algn="ctr">
              <a:buNone/>
              <a:defRPr sz="232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Технология @ дата T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797AE0FF-9C44-4DED-80A1-78023321C5C4}"/>
              </a:ext>
            </a:extLst>
          </p:cNvPr>
          <p:cNvSpPr>
            <a:spLocks noGrp="1"/>
          </p:cNvSpPr>
          <p:nvPr/>
        </p:nvSpPr>
        <p:spPr>
          <a:xfrm>
            <a:off x="723900" y="2428875"/>
            <a:ext cx="46101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/>
          </a:bodyPr>
          <a:lstStyle/>
          <a:p>
            <a:pPr algn="ctr">
              <a:buNone/>
              <a:defRPr sz="1275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P(сигнал | данные, доступные к дате T)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37A98597-E2AC-4D95-8DEC-771C1DFC82B1}"/>
              </a:ext>
            </a:extLst>
          </p:cNvPr>
          <p:cNvSpPr>
            <a:spLocks noGrp="1"/>
          </p:cNvSpPr>
          <p:nvPr/>
        </p:nvSpPr>
        <p:spPr>
          <a:xfrm>
            <a:off x="762000" y="3143250"/>
            <a:ext cx="4476750" cy="1666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19050" bIns="0" anchor="t">
            <a:normAutofit/>
          </a:bodyPr>
          <a:lstStyle/>
          <a:p>
            <a:pPr marL="215900" indent="-101600" algn="l">
              <a:lnSpc>
                <a:spcPct val="108000"/>
              </a:lnSpc>
              <a:spcAft>
                <a:spcPts val="900"/>
              </a:spcAft>
              <a:buNone/>
              <a:defRPr sz="1238" b="0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238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Временной граф хранит технологии, статьи, организации и связи с датой появления.</a:t>
            </a:r>
          </a:p>
          <a:p>
            <a:pPr marL="215900" indent="-101600" algn="l">
              <a:lnSpc>
                <a:spcPct val="108000"/>
              </a:lnSpc>
              <a:spcAft>
                <a:spcPts val="900"/>
              </a:spcAft>
              <a:buNone/>
              <a:defRPr sz="1238" b="0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238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Для любой даты T можно восстановить знания и доказательства, доступные на тот момент.</a:t>
            </a:r>
          </a:p>
          <a:p>
            <a:pPr marL="215900" indent="-101600" algn="l">
              <a:lnSpc>
                <a:spcPct val="108000"/>
              </a:lnSpc>
              <a:spcAft>
                <a:spcPts val="900"/>
              </a:spcAft>
              <a:buNone/>
              <a:defRPr sz="1238" b="0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238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Так мы сравниваем траектории роста и не допускаем будущие данные в признаки.</a:t>
            </a:r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4A0A9B2B-19BB-4CEE-9E47-34E6EFA0A166}"/>
              </a:ext>
            </a:extLst>
          </p:cNvPr>
          <p:cNvSpPr>
            <a:spLocks noGrp="1"/>
          </p:cNvSpPr>
          <p:nvPr/>
        </p:nvSpPr>
        <p:spPr>
          <a:xfrm>
            <a:off x="714375" y="5000625"/>
            <a:ext cx="4667250" cy="914400"/>
          </a:xfrm>
          <a:prstGeom prst="roundRect">
            <a:avLst>
              <a:gd name="adj" fmla="val 12500"/>
            </a:avLst>
          </a:prstGeom>
          <a:solidFill>
            <a:srgbClr val="FFD6E4"/>
          </a:solidFill>
          <a:ln w="9525">
            <a:solidFill>
              <a:srgbClr val="FC3777"/>
            </a:solidFill>
            <a:prstDash val="solid"/>
          </a:ln>
        </p:spPr>
        <p:txBody>
          <a:bodyPr wrap="square" lIns="114300" tIns="76200" rIns="114300" bIns="76200" anchor="ctr">
            <a:normAutofit/>
          </a:bodyPr>
          <a:lstStyle/>
          <a:p>
            <a:pPr algn="ctr">
              <a:buNone/>
              <a:defRPr sz="1088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088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Текущий поиск использует прозрачный эвристический score. Калиброванная вероятность подключается после экспертной разметки и фиксированного временного теста.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F3C0196-3AD6-4148-BC06-3C975CABC02D}"/>
              </a:ext>
            </a:extLst>
          </p:cNvPr>
          <p:cNvSpPr>
            <a:spLocks noGrp="1"/>
          </p:cNvSpPr>
          <p:nvPr/>
        </p:nvSpPr>
        <p:spPr>
          <a:xfrm>
            <a:off x="6191250" y="1438275"/>
            <a:ext cx="5334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НОВИЗНА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9E0FBEE0-985A-4255-8ED8-1192B490D73D}"/>
              </a:ext>
            </a:extLst>
          </p:cNvPr>
          <p:cNvSpPr>
            <a:spLocks noGrp="1"/>
          </p:cNvSpPr>
          <p:nvPr/>
        </p:nvSpPr>
        <p:spPr>
          <a:xfrm>
            <a:off x="6191250" y="1695450"/>
            <a:ext cx="5334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63" b="0">
                <a:solidFill>
                  <a:srgbClr val="6E6476"/>
                </a:solidFill>
                <a:latin typeface="Montserrat"/>
                <a:ea typeface="Montserrat"/>
                <a:cs typeface="Montserrat"/>
              </a:defRPr>
            </a:pPr>
            <a:r>
              <a:rPr sz="1163" b="0">
                <a:solidFill>
                  <a:srgbClr val="6E6476"/>
                </a:solidFill>
                <a:latin typeface="Montserrat"/>
                <a:ea typeface="Montserrat"/>
                <a:cs typeface="Montserrat"/>
              </a:rPr>
              <a:t>Семантическая дистанция и новая ветка в известной области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7EB27C26-3863-43DD-BFE6-1895A41DA732}"/>
              </a:ext>
            </a:extLst>
          </p:cNvPr>
          <p:cNvSpPr>
            <a:spLocks noGrp="1"/>
          </p:cNvSpPr>
          <p:nvPr/>
        </p:nvSpPr>
        <p:spPr>
          <a:xfrm>
            <a:off x="6191250" y="2447925"/>
            <a:ext cx="5334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ДИНАМИКА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06661DF9-FB83-4733-BBA1-5FA5BB9EE4DB}"/>
              </a:ext>
            </a:extLst>
          </p:cNvPr>
          <p:cNvSpPr>
            <a:spLocks noGrp="1"/>
          </p:cNvSpPr>
          <p:nvPr/>
        </p:nvSpPr>
        <p:spPr>
          <a:xfrm>
            <a:off x="6191250" y="2705100"/>
            <a:ext cx="5334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63" b="0">
                <a:solidFill>
                  <a:srgbClr val="6E6476"/>
                </a:solidFill>
                <a:latin typeface="Montserrat"/>
                <a:ea typeface="Montserrat"/>
                <a:cs typeface="Montserrat"/>
              </a:defRPr>
            </a:pPr>
            <a:r>
              <a:rPr sz="1163" b="0">
                <a:solidFill>
                  <a:srgbClr val="6E6476"/>
                </a:solidFill>
                <a:latin typeface="Montserrat"/>
                <a:ea typeface="Montserrat"/>
                <a:cs typeface="Montserrat"/>
              </a:rPr>
              <a:t>Рост публикаций, кода, финансирования и вакансий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508E42C2-6E13-4D7B-9261-130E7887AD89}"/>
              </a:ext>
            </a:extLst>
          </p:cNvPr>
          <p:cNvSpPr>
            <a:spLocks noGrp="1"/>
          </p:cNvSpPr>
          <p:nvPr/>
        </p:nvSpPr>
        <p:spPr>
          <a:xfrm>
            <a:off x="6191250" y="3457575"/>
            <a:ext cx="5334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НЕЗАВИСИМОСТЬ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C269031E-F78D-4C9A-AE3E-0773DFBEC1E7}"/>
              </a:ext>
            </a:extLst>
          </p:cNvPr>
          <p:cNvSpPr>
            <a:spLocks noGrp="1"/>
          </p:cNvSpPr>
          <p:nvPr/>
        </p:nvSpPr>
        <p:spPr>
          <a:xfrm>
            <a:off x="6191250" y="3714750"/>
            <a:ext cx="5334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63" b="0">
                <a:solidFill>
                  <a:srgbClr val="6E6476"/>
                </a:solidFill>
                <a:latin typeface="Montserrat"/>
                <a:ea typeface="Montserrat"/>
                <a:cs typeface="Montserrat"/>
              </a:defRPr>
            </a:pPr>
            <a:r>
              <a:rPr sz="1163" b="0">
                <a:solidFill>
                  <a:srgbClr val="6E6476"/>
                </a:solidFill>
                <a:latin typeface="Montserrat"/>
                <a:ea typeface="Montserrat"/>
                <a:cs typeface="Montserrat"/>
              </a:rPr>
              <a:t>Разные организации и типы источников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9782041B-EF8E-45D4-9800-ABB8452CCB88}"/>
              </a:ext>
            </a:extLst>
          </p:cNvPr>
          <p:cNvSpPr>
            <a:spLocks noGrp="1"/>
          </p:cNvSpPr>
          <p:nvPr/>
        </p:nvSpPr>
        <p:spPr>
          <a:xfrm>
            <a:off x="6191250" y="4467225"/>
            <a:ext cx="5334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РАННЯЯ ЗРЕЛОСТЬ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46416BF3-9B43-41E7-97F1-CC372433594D}"/>
              </a:ext>
            </a:extLst>
          </p:cNvPr>
          <p:cNvSpPr>
            <a:spLocks noGrp="1"/>
          </p:cNvSpPr>
          <p:nvPr/>
        </p:nvSpPr>
        <p:spPr>
          <a:xfrm>
            <a:off x="6191250" y="4724400"/>
            <a:ext cx="5334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63" b="0">
                <a:solidFill>
                  <a:srgbClr val="6E6476"/>
                </a:solidFill>
                <a:latin typeface="Montserrat"/>
                <a:ea typeface="Montserrat"/>
                <a:cs typeface="Montserrat"/>
              </a:defRPr>
            </a:pPr>
            <a:r>
              <a:rPr sz="1163" b="0">
                <a:solidFill>
                  <a:srgbClr val="6E6476"/>
                </a:solidFill>
                <a:latin typeface="Montserrat"/>
                <a:ea typeface="Montserrat"/>
                <a:cs typeface="Montserrat"/>
              </a:rPr>
              <a:t>Исследование, прототип или пилот без массового рынка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864AB3AA-FFAB-428D-B35A-30838BCE2C86}"/>
              </a:ext>
            </a:extLst>
          </p:cNvPr>
          <p:cNvSpPr>
            <a:spLocks noGrp="1"/>
          </p:cNvSpPr>
          <p:nvPr/>
        </p:nvSpPr>
        <p:spPr>
          <a:xfrm>
            <a:off x="6191250" y="5476875"/>
            <a:ext cx="5334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КАЧЕСТВО ФАКТОВ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F069F4D8-1725-4F47-99EA-8D9533C1BB6B}"/>
              </a:ext>
            </a:extLst>
          </p:cNvPr>
          <p:cNvSpPr>
            <a:spLocks noGrp="1"/>
          </p:cNvSpPr>
          <p:nvPr/>
        </p:nvSpPr>
        <p:spPr>
          <a:xfrm>
            <a:off x="6191250" y="5734050"/>
            <a:ext cx="5334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63" b="0">
                <a:solidFill>
                  <a:srgbClr val="6E6476"/>
                </a:solidFill>
                <a:latin typeface="Montserrat"/>
                <a:ea typeface="Montserrat"/>
                <a:cs typeface="Montserrat"/>
              </a:defRPr>
            </a:pPr>
            <a:r>
              <a:rPr sz="1163" b="0">
                <a:solidFill>
                  <a:srgbClr val="6E6476"/>
                </a:solidFill>
                <a:latin typeface="Montserrat"/>
                <a:ea typeface="Montserrat"/>
                <a:cs typeface="Montserrat"/>
              </a:rPr>
              <a:t>Доверенность, цитаты и независимые подтверждения</a:t>
            </a:r>
          </a:p>
        </p:txBody>
      </p:sp>
    </p:spTree>
    <p:extLst>
      <p:ext uri="{BB962C8B-B14F-4D97-AF65-F5344CB8AC3E}">
        <p14:creationId xmlns:p14="http://schemas.microsoft.com/office/powerpoint/2010/main" val="3112216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52DCC5B9-D646-4B76-891F-6FF4E74E9CB4}" type="slidenum">
              <a:rPr>
                <a:solidFill>
                  <a:schemeClr val="accent5"/>
                </a:solidFill>
              </a:rPr>
              <a:t>10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27E23EC9-2FC6-4D30-AF38-406CDD6EAFE1}"/>
              </a:ext>
            </a:extLst>
          </p:cNvPr>
          <p:cNvSpPr>
            <a:spLocks noGrp="1"/>
          </p:cNvSpPr>
          <p:nvPr>
            <p:ph type="body" idx="37"/>
          </p:nvPr>
        </p:nvSpPr>
        <p:spPr>
          <a:xfrm>
            <a:off x="1615961" y="1428777"/>
            <a:ext cx="3866856" cy="423628"/>
          </a:xfrm>
        </p:spPr>
        <p:txBody>
          <a:bodyPr/>
          <a:lstStyle/>
          <a:p>
            <a:r>
              <a:rPr lang="ru-RU" sz="1600" b="1" dirty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Каскадный поиск</a:t>
            </a:r>
          </a:p>
          <a:p>
            <a:endParaRPr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711F3D1-6A7C-417C-88B0-D92130FE9557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1615964" y="1996388"/>
            <a:ext cx="3866856" cy="672075"/>
          </a:xfrm>
        </p:spPr>
        <p:txBody>
          <a:bodyPr>
            <a:normAutofit fontScale="92500" lnSpcReduction="10000"/>
          </a:bodyPr>
          <a:lstStyle/>
          <a:p>
            <a:r>
              <a:rPr lang="ru-RU" sz="1600" b="0" dirty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Сначала отбирали кандидатов по BM25, затем </a:t>
            </a:r>
            <a:r>
              <a:rPr lang="ru-RU" sz="1600" b="0" dirty="0" err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переранжировали</a:t>
            </a:r>
            <a:r>
              <a:rPr lang="ru-RU" sz="1600" b="0" dirty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lang="ru-RU" sz="1600" b="0" dirty="0" err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эмбеддингами</a:t>
            </a:r>
            <a:r>
              <a:rPr lang="ru-RU" sz="1600" b="0" dirty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 и моделью.</a:t>
            </a:r>
          </a:p>
          <a:p>
            <a:endParaRPr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CFDA1A-32AF-41E1-A34D-F85A5B0EDD07}"/>
              </a:ext>
            </a:extLst>
          </p:cNvPr>
          <p:cNvSpPr>
            <a:spLocks noGrp="1"/>
          </p:cNvSpPr>
          <p:nvPr>
            <p:ph type="body" idx="39"/>
          </p:nvPr>
        </p:nvSpPr>
        <p:spPr>
          <a:xfrm>
            <a:off x="1596605" y="3032761"/>
            <a:ext cx="3866856" cy="403756"/>
          </a:xfrm>
        </p:spPr>
        <p:txBody>
          <a:bodyPr/>
          <a:lstStyle/>
          <a:p>
            <a:r>
              <a:rPr lang="ru-RU" sz="1600" b="1" dirty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Поиск по гэпам</a:t>
            </a:r>
          </a:p>
          <a:p>
            <a:endParaRPr dirty="0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CCF47ED-F081-41D2-846B-E1D156AA0314}"/>
              </a:ext>
            </a:extLst>
          </p:cNvPr>
          <p:cNvSpPr>
            <a:spLocks noGrp="1"/>
          </p:cNvSpPr>
          <p:nvPr>
            <p:ph type="body" idx="40"/>
          </p:nvPr>
        </p:nvSpPr>
        <p:spPr>
          <a:xfrm>
            <a:off x="1596605" y="3580500"/>
            <a:ext cx="3866856" cy="672075"/>
          </a:xfrm>
        </p:spPr>
        <p:txBody>
          <a:bodyPr>
            <a:normAutofit fontScale="85000" lnSpcReduction="10000"/>
          </a:bodyPr>
          <a:lstStyle/>
          <a:p>
            <a:r>
              <a:rPr lang="ru-RU" sz="1600" b="0" dirty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Гэп часто означал неполный сбор данных, а не новый сигнал. Оставили его дополнительным признаком.</a:t>
            </a:r>
          </a:p>
          <a:p>
            <a:endParaRPr dirty="0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9BEAF1A-2D42-4D98-AD35-7280D52BED88}"/>
              </a:ext>
            </a:extLst>
          </p:cNvPr>
          <p:cNvSpPr>
            <a:spLocks noGrp="1"/>
          </p:cNvSpPr>
          <p:nvPr>
            <p:ph type="body" idx="41"/>
          </p:nvPr>
        </p:nvSpPr>
        <p:spPr>
          <a:xfrm>
            <a:off x="7191048" y="1325649"/>
            <a:ext cx="3866856" cy="403913"/>
          </a:xfrm>
        </p:spPr>
        <p:txBody>
          <a:bodyPr/>
          <a:lstStyle/>
          <a:p>
            <a:r>
              <a:rPr lang="en-US" sz="1600" b="1" dirty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LLM </a:t>
            </a:r>
            <a:r>
              <a:rPr lang="ru-RU" sz="1600" b="1" dirty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как ранжировщик</a:t>
            </a:r>
          </a:p>
          <a:p>
            <a:endParaRPr dirty="0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50E54373-F1CE-490F-A9AC-455CC1CA7076}"/>
              </a:ext>
            </a:extLst>
          </p:cNvPr>
          <p:cNvSpPr>
            <a:spLocks noGrp="1"/>
          </p:cNvSpPr>
          <p:nvPr>
            <p:ph type="body" idx="42"/>
          </p:nvPr>
        </p:nvSpPr>
        <p:spPr>
          <a:xfrm>
            <a:off x="7191047" y="1873388"/>
            <a:ext cx="3988855" cy="786608"/>
          </a:xfrm>
        </p:spPr>
        <p:txBody>
          <a:bodyPr>
            <a:normAutofit fontScale="92500" lnSpcReduction="10000"/>
          </a:bodyPr>
          <a:lstStyle/>
          <a:p>
            <a:r>
              <a:rPr lang="ru-RU" dirty="0">
                <a:solidFill>
                  <a:schemeClr val="tx1"/>
                </a:solidFill>
              </a:rPr>
              <a:t>Оценка менялась между запусками, плохо калибровалась и стоила дороже. LLM оставили для извлечения фактов и резюме.</a:t>
            </a:r>
          </a:p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D072020D-E8F8-4E9E-BBDB-08E0FF7D7841}"/>
              </a:ext>
            </a:extLst>
          </p:cNvPr>
          <p:cNvSpPr>
            <a:spLocks noGrp="1"/>
          </p:cNvSpPr>
          <p:nvPr>
            <p:ph type="body" idx="43"/>
          </p:nvPr>
        </p:nvSpPr>
        <p:spPr>
          <a:xfrm>
            <a:off x="7191048" y="2978164"/>
            <a:ext cx="3866856" cy="423628"/>
          </a:xfrm>
        </p:spPr>
        <p:txBody>
          <a:bodyPr/>
          <a:lstStyle/>
          <a:p>
            <a:r>
              <a:rPr lang="ru-RU" sz="1600" b="1" dirty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Гибридный поиск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F21454E5-F292-4891-9D68-0D5174698360}"/>
              </a:ext>
            </a:extLst>
          </p:cNvPr>
          <p:cNvSpPr>
            <a:spLocks noGrp="1"/>
          </p:cNvSpPr>
          <p:nvPr>
            <p:ph type="body" idx="44"/>
          </p:nvPr>
        </p:nvSpPr>
        <p:spPr>
          <a:xfrm>
            <a:off x="7191051" y="3545775"/>
            <a:ext cx="3866856" cy="672075"/>
          </a:xfrm>
        </p:spPr>
        <p:txBody>
          <a:bodyPr>
            <a:normAutofit fontScale="92500" lnSpcReduction="10000"/>
          </a:bodyPr>
          <a:lstStyle/>
          <a:p>
            <a:r>
              <a:rPr lang="ru-RU" sz="1600" b="0" dirty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BM25 и </a:t>
            </a:r>
            <a:r>
              <a:rPr lang="ru-RU" sz="1600" b="0" dirty="0" err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эмбеддинги</a:t>
            </a:r>
            <a:r>
              <a:rPr lang="ru-RU" sz="1600" b="0" dirty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 сохраняют полноту, затем прозрачный </a:t>
            </a:r>
            <a:r>
              <a:rPr lang="ru-RU" sz="1600" b="0" dirty="0" err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score</a:t>
            </a:r>
            <a:r>
              <a:rPr lang="ru-RU" sz="1600" b="0" dirty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 ранжирует кандидатов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83D68FBC-5A9C-4BE2-A173-8FBC9296615A}"/>
              </a:ext>
            </a:extLst>
          </p:cNvPr>
          <p:cNvSpPr>
            <a:spLocks noGrp="1"/>
          </p:cNvSpPr>
          <p:nvPr>
            <p:ph type="body" idx="49"/>
          </p:nvPr>
        </p:nvSpPr>
        <p:spPr>
          <a:xfrm>
            <a:off x="520913" y="1394052"/>
            <a:ext cx="771003" cy="423628"/>
          </a:xfrm>
        </p:spPr>
        <p:txBody>
          <a:bodyPr/>
          <a:lstStyle/>
          <a:p>
            <a:endParaRPr b="1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F7796DA3-237A-4B69-B5A0-A321BB471A9B}"/>
              </a:ext>
            </a:extLst>
          </p:cNvPr>
          <p:cNvSpPr>
            <a:spLocks noGrp="1"/>
          </p:cNvSpPr>
          <p:nvPr>
            <p:ph type="body" idx="50"/>
          </p:nvPr>
        </p:nvSpPr>
        <p:spPr>
          <a:xfrm>
            <a:off x="501557" y="2998036"/>
            <a:ext cx="771003" cy="403756"/>
          </a:xfrm>
        </p:spPr>
        <p:txBody>
          <a:bodyPr/>
          <a:lstStyle/>
          <a:p>
            <a:endParaRPr b="1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01D31CD5-C50F-4F9F-AFD3-E6609DC7BFA0}"/>
              </a:ext>
            </a:extLst>
          </p:cNvPr>
          <p:cNvSpPr>
            <a:spLocks noGrp="1"/>
          </p:cNvSpPr>
          <p:nvPr>
            <p:ph type="body" idx="51"/>
          </p:nvPr>
        </p:nvSpPr>
        <p:spPr>
          <a:xfrm>
            <a:off x="6096000" y="1290924"/>
            <a:ext cx="771003" cy="403913"/>
          </a:xfrm>
        </p:spPr>
        <p:txBody>
          <a:bodyPr/>
          <a:lstStyle/>
          <a:p>
            <a:endParaRPr b="1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D87BAA27-328A-476A-8933-B54F5113B8B6}"/>
              </a:ext>
            </a:extLst>
          </p:cNvPr>
          <p:cNvSpPr>
            <a:spLocks noGrp="1"/>
          </p:cNvSpPr>
          <p:nvPr>
            <p:ph type="body" idx="52"/>
          </p:nvPr>
        </p:nvSpPr>
        <p:spPr>
          <a:xfrm>
            <a:off x="6096000" y="2943439"/>
            <a:ext cx="771003" cy="423628"/>
          </a:xfrm>
        </p:spPr>
        <p:txBody>
          <a:bodyPr/>
          <a:lstStyle/>
          <a:p>
            <a:endParaRPr b="1">
              <a:solidFill>
                <a:schemeClr val="accent5"/>
              </a:solidFill>
            </a:endParaRPr>
          </a:p>
        </p:txBody>
      </p:sp>
      <p:sp>
        <p:nvSpPr>
          <p:cNvPr id="24" name="content-title">
            <a:extLst>
              <a:ext uri="{FF2B5EF4-FFF2-40B4-BE49-F238E27FC236}">
                <a16:creationId xmlns:a16="http://schemas.microsoft.com/office/drawing/2014/main" id="{E93180A1-3D6C-495B-8C0D-451ECD5C5608}"/>
              </a:ext>
            </a:extLst>
          </p:cNvPr>
          <p:cNvSpPr>
            <a:spLocks noGrp="1"/>
          </p:cNvSpPr>
          <p:nvPr/>
        </p:nvSpPr>
        <p:spPr>
          <a:xfrm>
            <a:off x="523875" y="390525"/>
            <a:ext cx="91440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ИДЕИ И ЭКСПЕРИМЕНТЫ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E0C4469B-8AAE-7B13-015A-FD424E4F9A97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42900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294820D9-0FE7-A2CD-6EC6-B191A0CD90DC}"/>
              </a:ext>
            </a:extLst>
          </p:cNvPr>
          <p:cNvSpPr>
            <a:spLocks noGrp="1"/>
          </p:cNvSpPr>
          <p:nvPr/>
        </p:nvSpPr>
        <p:spPr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7AE51F4F-C2FB-09FC-6139-35E790E33BDF}"/>
              </a:ext>
            </a:extLst>
          </p:cNvPr>
          <p:cNvSpPr>
            <a:spLocks noGrp="1"/>
          </p:cNvSpPr>
          <p:nvPr/>
        </p:nvSpPr>
        <p:spPr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34B52819-C376-FDAF-2B5B-09C492119CCF}"/>
              </a:ext>
            </a:extLst>
          </p:cNvPr>
          <p:cNvSpPr>
            <a:spLocks noGrp="1"/>
          </p:cNvSpPr>
          <p:nvPr/>
        </p:nvSpPr>
        <p:spPr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6CDADF58-3FDE-0896-F558-2E50261FFD44}"/>
              </a:ext>
            </a:extLst>
          </p:cNvPr>
          <p:cNvSpPr>
            <a:spLocks noGrp="1"/>
          </p:cNvSpPr>
          <p:nvPr/>
        </p:nvSpPr>
        <p:spPr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CD942BE0-7170-CE73-83AB-4505964EB89D}"/>
              </a:ext>
            </a:extLst>
          </p:cNvPr>
          <p:cNvSpPr>
            <a:spLocks noGrp="1"/>
          </p:cNvSpPr>
          <p:nvPr/>
        </p:nvSpPr>
        <p:spPr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BF0860DA-9B9B-19E2-49DF-A8EDAA7C2B5F}"/>
              </a:ext>
            </a:extLst>
          </p:cNvPr>
          <p:cNvSpPr>
            <a:spLocks noGrp="1"/>
          </p:cNvSpPr>
          <p:nvPr/>
        </p:nvSpPr>
        <p:spPr>
          <a:xfrm>
            <a:off x="346076" y="1366423"/>
            <a:ext cx="5389562" cy="4834352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3F7DC2-0D9C-407C-98AC-5F3AD231C5C8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23887" y="1732103"/>
            <a:ext cx="4734175" cy="4139307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algn="l">
              <a:buNone/>
            </a:pPr>
            <a:endParaRPr sz="3600" b="1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A2E8600-6DC7-42A4-BAB0-32ECA492CE0A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172730" y="1445505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517FCEF-DEC9-4794-B46E-21961558A7C8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6172730" y="247287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36B8339-2490-447D-B543-1CC15487D82C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6172730" y="348592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240FC05B-8F07-40FA-BE0D-2235F9DDDAB2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172730" y="4496593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D049C016-4655-4C58-B392-FD255E0A768B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172730" y="5516924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366E9534-A66A-4DF6-B8DA-1E6D8E4438FA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633200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>
                <a:solidFill>
                  <a:schemeClr val="accent5"/>
                </a:solidFill>
              </a:rPr>
              <a:t>11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9AEDC8E7-5D0F-4859-B7F1-8184B06634D4}"/>
              </a:ext>
            </a:extLst>
          </p:cNvPr>
          <p:cNvSpPr>
            <a:spLocks noGrp="1"/>
          </p:cNvSpPr>
          <p:nvPr/>
        </p:nvSpPr>
        <p:spPr>
          <a:xfrm>
            <a:off x="190500" y="866775"/>
            <a:ext cx="11811000" cy="56197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6" name="content-title">
            <a:extLst>
              <a:ext uri="{FF2B5EF4-FFF2-40B4-BE49-F238E27FC236}">
                <a16:creationId xmlns:a16="http://schemas.microsoft.com/office/drawing/2014/main" id="{D8758FD5-738D-4287-8952-45A870844FD4}"/>
              </a:ext>
            </a:extLst>
          </p:cNvPr>
          <p:cNvSpPr>
            <a:spLocks noGrp="1"/>
          </p:cNvSpPr>
          <p:nvPr/>
        </p:nvSpPr>
        <p:spPr>
          <a:xfrm>
            <a:off x="523875" y="390525"/>
            <a:ext cx="34290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ПОИСК И РАНЖИРОВАНИЕ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2E6729C6-3377-482A-B789-5B7A68B241AB}"/>
              </a:ext>
            </a:extLst>
          </p:cNvPr>
          <p:cNvSpPr>
            <a:spLocks noGrp="1"/>
          </p:cNvSpPr>
          <p:nvPr/>
        </p:nvSpPr>
        <p:spPr>
          <a:xfrm>
            <a:off x="523875" y="10001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E6476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6E6476"/>
                </a:solidFill>
                <a:latin typeface="Montserrat"/>
                <a:ea typeface="Montserrat"/>
                <a:cs typeface="Montserrat"/>
              </a:rPr>
              <a:t>Релевантность отвечает за запрос, оценка сигнала — за раннюю стадию и силу доказательств</a:t>
            </a:r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8965E234-2024-40C1-B58C-3297B218CC00}"/>
              </a:ext>
            </a:extLst>
          </p:cNvPr>
          <p:cNvSpPr>
            <a:spLocks noGrp="1"/>
          </p:cNvSpPr>
          <p:nvPr/>
        </p:nvSpPr>
        <p:spPr>
          <a:xfrm>
            <a:off x="428625" y="1924050"/>
            <a:ext cx="2095500" cy="3238500"/>
          </a:xfrm>
          <a:prstGeom prst="roundRect">
            <a:avLst>
              <a:gd name="adj" fmla="val 7273"/>
            </a:avLst>
          </a:prstGeom>
          <a:solidFill>
            <a:srgbClr val="F8F5FA"/>
          </a:solidFill>
          <a:ln w="9525">
            <a:solidFill>
              <a:srgbClr val="8A83D1"/>
            </a:solidFill>
            <a:prstDash val="solid"/>
          </a:ln>
        </p:spPr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CDC83284-8E41-4E87-BC75-077744BDC3F5}"/>
              </a:ext>
            </a:extLst>
          </p:cNvPr>
          <p:cNvSpPr>
            <a:spLocks noGrp="1"/>
          </p:cNvSpPr>
          <p:nvPr/>
        </p:nvSpPr>
        <p:spPr>
          <a:xfrm>
            <a:off x="600075" y="2143125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00A7A5E8-423F-4995-827D-381BF3AAF256}"/>
              </a:ext>
            </a:extLst>
          </p:cNvPr>
          <p:cNvSpPr>
            <a:spLocks noGrp="1"/>
          </p:cNvSpPr>
          <p:nvPr/>
        </p:nvSpPr>
        <p:spPr>
          <a:xfrm>
            <a:off x="600075" y="2628900"/>
            <a:ext cx="17526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135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Запрос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6CAF32ED-F139-4152-B3E2-5D8028D0166C}"/>
              </a:ext>
            </a:extLst>
          </p:cNvPr>
          <p:cNvSpPr>
            <a:spLocks noGrp="1"/>
          </p:cNvSpPr>
          <p:nvPr/>
        </p:nvSpPr>
        <p:spPr>
          <a:xfrm>
            <a:off x="600075" y="3457575"/>
            <a:ext cx="1752600" cy="1381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0" rIns="19050" bIns="0" anchor="t">
            <a:normAutofit/>
          </a:bodyPr>
          <a:lstStyle/>
          <a:p>
            <a:pPr algn="ctr">
              <a:lnSpc>
                <a:spcPct val="104000"/>
              </a:lnSpc>
              <a:buNone/>
              <a:defRPr sz="1050" b="0">
                <a:solidFill>
                  <a:srgbClr val="6E6476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6E6476"/>
                </a:solidFill>
                <a:latin typeface="Montserrat"/>
                <a:ea typeface="Montserrat"/>
                <a:cs typeface="Montserrat"/>
              </a:rPr>
              <a:t>Русская свободная формулировка. Выделяем смысловые термины и английские эквиваленты.</a:t>
            </a:r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EB6395CA-0F4B-4D0E-A254-7FA15973488E}"/>
              </a:ext>
            </a:extLst>
          </p:cNvPr>
          <p:cNvSpPr>
            <a:spLocks noGrp="1"/>
          </p:cNvSpPr>
          <p:nvPr/>
        </p:nvSpPr>
        <p:spPr>
          <a:xfrm>
            <a:off x="2762250" y="1924050"/>
            <a:ext cx="2095500" cy="3238500"/>
          </a:xfrm>
          <a:prstGeom prst="roundRect">
            <a:avLst>
              <a:gd name="adj" fmla="val 7273"/>
            </a:avLst>
          </a:prstGeom>
          <a:solidFill>
            <a:srgbClr val="F8F5FA"/>
          </a:solidFill>
          <a:ln w="9525">
            <a:solidFill>
              <a:srgbClr val="8A83D1"/>
            </a:solidFill>
            <a:prstDash val="solid"/>
          </a:ln>
        </p:spPr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0871EFC8-DD41-43A2-899C-BDE195A6D08C}"/>
              </a:ext>
            </a:extLst>
          </p:cNvPr>
          <p:cNvSpPr>
            <a:spLocks noGrp="1"/>
          </p:cNvSpPr>
          <p:nvPr/>
        </p:nvSpPr>
        <p:spPr>
          <a:xfrm>
            <a:off x="2933700" y="2143125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845495B0-DC88-4622-80A2-78F476A1E8EE}"/>
              </a:ext>
            </a:extLst>
          </p:cNvPr>
          <p:cNvSpPr>
            <a:spLocks noGrp="1"/>
          </p:cNvSpPr>
          <p:nvPr/>
        </p:nvSpPr>
        <p:spPr>
          <a:xfrm>
            <a:off x="2933700" y="2628900"/>
            <a:ext cx="17526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135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Гибридный поиск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0A8C4069-D19D-4CD1-8B80-0A6900A095D2}"/>
              </a:ext>
            </a:extLst>
          </p:cNvPr>
          <p:cNvSpPr>
            <a:spLocks noGrp="1"/>
          </p:cNvSpPr>
          <p:nvPr/>
        </p:nvSpPr>
        <p:spPr>
          <a:xfrm>
            <a:off x="2933700" y="3457575"/>
            <a:ext cx="1752600" cy="1381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0" rIns="19050" bIns="0" anchor="t">
            <a:normAutofit/>
          </a:bodyPr>
          <a:lstStyle/>
          <a:p>
            <a:pPr algn="ctr">
              <a:lnSpc>
                <a:spcPct val="104000"/>
              </a:lnSpc>
              <a:buNone/>
              <a:defRPr sz="1050" b="0">
                <a:solidFill>
                  <a:srgbClr val="6E6476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6E6476"/>
                </a:solidFill>
                <a:latin typeface="Montserrat"/>
                <a:ea typeface="Montserrat"/>
                <a:cs typeface="Montserrat"/>
              </a:rPr>
              <a:t>BM25 по названиям и алиасам плюс GigaChat-эмбеддинги. Списки объединяются по рангам.</a:t>
            </a:r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32234F1-D436-4A47-B622-EF914C52B8C6}"/>
              </a:ext>
            </a:extLst>
          </p:cNvPr>
          <p:cNvSpPr>
            <a:spLocks noGrp="1"/>
          </p:cNvSpPr>
          <p:nvPr/>
        </p:nvSpPr>
        <p:spPr>
          <a:xfrm>
            <a:off x="5095875" y="1924050"/>
            <a:ext cx="2095500" cy="3238500"/>
          </a:xfrm>
          <a:prstGeom prst="roundRect">
            <a:avLst>
              <a:gd name="adj" fmla="val 7273"/>
            </a:avLst>
          </a:prstGeom>
          <a:solidFill>
            <a:srgbClr val="FFD6E4"/>
          </a:solidFill>
          <a:ln w="9525">
            <a:solidFill>
              <a:srgbClr val="FC3777"/>
            </a:solidFill>
            <a:prstDash val="solid"/>
          </a:ln>
        </p:spPr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1A6E33A3-E2B0-4C8C-BBB5-66778AC83A05}"/>
              </a:ext>
            </a:extLst>
          </p:cNvPr>
          <p:cNvSpPr>
            <a:spLocks noGrp="1"/>
          </p:cNvSpPr>
          <p:nvPr/>
        </p:nvSpPr>
        <p:spPr>
          <a:xfrm>
            <a:off x="5267325" y="2143125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AF8B2FB3-5D39-41B3-AE45-2BE925175EF5}"/>
              </a:ext>
            </a:extLst>
          </p:cNvPr>
          <p:cNvSpPr>
            <a:spLocks noGrp="1"/>
          </p:cNvSpPr>
          <p:nvPr/>
        </p:nvSpPr>
        <p:spPr>
          <a:xfrm>
            <a:off x="5267325" y="2628900"/>
            <a:ext cx="17526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135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Жёсткие фильтры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BA06DC88-B650-4F3F-B3BF-62018647C790}"/>
              </a:ext>
            </a:extLst>
          </p:cNvPr>
          <p:cNvSpPr>
            <a:spLocks noGrp="1"/>
          </p:cNvSpPr>
          <p:nvPr/>
        </p:nvSpPr>
        <p:spPr>
          <a:xfrm>
            <a:off x="5267325" y="3457575"/>
            <a:ext cx="1752600" cy="1381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0" rIns="19050" bIns="0" anchor="t">
            <a:normAutofit/>
          </a:bodyPr>
          <a:lstStyle/>
          <a:p>
            <a:pPr algn="ctr">
              <a:lnSpc>
                <a:spcPct val="104000"/>
              </a:lnSpc>
              <a:buNone/>
              <a:defRPr sz="1050" b="0">
                <a:solidFill>
                  <a:srgbClr val="6E6476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6E6476"/>
                </a:solidFill>
                <a:latin typeface="Montserrat"/>
                <a:ea typeface="Montserrat"/>
                <a:cs typeface="Montserrat"/>
              </a:rPr>
              <a:t>Отсев зрелого рынка, стандартов, хайпа, общих терминов и неподтверждённого шума.</a:t>
            </a:r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EAD3587E-4138-4B71-AF88-008F416FF77D}"/>
              </a:ext>
            </a:extLst>
          </p:cNvPr>
          <p:cNvSpPr>
            <a:spLocks noGrp="1"/>
          </p:cNvSpPr>
          <p:nvPr/>
        </p:nvSpPr>
        <p:spPr>
          <a:xfrm>
            <a:off x="7429500" y="1924050"/>
            <a:ext cx="2095500" cy="3238500"/>
          </a:xfrm>
          <a:prstGeom prst="roundRect">
            <a:avLst>
              <a:gd name="adj" fmla="val 7273"/>
            </a:avLst>
          </a:prstGeom>
          <a:solidFill>
            <a:srgbClr val="F8F5FA"/>
          </a:solidFill>
          <a:ln w="9525">
            <a:solidFill>
              <a:srgbClr val="8A83D1"/>
            </a:solidFill>
            <a:prstDash val="solid"/>
          </a:ln>
        </p:spPr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65D50F69-031C-441F-BF69-CBD0127433ED}"/>
              </a:ext>
            </a:extLst>
          </p:cNvPr>
          <p:cNvSpPr>
            <a:spLocks noGrp="1"/>
          </p:cNvSpPr>
          <p:nvPr/>
        </p:nvSpPr>
        <p:spPr>
          <a:xfrm>
            <a:off x="7600950" y="2143125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7A0E841C-517B-47FD-A432-2FC6DC51001F}"/>
              </a:ext>
            </a:extLst>
          </p:cNvPr>
          <p:cNvSpPr>
            <a:spLocks noGrp="1"/>
          </p:cNvSpPr>
          <p:nvPr/>
        </p:nvSpPr>
        <p:spPr>
          <a:xfrm>
            <a:off x="7600950" y="2628900"/>
            <a:ext cx="17526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135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Оценка сигнала</a:t>
            </a: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C6C3D7E4-0F34-4AEA-9A24-FA7C4F46060D}"/>
              </a:ext>
            </a:extLst>
          </p:cNvPr>
          <p:cNvSpPr>
            <a:spLocks noGrp="1"/>
          </p:cNvSpPr>
          <p:nvPr/>
        </p:nvSpPr>
        <p:spPr>
          <a:xfrm>
            <a:off x="7600950" y="3457575"/>
            <a:ext cx="1752600" cy="1381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0" rIns="19050" bIns="0" anchor="t">
            <a:normAutofit/>
          </a:bodyPr>
          <a:lstStyle/>
          <a:p>
            <a:pPr algn="ctr">
              <a:lnSpc>
                <a:spcPct val="104000"/>
              </a:lnSpc>
              <a:buNone/>
              <a:defRPr sz="1050" b="0">
                <a:solidFill>
                  <a:srgbClr val="6E6476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6E6476"/>
                </a:solidFill>
                <a:latin typeface="Montserrat"/>
                <a:ea typeface="Montserrat"/>
                <a:cs typeface="Montserrat"/>
              </a:rPr>
              <a:t>Новизна, рост, независимость, ранняя зрелость и качество доказательств.</a:t>
            </a:r>
          </a:p>
        </p:txBody>
      </p:sp>
      <p:sp>
        <p:nvSpPr>
          <p:cNvPr id="44" name="Прямоугольник: скругленные углы 43">
            <a:extLst>
              <a:ext uri="{FF2B5EF4-FFF2-40B4-BE49-F238E27FC236}">
                <a16:creationId xmlns:a16="http://schemas.microsoft.com/office/drawing/2014/main" id="{BB033416-DC74-438C-AE72-35C4813EA13F}"/>
              </a:ext>
            </a:extLst>
          </p:cNvPr>
          <p:cNvSpPr>
            <a:spLocks noGrp="1"/>
          </p:cNvSpPr>
          <p:nvPr/>
        </p:nvSpPr>
        <p:spPr>
          <a:xfrm>
            <a:off x="9763125" y="1924050"/>
            <a:ext cx="2095500" cy="3238500"/>
          </a:xfrm>
          <a:prstGeom prst="roundRect">
            <a:avLst>
              <a:gd name="adj" fmla="val 7273"/>
            </a:avLst>
          </a:prstGeom>
          <a:solidFill>
            <a:srgbClr val="F8F5FA"/>
          </a:solidFill>
          <a:ln w="9525">
            <a:solidFill>
              <a:srgbClr val="8A83D1"/>
            </a:solidFill>
            <a:prstDash val="solid"/>
          </a:ln>
        </p:spPr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FB22B552-4AF7-4961-9DDE-B04C96B05597}"/>
              </a:ext>
            </a:extLst>
          </p:cNvPr>
          <p:cNvSpPr>
            <a:spLocks noGrp="1"/>
          </p:cNvSpPr>
          <p:nvPr/>
        </p:nvSpPr>
        <p:spPr>
          <a:xfrm>
            <a:off x="9934575" y="2143125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05</a:t>
            </a:r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A179D26E-306A-41B9-8F43-A60CC83CB4B4}"/>
              </a:ext>
            </a:extLst>
          </p:cNvPr>
          <p:cNvSpPr>
            <a:spLocks noGrp="1"/>
          </p:cNvSpPr>
          <p:nvPr/>
        </p:nvSpPr>
        <p:spPr>
          <a:xfrm>
            <a:off x="9934575" y="2628900"/>
            <a:ext cx="17526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135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TOP-15</a:t>
            </a:r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64438096-8230-4E69-973E-F32159A52C87}"/>
              </a:ext>
            </a:extLst>
          </p:cNvPr>
          <p:cNvSpPr>
            <a:spLocks noGrp="1"/>
          </p:cNvSpPr>
          <p:nvPr/>
        </p:nvSpPr>
        <p:spPr>
          <a:xfrm>
            <a:off x="9934575" y="3457575"/>
            <a:ext cx="1752600" cy="1381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0" rIns="19050" bIns="0" anchor="t">
            <a:normAutofit/>
          </a:bodyPr>
          <a:lstStyle/>
          <a:p>
            <a:pPr algn="ctr">
              <a:lnSpc>
                <a:spcPct val="104000"/>
              </a:lnSpc>
              <a:buNone/>
              <a:defRPr sz="1050" b="0">
                <a:solidFill>
                  <a:srgbClr val="6E6476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6E6476"/>
                </a:solidFill>
                <a:latin typeface="Montserrat"/>
                <a:ea typeface="Montserrat"/>
                <a:cs typeface="Montserrat"/>
              </a:rPr>
              <a:t>Близкие варианты склеиваются. В карточке — кейс, преимущества, цитаты и источники.</a:t>
            </a:r>
          </a:p>
        </p:txBody>
      </p:sp>
    </p:spTree>
    <p:extLst>
      <p:ext uri="{BB962C8B-B14F-4D97-AF65-F5344CB8AC3E}">
        <p14:creationId xmlns:p14="http://schemas.microsoft.com/office/powerpoint/2010/main" val="1069895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1DEBD50A-B557-2D80-C143-F7BE92E03371}"/>
              </a:ext>
            </a:extLst>
          </p:cNvPr>
          <p:cNvSpPr>
            <a:spLocks noGrp="1"/>
          </p:cNvSpPr>
          <p:nvPr/>
        </p:nvSpPr>
        <p:spPr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557A70F9-C0E6-46AE-6A65-5343A45A5968}"/>
              </a:ext>
            </a:extLst>
          </p:cNvPr>
          <p:cNvSpPr>
            <a:spLocks noGrp="1"/>
          </p:cNvSpPr>
          <p:nvPr/>
        </p:nvSpPr>
        <p:spPr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81CF4124-313D-FA73-2EF6-2D9FE2D71D5D}"/>
              </a:ext>
            </a:extLst>
          </p:cNvPr>
          <p:cNvSpPr>
            <a:spLocks noGrp="1"/>
          </p:cNvSpPr>
          <p:nvPr/>
        </p:nvSpPr>
        <p:spPr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836BC072-4CEB-1CD2-52FE-02A6094518FB}"/>
              </a:ext>
            </a:extLst>
          </p:cNvPr>
          <p:cNvSpPr>
            <a:spLocks noGrp="1"/>
          </p:cNvSpPr>
          <p:nvPr/>
        </p:nvSpPr>
        <p:spPr>
          <a:xfrm>
            <a:off x="346074" y="324562"/>
            <a:ext cx="3639999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10651A50-CFFD-C440-F1DF-F703C14C9202}"/>
              </a:ext>
            </a:extLst>
          </p:cNvPr>
          <p:cNvSpPr>
            <a:spLocks noGrp="1"/>
          </p:cNvSpPr>
          <p:nvPr/>
        </p:nvSpPr>
        <p:spPr>
          <a:xfrm>
            <a:off x="5340262" y="1366572"/>
            <a:ext cx="1504594" cy="1401168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2E5EC51C-6A42-A386-6730-F35F8E0CF56A}"/>
              </a:ext>
            </a:extLst>
          </p:cNvPr>
          <p:cNvSpPr>
            <a:spLocks noGrp="1"/>
          </p:cNvSpPr>
          <p:nvPr/>
        </p:nvSpPr>
        <p:spPr>
          <a:xfrm>
            <a:off x="1541018" y="1366572"/>
            <a:ext cx="1504594" cy="1401168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C532ED-B059-4872-93FE-25291054D3DA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52DCC5B9-D646-4B76-891F-6FF4E74E9CB4}" type="slidenum">
              <a:rPr>
                <a:solidFill>
                  <a:schemeClr val="accent5"/>
                </a:solidFill>
              </a:rPr>
              <a:t>12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8DB357-2788-42D4-93E8-1AB12DB2EE48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616304" y="328681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869BDE-34CE-47D5-B162-82211244B70A}"/>
              </a:ext>
            </a:extLst>
          </p:cNvPr>
          <p:cNvSpPr>
            <a:spLocks noGrp="1"/>
          </p:cNvSpPr>
          <p:nvPr>
            <p:ph type="body" idx="31"/>
          </p:nvPr>
        </p:nvSpPr>
        <p:spPr>
          <a:xfrm>
            <a:off x="4569890" y="326454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BF91A14-DF82-4BD9-95C1-96973CFF3F64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8405081" y="3277471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>
              <a:solidFill>
                <a:schemeClr val="tx1"/>
              </a:solidFill>
            </a:endParaRPr>
          </a:p>
        </p:txBody>
      </p:sp>
      <p:cxnSp>
        <p:nvCxnSpPr>
          <p:cNvPr id="181" name="Google Shape;2799;p94"/>
          <p:cNvCxnSpPr/>
          <p:nvPr/>
        </p:nvCxnSpPr>
        <p:spPr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Google Shape;2830;p94">
            <a:extLst>
              <a:ext uri="{FF2B5EF4-FFF2-40B4-BE49-F238E27FC236}">
                <a16:creationId xmlns:a16="http://schemas.microsoft.com/office/drawing/2014/main" id="{F538E3A9-5C7B-406B-80D1-B9EEBFF33FF0}"/>
              </a:ext>
            </a:extLst>
          </p:cNvPr>
          <p:cNvSpPr>
            <a:spLocks noGrp="1"/>
          </p:cNvSpPr>
          <p:nvPr/>
        </p:nvSpPr>
        <p:spPr>
          <a:xfrm>
            <a:off x="1899087" y="1753233"/>
            <a:ext cx="738530" cy="687909"/>
          </a:xfrm>
          <a:custGeom>
            <a:avLst/>
            <a:gdLst/>
            <a:ahLst/>
            <a:cxnLst/>
            <a:rect l="l" t="t" r="r" b="b"/>
            <a:pathLst>
              <a:path w="10122" h="9289">
                <a:moveTo>
                  <a:pt x="9574" y="310"/>
                </a:moveTo>
                <a:cubicBezTo>
                  <a:pt x="9717" y="310"/>
                  <a:pt x="9812" y="406"/>
                  <a:pt x="9812" y="549"/>
                </a:cubicBezTo>
                <a:lnTo>
                  <a:pt x="9812" y="5669"/>
                </a:lnTo>
                <a:lnTo>
                  <a:pt x="8622" y="5669"/>
                </a:lnTo>
                <a:cubicBezTo>
                  <a:pt x="8550" y="5669"/>
                  <a:pt x="8479" y="5740"/>
                  <a:pt x="8479" y="5812"/>
                </a:cubicBezTo>
                <a:cubicBezTo>
                  <a:pt x="8479" y="5907"/>
                  <a:pt x="8550" y="5978"/>
                  <a:pt x="8622" y="5978"/>
                </a:cubicBezTo>
                <a:lnTo>
                  <a:pt x="9812" y="5978"/>
                </a:lnTo>
                <a:lnTo>
                  <a:pt x="9812" y="6455"/>
                </a:lnTo>
                <a:cubicBezTo>
                  <a:pt x="9812" y="6597"/>
                  <a:pt x="9717" y="6717"/>
                  <a:pt x="9574" y="6717"/>
                </a:cubicBezTo>
                <a:lnTo>
                  <a:pt x="549" y="6717"/>
                </a:lnTo>
                <a:cubicBezTo>
                  <a:pt x="406" y="6717"/>
                  <a:pt x="287" y="6597"/>
                  <a:pt x="287" y="6455"/>
                </a:cubicBezTo>
                <a:lnTo>
                  <a:pt x="287" y="5978"/>
                </a:lnTo>
                <a:lnTo>
                  <a:pt x="7979" y="5978"/>
                </a:lnTo>
                <a:cubicBezTo>
                  <a:pt x="8050" y="5978"/>
                  <a:pt x="8122" y="5907"/>
                  <a:pt x="8122" y="5812"/>
                </a:cubicBezTo>
                <a:cubicBezTo>
                  <a:pt x="8122" y="5740"/>
                  <a:pt x="8050" y="5669"/>
                  <a:pt x="7979" y="5669"/>
                </a:cubicBezTo>
                <a:lnTo>
                  <a:pt x="6216" y="5669"/>
                </a:lnTo>
                <a:lnTo>
                  <a:pt x="6216" y="310"/>
                </a:lnTo>
                <a:close/>
                <a:moveTo>
                  <a:pt x="5335" y="7002"/>
                </a:moveTo>
                <a:lnTo>
                  <a:pt x="5335" y="7193"/>
                </a:lnTo>
                <a:cubicBezTo>
                  <a:pt x="5335" y="7360"/>
                  <a:pt x="5216" y="7479"/>
                  <a:pt x="5049" y="7479"/>
                </a:cubicBezTo>
                <a:cubicBezTo>
                  <a:pt x="4907" y="7479"/>
                  <a:pt x="4764" y="7360"/>
                  <a:pt x="4764" y="7193"/>
                </a:cubicBezTo>
                <a:lnTo>
                  <a:pt x="4764" y="7002"/>
                </a:lnTo>
                <a:close/>
                <a:moveTo>
                  <a:pt x="6073" y="7002"/>
                </a:moveTo>
                <a:lnTo>
                  <a:pt x="6169" y="8241"/>
                </a:lnTo>
                <a:lnTo>
                  <a:pt x="3954" y="8241"/>
                </a:lnTo>
                <a:lnTo>
                  <a:pt x="4049" y="7002"/>
                </a:lnTo>
                <a:lnTo>
                  <a:pt x="4478" y="7002"/>
                </a:lnTo>
                <a:lnTo>
                  <a:pt x="4478" y="7193"/>
                </a:lnTo>
                <a:cubicBezTo>
                  <a:pt x="4478" y="7526"/>
                  <a:pt x="4740" y="7788"/>
                  <a:pt x="5049" y="7788"/>
                </a:cubicBezTo>
                <a:cubicBezTo>
                  <a:pt x="5383" y="7788"/>
                  <a:pt x="5645" y="7526"/>
                  <a:pt x="5645" y="7193"/>
                </a:cubicBezTo>
                <a:lnTo>
                  <a:pt x="5645" y="7002"/>
                </a:lnTo>
                <a:close/>
                <a:moveTo>
                  <a:pt x="6859" y="8526"/>
                </a:moveTo>
                <a:cubicBezTo>
                  <a:pt x="6883" y="8526"/>
                  <a:pt x="6907" y="8550"/>
                  <a:pt x="6907" y="8574"/>
                </a:cubicBezTo>
                <a:lnTo>
                  <a:pt x="6907" y="8955"/>
                </a:lnTo>
                <a:cubicBezTo>
                  <a:pt x="6907" y="8979"/>
                  <a:pt x="6883" y="9003"/>
                  <a:pt x="6859" y="9003"/>
                </a:cubicBezTo>
                <a:lnTo>
                  <a:pt x="3263" y="9003"/>
                </a:lnTo>
                <a:cubicBezTo>
                  <a:pt x="3240" y="9003"/>
                  <a:pt x="3216" y="8979"/>
                  <a:pt x="3216" y="8955"/>
                </a:cubicBezTo>
                <a:lnTo>
                  <a:pt x="3216" y="8574"/>
                </a:lnTo>
                <a:cubicBezTo>
                  <a:pt x="3216" y="8550"/>
                  <a:pt x="3240" y="8526"/>
                  <a:pt x="3263" y="8526"/>
                </a:cubicBezTo>
                <a:close/>
                <a:moveTo>
                  <a:pt x="549" y="1"/>
                </a:moveTo>
                <a:cubicBezTo>
                  <a:pt x="239" y="1"/>
                  <a:pt x="1" y="239"/>
                  <a:pt x="1" y="549"/>
                </a:cubicBezTo>
                <a:lnTo>
                  <a:pt x="1" y="1477"/>
                </a:lnTo>
                <a:cubicBezTo>
                  <a:pt x="1" y="1573"/>
                  <a:pt x="72" y="1644"/>
                  <a:pt x="144" y="1644"/>
                </a:cubicBezTo>
                <a:cubicBezTo>
                  <a:pt x="215" y="1644"/>
                  <a:pt x="287" y="1573"/>
                  <a:pt x="287" y="1477"/>
                </a:cubicBezTo>
                <a:lnTo>
                  <a:pt x="287" y="549"/>
                </a:lnTo>
                <a:cubicBezTo>
                  <a:pt x="287" y="406"/>
                  <a:pt x="406" y="310"/>
                  <a:pt x="549" y="310"/>
                </a:cubicBezTo>
                <a:lnTo>
                  <a:pt x="5907" y="310"/>
                </a:lnTo>
                <a:lnTo>
                  <a:pt x="5907" y="5669"/>
                </a:lnTo>
                <a:lnTo>
                  <a:pt x="287" y="5669"/>
                </a:lnTo>
                <a:lnTo>
                  <a:pt x="287" y="2144"/>
                </a:lnTo>
                <a:cubicBezTo>
                  <a:pt x="287" y="2049"/>
                  <a:pt x="239" y="2001"/>
                  <a:pt x="144" y="2001"/>
                </a:cubicBezTo>
                <a:cubicBezTo>
                  <a:pt x="72" y="2001"/>
                  <a:pt x="1" y="2049"/>
                  <a:pt x="1" y="2144"/>
                </a:cubicBezTo>
                <a:lnTo>
                  <a:pt x="1" y="6455"/>
                </a:lnTo>
                <a:cubicBezTo>
                  <a:pt x="1" y="6764"/>
                  <a:pt x="239" y="7002"/>
                  <a:pt x="549" y="7002"/>
                </a:cubicBezTo>
                <a:lnTo>
                  <a:pt x="3763" y="7002"/>
                </a:lnTo>
                <a:lnTo>
                  <a:pt x="3644" y="8241"/>
                </a:lnTo>
                <a:lnTo>
                  <a:pt x="3263" y="8241"/>
                </a:lnTo>
                <a:cubicBezTo>
                  <a:pt x="3073" y="8241"/>
                  <a:pt x="2930" y="8384"/>
                  <a:pt x="2930" y="8574"/>
                </a:cubicBezTo>
                <a:lnTo>
                  <a:pt x="2930" y="8955"/>
                </a:lnTo>
                <a:cubicBezTo>
                  <a:pt x="2930" y="9146"/>
                  <a:pt x="3073" y="9288"/>
                  <a:pt x="3263" y="9288"/>
                </a:cubicBezTo>
                <a:lnTo>
                  <a:pt x="6859" y="9288"/>
                </a:lnTo>
                <a:cubicBezTo>
                  <a:pt x="7050" y="9288"/>
                  <a:pt x="7193" y="9146"/>
                  <a:pt x="7193" y="8955"/>
                </a:cubicBezTo>
                <a:lnTo>
                  <a:pt x="7193" y="8574"/>
                </a:lnTo>
                <a:cubicBezTo>
                  <a:pt x="7193" y="8384"/>
                  <a:pt x="7050" y="8241"/>
                  <a:pt x="6859" y="8241"/>
                </a:cubicBezTo>
                <a:lnTo>
                  <a:pt x="6478" y="8241"/>
                </a:lnTo>
                <a:lnTo>
                  <a:pt x="6359" y="7002"/>
                </a:lnTo>
                <a:lnTo>
                  <a:pt x="9574" y="7002"/>
                </a:lnTo>
                <a:cubicBezTo>
                  <a:pt x="9860" y="7002"/>
                  <a:pt x="10122" y="6764"/>
                  <a:pt x="10122" y="6455"/>
                </a:cubicBezTo>
                <a:lnTo>
                  <a:pt x="10122" y="549"/>
                </a:lnTo>
                <a:cubicBezTo>
                  <a:pt x="10122" y="239"/>
                  <a:pt x="9884" y="1"/>
                  <a:pt x="9574" y="1"/>
                </a:cubicBezTo>
                <a:close/>
              </a:path>
            </a:pathLst>
          </a:custGeom>
          <a:solidFill>
            <a:srgbClr val="FD0C5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4" name="Google Shape;2831;p94">
            <a:extLst>
              <a:ext uri="{FF2B5EF4-FFF2-40B4-BE49-F238E27FC236}">
                <a16:creationId xmlns:a16="http://schemas.microsoft.com/office/drawing/2014/main" id="{6A25AEAC-89F0-49CB-B7BE-42F11987AD9D}"/>
              </a:ext>
            </a:extLst>
          </p:cNvPr>
          <p:cNvSpPr>
            <a:spLocks noGrp="1"/>
          </p:cNvSpPr>
          <p:nvPr/>
        </p:nvSpPr>
        <p:spPr>
          <a:xfrm>
            <a:off x="1975553" y="1888385"/>
            <a:ext cx="311114" cy="244088"/>
          </a:xfrm>
          <a:custGeom>
            <a:avLst/>
            <a:gdLst/>
            <a:ahLst/>
            <a:cxnLst/>
            <a:rect l="l" t="t" r="r" b="b"/>
            <a:pathLst>
              <a:path w="4264" h="3296">
                <a:moveTo>
                  <a:pt x="3897" y="0"/>
                </a:moveTo>
                <a:cubicBezTo>
                  <a:pt x="3848" y="0"/>
                  <a:pt x="3805" y="22"/>
                  <a:pt x="3787" y="57"/>
                </a:cubicBezTo>
                <a:lnTo>
                  <a:pt x="2835" y="1176"/>
                </a:lnTo>
                <a:lnTo>
                  <a:pt x="2596" y="986"/>
                </a:lnTo>
                <a:cubicBezTo>
                  <a:pt x="2573" y="962"/>
                  <a:pt x="2537" y="950"/>
                  <a:pt x="2501" y="950"/>
                </a:cubicBezTo>
                <a:cubicBezTo>
                  <a:pt x="2465" y="950"/>
                  <a:pt x="2430" y="962"/>
                  <a:pt x="2406" y="986"/>
                </a:cubicBezTo>
                <a:lnTo>
                  <a:pt x="1811" y="1629"/>
                </a:lnTo>
                <a:lnTo>
                  <a:pt x="1096" y="1367"/>
                </a:lnTo>
                <a:cubicBezTo>
                  <a:pt x="1084" y="1355"/>
                  <a:pt x="1066" y="1349"/>
                  <a:pt x="1045" y="1349"/>
                </a:cubicBezTo>
                <a:cubicBezTo>
                  <a:pt x="1025" y="1349"/>
                  <a:pt x="1001" y="1355"/>
                  <a:pt x="977" y="1367"/>
                </a:cubicBezTo>
                <a:lnTo>
                  <a:pt x="286" y="1772"/>
                </a:lnTo>
                <a:lnTo>
                  <a:pt x="286" y="462"/>
                </a:lnTo>
                <a:cubicBezTo>
                  <a:pt x="286" y="391"/>
                  <a:pt x="239" y="319"/>
                  <a:pt x="144" y="319"/>
                </a:cubicBezTo>
                <a:cubicBezTo>
                  <a:pt x="72" y="319"/>
                  <a:pt x="1" y="391"/>
                  <a:pt x="1" y="462"/>
                </a:cubicBezTo>
                <a:lnTo>
                  <a:pt x="1" y="3153"/>
                </a:lnTo>
                <a:cubicBezTo>
                  <a:pt x="1" y="3225"/>
                  <a:pt x="72" y="3296"/>
                  <a:pt x="144" y="3296"/>
                </a:cubicBezTo>
                <a:lnTo>
                  <a:pt x="4121" y="3296"/>
                </a:lnTo>
                <a:cubicBezTo>
                  <a:pt x="4192" y="3296"/>
                  <a:pt x="4263" y="3225"/>
                  <a:pt x="4263" y="3153"/>
                </a:cubicBezTo>
                <a:cubicBezTo>
                  <a:pt x="4263" y="3082"/>
                  <a:pt x="4216" y="3010"/>
                  <a:pt x="4121" y="3010"/>
                </a:cubicBezTo>
                <a:lnTo>
                  <a:pt x="4049" y="3010"/>
                </a:lnTo>
                <a:lnTo>
                  <a:pt x="4049" y="2200"/>
                </a:lnTo>
                <a:cubicBezTo>
                  <a:pt x="4049" y="2105"/>
                  <a:pt x="3978" y="2034"/>
                  <a:pt x="3906" y="2034"/>
                </a:cubicBezTo>
                <a:cubicBezTo>
                  <a:pt x="3811" y="2034"/>
                  <a:pt x="3739" y="2105"/>
                  <a:pt x="3739" y="2200"/>
                </a:cubicBezTo>
                <a:lnTo>
                  <a:pt x="3739" y="3010"/>
                </a:lnTo>
                <a:lnTo>
                  <a:pt x="3382" y="3010"/>
                </a:lnTo>
                <a:lnTo>
                  <a:pt x="3382" y="2891"/>
                </a:lnTo>
                <a:cubicBezTo>
                  <a:pt x="3382" y="2820"/>
                  <a:pt x="3311" y="2748"/>
                  <a:pt x="3239" y="2748"/>
                </a:cubicBezTo>
                <a:cubicBezTo>
                  <a:pt x="3144" y="2748"/>
                  <a:pt x="3073" y="2796"/>
                  <a:pt x="3073" y="2891"/>
                </a:cubicBezTo>
                <a:lnTo>
                  <a:pt x="3073" y="3010"/>
                </a:lnTo>
                <a:lnTo>
                  <a:pt x="2573" y="3010"/>
                </a:lnTo>
                <a:lnTo>
                  <a:pt x="2573" y="2891"/>
                </a:lnTo>
                <a:cubicBezTo>
                  <a:pt x="2573" y="2820"/>
                  <a:pt x="2525" y="2748"/>
                  <a:pt x="2430" y="2748"/>
                </a:cubicBezTo>
                <a:cubicBezTo>
                  <a:pt x="2358" y="2748"/>
                  <a:pt x="2287" y="2796"/>
                  <a:pt x="2287" y="2891"/>
                </a:cubicBezTo>
                <a:lnTo>
                  <a:pt x="2287" y="3010"/>
                </a:lnTo>
                <a:lnTo>
                  <a:pt x="1787" y="3010"/>
                </a:lnTo>
                <a:lnTo>
                  <a:pt x="1787" y="2891"/>
                </a:lnTo>
                <a:cubicBezTo>
                  <a:pt x="1787" y="2820"/>
                  <a:pt x="1715" y="2748"/>
                  <a:pt x="1644" y="2748"/>
                </a:cubicBezTo>
                <a:cubicBezTo>
                  <a:pt x="1549" y="2748"/>
                  <a:pt x="1501" y="2796"/>
                  <a:pt x="1501" y="2891"/>
                </a:cubicBezTo>
                <a:lnTo>
                  <a:pt x="1501" y="3010"/>
                </a:lnTo>
                <a:lnTo>
                  <a:pt x="1001" y="3010"/>
                </a:lnTo>
                <a:lnTo>
                  <a:pt x="1001" y="2891"/>
                </a:lnTo>
                <a:cubicBezTo>
                  <a:pt x="1001" y="2820"/>
                  <a:pt x="929" y="2748"/>
                  <a:pt x="834" y="2748"/>
                </a:cubicBezTo>
                <a:cubicBezTo>
                  <a:pt x="763" y="2748"/>
                  <a:pt x="691" y="2796"/>
                  <a:pt x="691" y="2891"/>
                </a:cubicBezTo>
                <a:lnTo>
                  <a:pt x="691" y="3010"/>
                </a:lnTo>
                <a:lnTo>
                  <a:pt x="286" y="3010"/>
                </a:lnTo>
                <a:lnTo>
                  <a:pt x="286" y="2105"/>
                </a:lnTo>
                <a:lnTo>
                  <a:pt x="1048" y="1653"/>
                </a:lnTo>
                <a:lnTo>
                  <a:pt x="1811" y="1962"/>
                </a:lnTo>
                <a:cubicBezTo>
                  <a:pt x="1823" y="1969"/>
                  <a:pt x="1838" y="1972"/>
                  <a:pt x="1853" y="1972"/>
                </a:cubicBezTo>
                <a:cubicBezTo>
                  <a:pt x="1893" y="1972"/>
                  <a:pt x="1936" y="1950"/>
                  <a:pt x="1953" y="1915"/>
                </a:cubicBezTo>
                <a:lnTo>
                  <a:pt x="2525" y="1296"/>
                </a:lnTo>
                <a:lnTo>
                  <a:pt x="2763" y="1486"/>
                </a:lnTo>
                <a:cubicBezTo>
                  <a:pt x="2795" y="1518"/>
                  <a:pt x="2828" y="1531"/>
                  <a:pt x="2860" y="1531"/>
                </a:cubicBezTo>
                <a:cubicBezTo>
                  <a:pt x="2899" y="1531"/>
                  <a:pt x="2938" y="1512"/>
                  <a:pt x="2977" y="1486"/>
                </a:cubicBezTo>
                <a:lnTo>
                  <a:pt x="3739" y="557"/>
                </a:lnTo>
                <a:lnTo>
                  <a:pt x="3739" y="1534"/>
                </a:lnTo>
                <a:cubicBezTo>
                  <a:pt x="3739" y="1629"/>
                  <a:pt x="3811" y="1677"/>
                  <a:pt x="3882" y="1677"/>
                </a:cubicBezTo>
                <a:cubicBezTo>
                  <a:pt x="3978" y="1677"/>
                  <a:pt x="4049" y="1629"/>
                  <a:pt x="4049" y="1534"/>
                </a:cubicBezTo>
                <a:lnTo>
                  <a:pt x="4049" y="152"/>
                </a:lnTo>
                <a:cubicBezTo>
                  <a:pt x="4049" y="81"/>
                  <a:pt x="4001" y="33"/>
                  <a:pt x="3954" y="10"/>
                </a:cubicBezTo>
                <a:cubicBezTo>
                  <a:pt x="3935" y="3"/>
                  <a:pt x="3916" y="0"/>
                  <a:pt x="3897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5" name="Google Shape;2832;p94">
            <a:extLst>
              <a:ext uri="{FF2B5EF4-FFF2-40B4-BE49-F238E27FC236}">
                <a16:creationId xmlns:a16="http://schemas.microsoft.com/office/drawing/2014/main" id="{3504136F-174E-465D-95D8-13EE2C34474F}"/>
              </a:ext>
            </a:extLst>
          </p:cNvPr>
          <p:cNvSpPr>
            <a:spLocks noGrp="1"/>
          </p:cNvSpPr>
          <p:nvPr/>
        </p:nvSpPr>
        <p:spPr>
          <a:xfrm>
            <a:off x="2041584" y="1938446"/>
            <a:ext cx="20941" cy="30065"/>
          </a:xfrm>
          <a:custGeom>
            <a:avLst/>
            <a:gdLst/>
            <a:ahLst/>
            <a:cxnLst/>
            <a:rect l="l" t="t" r="r" b="b"/>
            <a:pathLst>
              <a:path w="287" h="406">
                <a:moveTo>
                  <a:pt x="143" y="0"/>
                </a:moveTo>
                <a:cubicBezTo>
                  <a:pt x="72" y="0"/>
                  <a:pt x="1" y="72"/>
                  <a:pt x="1" y="167"/>
                </a:cubicBezTo>
                <a:lnTo>
                  <a:pt x="1" y="262"/>
                </a:lnTo>
                <a:cubicBezTo>
                  <a:pt x="1" y="358"/>
                  <a:pt x="72" y="405"/>
                  <a:pt x="143" y="405"/>
                </a:cubicBezTo>
                <a:cubicBezTo>
                  <a:pt x="239" y="405"/>
                  <a:pt x="286" y="358"/>
                  <a:pt x="286" y="262"/>
                </a:cubicBezTo>
                <a:lnTo>
                  <a:pt x="286" y="167"/>
                </a:lnTo>
                <a:cubicBezTo>
                  <a:pt x="286" y="72"/>
                  <a:pt x="239" y="0"/>
                  <a:pt x="143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6" name="Google Shape;2833;p94">
            <a:extLst>
              <a:ext uri="{FF2B5EF4-FFF2-40B4-BE49-F238E27FC236}">
                <a16:creationId xmlns:a16="http://schemas.microsoft.com/office/drawing/2014/main" id="{1A03FD0C-7738-4A35-B44B-4D9C0E75CBAB}"/>
              </a:ext>
            </a:extLst>
          </p:cNvPr>
          <p:cNvSpPr>
            <a:spLocks noGrp="1"/>
          </p:cNvSpPr>
          <p:nvPr/>
        </p:nvSpPr>
        <p:spPr>
          <a:xfrm>
            <a:off x="2147599" y="1908454"/>
            <a:ext cx="22617" cy="30065"/>
          </a:xfrm>
          <a:custGeom>
            <a:avLst/>
            <a:gdLst/>
            <a:ahLst/>
            <a:cxnLst/>
            <a:rect l="l" t="t" r="r" b="b"/>
            <a:pathLst>
              <a:path w="310" h="406">
                <a:moveTo>
                  <a:pt x="143" y="1"/>
                </a:moveTo>
                <a:cubicBezTo>
                  <a:pt x="72" y="1"/>
                  <a:pt x="0" y="72"/>
                  <a:pt x="0" y="143"/>
                </a:cubicBezTo>
                <a:lnTo>
                  <a:pt x="0" y="262"/>
                </a:lnTo>
                <a:cubicBezTo>
                  <a:pt x="0" y="334"/>
                  <a:pt x="72" y="405"/>
                  <a:pt x="143" y="405"/>
                </a:cubicBezTo>
                <a:cubicBezTo>
                  <a:pt x="238" y="405"/>
                  <a:pt x="310" y="334"/>
                  <a:pt x="310" y="262"/>
                </a:cubicBezTo>
                <a:lnTo>
                  <a:pt x="310" y="143"/>
                </a:lnTo>
                <a:cubicBezTo>
                  <a:pt x="310" y="72"/>
                  <a:pt x="238" y="1"/>
                  <a:pt x="143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7" name="Google Shape;2834;p94">
            <a:extLst>
              <a:ext uri="{FF2B5EF4-FFF2-40B4-BE49-F238E27FC236}">
                <a16:creationId xmlns:a16="http://schemas.microsoft.com/office/drawing/2014/main" id="{66009B1B-C6FD-49B8-8022-7BA95FBA9273}"/>
              </a:ext>
            </a:extLst>
          </p:cNvPr>
          <p:cNvSpPr>
            <a:spLocks noGrp="1"/>
          </p:cNvSpPr>
          <p:nvPr/>
        </p:nvSpPr>
        <p:spPr>
          <a:xfrm>
            <a:off x="2248361" y="1843211"/>
            <a:ext cx="22691" cy="30065"/>
          </a:xfrm>
          <a:custGeom>
            <a:avLst/>
            <a:gdLst/>
            <a:ahLst/>
            <a:cxnLst/>
            <a:rect l="l" t="t" r="r" b="b"/>
            <a:pathLst>
              <a:path w="311" h="406">
                <a:moveTo>
                  <a:pt x="167" y="0"/>
                </a:moveTo>
                <a:cubicBezTo>
                  <a:pt x="72" y="0"/>
                  <a:pt x="0" y="48"/>
                  <a:pt x="0" y="143"/>
                </a:cubicBezTo>
                <a:lnTo>
                  <a:pt x="0" y="239"/>
                </a:lnTo>
                <a:cubicBezTo>
                  <a:pt x="0" y="334"/>
                  <a:pt x="72" y="405"/>
                  <a:pt x="167" y="405"/>
                </a:cubicBezTo>
                <a:cubicBezTo>
                  <a:pt x="239" y="405"/>
                  <a:pt x="310" y="334"/>
                  <a:pt x="310" y="239"/>
                </a:cubicBezTo>
                <a:lnTo>
                  <a:pt x="310" y="143"/>
                </a:lnTo>
                <a:cubicBezTo>
                  <a:pt x="310" y="48"/>
                  <a:pt x="239" y="0"/>
                  <a:pt x="167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8" name="Google Shape;2835;p94">
            <a:extLst>
              <a:ext uri="{FF2B5EF4-FFF2-40B4-BE49-F238E27FC236}">
                <a16:creationId xmlns:a16="http://schemas.microsoft.com/office/drawing/2014/main" id="{842A40FB-E85F-45B5-A562-0F31875BC8DD}"/>
              </a:ext>
            </a:extLst>
          </p:cNvPr>
          <p:cNvSpPr>
            <a:spLocks noGrp="1"/>
          </p:cNvSpPr>
          <p:nvPr/>
        </p:nvSpPr>
        <p:spPr>
          <a:xfrm>
            <a:off x="1975553" y="1811440"/>
            <a:ext cx="59172" cy="21254"/>
          </a:xfrm>
          <a:custGeom>
            <a:avLst/>
            <a:gdLst/>
            <a:ahLst/>
            <a:cxnLst/>
            <a:rect l="l" t="t" r="r" b="b"/>
            <a:pathLst>
              <a:path w="811" h="287">
                <a:moveTo>
                  <a:pt x="144" y="1"/>
                </a:moveTo>
                <a:cubicBezTo>
                  <a:pt x="72" y="1"/>
                  <a:pt x="1" y="72"/>
                  <a:pt x="1" y="144"/>
                </a:cubicBezTo>
                <a:cubicBezTo>
                  <a:pt x="1" y="239"/>
                  <a:pt x="72" y="287"/>
                  <a:pt x="144" y="287"/>
                </a:cubicBezTo>
                <a:lnTo>
                  <a:pt x="667" y="287"/>
                </a:lnTo>
                <a:cubicBezTo>
                  <a:pt x="739" y="287"/>
                  <a:pt x="810" y="239"/>
                  <a:pt x="810" y="144"/>
                </a:cubicBezTo>
                <a:cubicBezTo>
                  <a:pt x="810" y="72"/>
                  <a:pt x="739" y="1"/>
                  <a:pt x="667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9" name="Google Shape;2836;p94">
            <a:extLst>
              <a:ext uri="{FF2B5EF4-FFF2-40B4-BE49-F238E27FC236}">
                <a16:creationId xmlns:a16="http://schemas.microsoft.com/office/drawing/2014/main" id="{543973E7-B229-4280-95BA-F224FDE6583D}"/>
              </a:ext>
            </a:extLst>
          </p:cNvPr>
          <p:cNvSpPr>
            <a:spLocks noGrp="1"/>
          </p:cNvSpPr>
          <p:nvPr/>
        </p:nvSpPr>
        <p:spPr>
          <a:xfrm>
            <a:off x="1975553" y="1852022"/>
            <a:ext cx="102586" cy="23030"/>
          </a:xfrm>
          <a:custGeom>
            <a:avLst/>
            <a:gdLst/>
            <a:ahLst/>
            <a:cxnLst/>
            <a:rect l="l" t="t" r="r" b="b"/>
            <a:pathLst>
              <a:path w="1406" h="311">
                <a:moveTo>
                  <a:pt x="144" y="0"/>
                </a:moveTo>
                <a:cubicBezTo>
                  <a:pt x="72" y="0"/>
                  <a:pt x="1" y="72"/>
                  <a:pt x="1" y="143"/>
                </a:cubicBezTo>
                <a:cubicBezTo>
                  <a:pt x="1" y="239"/>
                  <a:pt x="72" y="310"/>
                  <a:pt x="144" y="310"/>
                </a:cubicBezTo>
                <a:lnTo>
                  <a:pt x="1239" y="310"/>
                </a:lnTo>
                <a:cubicBezTo>
                  <a:pt x="1334" y="310"/>
                  <a:pt x="1406" y="239"/>
                  <a:pt x="1406" y="143"/>
                </a:cubicBezTo>
                <a:cubicBezTo>
                  <a:pt x="1406" y="72"/>
                  <a:pt x="1334" y="0"/>
                  <a:pt x="1239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0" name="Google Shape;2837;p94">
            <a:extLst>
              <a:ext uri="{FF2B5EF4-FFF2-40B4-BE49-F238E27FC236}">
                <a16:creationId xmlns:a16="http://schemas.microsoft.com/office/drawing/2014/main" id="{41575783-12EF-40FC-B478-EC50906BBB87}"/>
              </a:ext>
            </a:extLst>
          </p:cNvPr>
          <p:cNvSpPr>
            <a:spLocks noGrp="1"/>
          </p:cNvSpPr>
          <p:nvPr/>
        </p:nvSpPr>
        <p:spPr>
          <a:xfrm>
            <a:off x="2451636" y="1846765"/>
            <a:ext cx="67855" cy="116416"/>
          </a:xfrm>
          <a:custGeom>
            <a:avLst/>
            <a:gdLst/>
            <a:ahLst/>
            <a:cxnLst/>
            <a:rect l="l" t="t" r="r" b="b"/>
            <a:pathLst>
              <a:path w="930" h="1572">
                <a:moveTo>
                  <a:pt x="453" y="0"/>
                </a:moveTo>
                <a:cubicBezTo>
                  <a:pt x="382" y="0"/>
                  <a:pt x="310" y="48"/>
                  <a:pt x="310" y="143"/>
                </a:cubicBezTo>
                <a:lnTo>
                  <a:pt x="310" y="167"/>
                </a:lnTo>
                <a:cubicBezTo>
                  <a:pt x="144" y="214"/>
                  <a:pt x="1" y="357"/>
                  <a:pt x="1" y="548"/>
                </a:cubicBezTo>
                <a:cubicBezTo>
                  <a:pt x="1" y="762"/>
                  <a:pt x="167" y="929"/>
                  <a:pt x="382" y="929"/>
                </a:cubicBezTo>
                <a:lnTo>
                  <a:pt x="525" y="929"/>
                </a:lnTo>
                <a:cubicBezTo>
                  <a:pt x="572" y="929"/>
                  <a:pt x="620" y="976"/>
                  <a:pt x="620" y="1024"/>
                </a:cubicBezTo>
                <a:cubicBezTo>
                  <a:pt x="620" y="1072"/>
                  <a:pt x="572" y="1119"/>
                  <a:pt x="525" y="1119"/>
                </a:cubicBezTo>
                <a:lnTo>
                  <a:pt x="382" y="1119"/>
                </a:lnTo>
                <a:cubicBezTo>
                  <a:pt x="358" y="1119"/>
                  <a:pt x="310" y="1095"/>
                  <a:pt x="310" y="1048"/>
                </a:cubicBezTo>
                <a:cubicBezTo>
                  <a:pt x="293" y="994"/>
                  <a:pt x="234" y="967"/>
                  <a:pt x="176" y="967"/>
                </a:cubicBezTo>
                <a:cubicBezTo>
                  <a:pt x="157" y="967"/>
                  <a:pt x="138" y="970"/>
                  <a:pt x="120" y="976"/>
                </a:cubicBezTo>
                <a:cubicBezTo>
                  <a:pt x="48" y="1024"/>
                  <a:pt x="1" y="1095"/>
                  <a:pt x="48" y="1167"/>
                </a:cubicBezTo>
                <a:cubicBezTo>
                  <a:pt x="96" y="1286"/>
                  <a:pt x="191" y="1381"/>
                  <a:pt x="310" y="1405"/>
                </a:cubicBezTo>
                <a:cubicBezTo>
                  <a:pt x="310" y="1500"/>
                  <a:pt x="382" y="1572"/>
                  <a:pt x="453" y="1572"/>
                </a:cubicBezTo>
                <a:cubicBezTo>
                  <a:pt x="549" y="1572"/>
                  <a:pt x="620" y="1500"/>
                  <a:pt x="620" y="1405"/>
                </a:cubicBezTo>
                <a:cubicBezTo>
                  <a:pt x="787" y="1357"/>
                  <a:pt x="930" y="1215"/>
                  <a:pt x="930" y="1024"/>
                </a:cubicBezTo>
                <a:cubicBezTo>
                  <a:pt x="930" y="810"/>
                  <a:pt x="739" y="643"/>
                  <a:pt x="525" y="643"/>
                </a:cubicBezTo>
                <a:lnTo>
                  <a:pt x="382" y="643"/>
                </a:lnTo>
                <a:cubicBezTo>
                  <a:pt x="334" y="643"/>
                  <a:pt x="310" y="595"/>
                  <a:pt x="310" y="548"/>
                </a:cubicBezTo>
                <a:cubicBezTo>
                  <a:pt x="310" y="500"/>
                  <a:pt x="334" y="453"/>
                  <a:pt x="382" y="453"/>
                </a:cubicBezTo>
                <a:lnTo>
                  <a:pt x="525" y="453"/>
                </a:lnTo>
                <a:cubicBezTo>
                  <a:pt x="572" y="453"/>
                  <a:pt x="596" y="476"/>
                  <a:pt x="620" y="500"/>
                </a:cubicBezTo>
                <a:cubicBezTo>
                  <a:pt x="635" y="546"/>
                  <a:pt x="681" y="573"/>
                  <a:pt x="730" y="573"/>
                </a:cubicBezTo>
                <a:cubicBezTo>
                  <a:pt x="757" y="573"/>
                  <a:pt x="785" y="565"/>
                  <a:pt x="810" y="548"/>
                </a:cubicBezTo>
                <a:cubicBezTo>
                  <a:pt x="882" y="500"/>
                  <a:pt x="906" y="405"/>
                  <a:pt x="858" y="333"/>
                </a:cubicBezTo>
                <a:cubicBezTo>
                  <a:pt x="787" y="238"/>
                  <a:pt x="715" y="191"/>
                  <a:pt x="620" y="167"/>
                </a:cubicBezTo>
                <a:lnTo>
                  <a:pt x="620" y="143"/>
                </a:lnTo>
                <a:cubicBezTo>
                  <a:pt x="620" y="48"/>
                  <a:pt x="549" y="0"/>
                  <a:pt x="453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1" name="Google Shape;2838;p94">
            <a:extLst>
              <a:ext uri="{FF2B5EF4-FFF2-40B4-BE49-F238E27FC236}">
                <a16:creationId xmlns:a16="http://schemas.microsoft.com/office/drawing/2014/main" id="{6F0CCC03-3E72-49CA-80F0-A626E2390658}"/>
              </a:ext>
            </a:extLst>
          </p:cNvPr>
          <p:cNvSpPr>
            <a:spLocks noGrp="1"/>
          </p:cNvSpPr>
          <p:nvPr/>
        </p:nvSpPr>
        <p:spPr>
          <a:xfrm>
            <a:off x="2394287" y="1811440"/>
            <a:ext cx="182552" cy="185289"/>
          </a:xfrm>
          <a:custGeom>
            <a:avLst/>
            <a:gdLst/>
            <a:ahLst/>
            <a:cxnLst/>
            <a:rect l="l" t="t" r="r" b="b"/>
            <a:pathLst>
              <a:path w="2502" h="2502">
                <a:moveTo>
                  <a:pt x="1239" y="287"/>
                </a:moveTo>
                <a:cubicBezTo>
                  <a:pt x="1763" y="287"/>
                  <a:pt x="2216" y="715"/>
                  <a:pt x="2216" y="1263"/>
                </a:cubicBezTo>
                <a:cubicBezTo>
                  <a:pt x="2216" y="1787"/>
                  <a:pt x="1787" y="2215"/>
                  <a:pt x="1239" y="2215"/>
                </a:cubicBezTo>
                <a:cubicBezTo>
                  <a:pt x="715" y="2215"/>
                  <a:pt x="287" y="1787"/>
                  <a:pt x="287" y="1263"/>
                </a:cubicBezTo>
                <a:cubicBezTo>
                  <a:pt x="287" y="715"/>
                  <a:pt x="715" y="287"/>
                  <a:pt x="1239" y="287"/>
                </a:cubicBezTo>
                <a:close/>
                <a:moveTo>
                  <a:pt x="1239" y="1"/>
                </a:moveTo>
                <a:cubicBezTo>
                  <a:pt x="549" y="1"/>
                  <a:pt x="1" y="548"/>
                  <a:pt x="1" y="1239"/>
                </a:cubicBezTo>
                <a:cubicBezTo>
                  <a:pt x="1" y="1954"/>
                  <a:pt x="549" y="2501"/>
                  <a:pt x="1239" y="2501"/>
                </a:cubicBezTo>
                <a:cubicBezTo>
                  <a:pt x="1930" y="2501"/>
                  <a:pt x="2501" y="1954"/>
                  <a:pt x="2501" y="1239"/>
                </a:cubicBezTo>
                <a:cubicBezTo>
                  <a:pt x="2501" y="572"/>
                  <a:pt x="1930" y="1"/>
                  <a:pt x="1239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2" name="Google Shape;2839;p94">
            <a:extLst>
              <a:ext uri="{FF2B5EF4-FFF2-40B4-BE49-F238E27FC236}">
                <a16:creationId xmlns:a16="http://schemas.microsoft.com/office/drawing/2014/main" id="{18635451-A733-4CC9-B50F-300CE78CFF2E}"/>
              </a:ext>
            </a:extLst>
          </p:cNvPr>
          <p:cNvSpPr>
            <a:spLocks noGrp="1"/>
          </p:cNvSpPr>
          <p:nvPr/>
        </p:nvSpPr>
        <p:spPr>
          <a:xfrm>
            <a:off x="2385605" y="2023092"/>
            <a:ext cx="99157" cy="23030"/>
          </a:xfrm>
          <a:custGeom>
            <a:avLst/>
            <a:gdLst/>
            <a:ahLst/>
            <a:cxnLst/>
            <a:rect l="l" t="t" r="r" b="b"/>
            <a:pathLst>
              <a:path w="1359" h="311">
                <a:moveTo>
                  <a:pt x="144" y="0"/>
                </a:moveTo>
                <a:cubicBezTo>
                  <a:pt x="48" y="0"/>
                  <a:pt x="1" y="72"/>
                  <a:pt x="1" y="143"/>
                </a:cubicBezTo>
                <a:cubicBezTo>
                  <a:pt x="1" y="239"/>
                  <a:pt x="48" y="310"/>
                  <a:pt x="144" y="310"/>
                </a:cubicBezTo>
                <a:lnTo>
                  <a:pt x="1215" y="310"/>
                </a:lnTo>
                <a:cubicBezTo>
                  <a:pt x="1287" y="310"/>
                  <a:pt x="1358" y="239"/>
                  <a:pt x="1358" y="143"/>
                </a:cubicBezTo>
                <a:cubicBezTo>
                  <a:pt x="1358" y="72"/>
                  <a:pt x="1311" y="0"/>
                  <a:pt x="1215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3" name="Google Shape;2840;p94">
            <a:extLst>
              <a:ext uri="{FF2B5EF4-FFF2-40B4-BE49-F238E27FC236}">
                <a16:creationId xmlns:a16="http://schemas.microsoft.com/office/drawing/2014/main" id="{26780036-310A-4D31-A416-A5EB695F5FF5}"/>
              </a:ext>
            </a:extLst>
          </p:cNvPr>
          <p:cNvSpPr>
            <a:spLocks noGrp="1"/>
          </p:cNvSpPr>
          <p:nvPr/>
        </p:nvSpPr>
        <p:spPr>
          <a:xfrm>
            <a:off x="2519420" y="2067156"/>
            <a:ext cx="55670" cy="21254"/>
          </a:xfrm>
          <a:custGeom>
            <a:avLst/>
            <a:gdLst/>
            <a:ahLst/>
            <a:cxnLst/>
            <a:rect l="l" t="t" r="r" b="b"/>
            <a:pathLst>
              <a:path w="763" h="287">
                <a:moveTo>
                  <a:pt x="143" y="1"/>
                </a:moveTo>
                <a:cubicBezTo>
                  <a:pt x="48" y="1"/>
                  <a:pt x="1" y="48"/>
                  <a:pt x="1" y="144"/>
                </a:cubicBezTo>
                <a:cubicBezTo>
                  <a:pt x="1" y="215"/>
                  <a:pt x="48" y="287"/>
                  <a:pt x="143" y="287"/>
                </a:cubicBezTo>
                <a:lnTo>
                  <a:pt x="596" y="287"/>
                </a:lnTo>
                <a:cubicBezTo>
                  <a:pt x="691" y="287"/>
                  <a:pt x="763" y="215"/>
                  <a:pt x="763" y="144"/>
                </a:cubicBezTo>
                <a:cubicBezTo>
                  <a:pt x="763" y="72"/>
                  <a:pt x="691" y="1"/>
                  <a:pt x="596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4" name="Google Shape;2841;p94">
            <a:extLst>
              <a:ext uri="{FF2B5EF4-FFF2-40B4-BE49-F238E27FC236}">
                <a16:creationId xmlns:a16="http://schemas.microsoft.com/office/drawing/2014/main" id="{76A8C9FE-70F9-46C6-890D-45DD60BFE8B2}"/>
              </a:ext>
            </a:extLst>
          </p:cNvPr>
          <p:cNvSpPr>
            <a:spLocks noGrp="1"/>
          </p:cNvSpPr>
          <p:nvPr/>
        </p:nvSpPr>
        <p:spPr>
          <a:xfrm>
            <a:off x="2385605" y="2067156"/>
            <a:ext cx="62675" cy="21254"/>
          </a:xfrm>
          <a:custGeom>
            <a:avLst/>
            <a:gdLst/>
            <a:ahLst/>
            <a:cxnLst/>
            <a:rect l="l" t="t" r="r" b="b"/>
            <a:pathLst>
              <a:path w="859" h="287">
                <a:moveTo>
                  <a:pt x="144" y="1"/>
                </a:moveTo>
                <a:cubicBezTo>
                  <a:pt x="48" y="1"/>
                  <a:pt x="1" y="48"/>
                  <a:pt x="1" y="144"/>
                </a:cubicBezTo>
                <a:cubicBezTo>
                  <a:pt x="1" y="215"/>
                  <a:pt x="48" y="287"/>
                  <a:pt x="144" y="287"/>
                </a:cubicBezTo>
                <a:lnTo>
                  <a:pt x="715" y="287"/>
                </a:lnTo>
                <a:cubicBezTo>
                  <a:pt x="787" y="287"/>
                  <a:pt x="858" y="215"/>
                  <a:pt x="858" y="144"/>
                </a:cubicBezTo>
                <a:cubicBezTo>
                  <a:pt x="858" y="72"/>
                  <a:pt x="811" y="1"/>
                  <a:pt x="715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5" name="Google Shape;2842;p94">
            <a:extLst>
              <a:ext uri="{FF2B5EF4-FFF2-40B4-BE49-F238E27FC236}">
                <a16:creationId xmlns:a16="http://schemas.microsoft.com/office/drawing/2014/main" id="{97FED165-3DBA-426F-92BB-B0C3DB516285}"/>
              </a:ext>
            </a:extLst>
          </p:cNvPr>
          <p:cNvSpPr>
            <a:spLocks noGrp="1"/>
          </p:cNvSpPr>
          <p:nvPr/>
        </p:nvSpPr>
        <p:spPr>
          <a:xfrm>
            <a:off x="2463821" y="2067156"/>
            <a:ext cx="41808" cy="21254"/>
          </a:xfrm>
          <a:custGeom>
            <a:avLst/>
            <a:gdLst/>
            <a:ahLst/>
            <a:cxnLst/>
            <a:rect l="l" t="t" r="r" b="b"/>
            <a:pathLst>
              <a:path w="573" h="287">
                <a:moveTo>
                  <a:pt x="143" y="1"/>
                </a:moveTo>
                <a:cubicBezTo>
                  <a:pt x="72" y="1"/>
                  <a:pt x="0" y="48"/>
                  <a:pt x="0" y="144"/>
                </a:cubicBezTo>
                <a:cubicBezTo>
                  <a:pt x="0" y="215"/>
                  <a:pt x="72" y="287"/>
                  <a:pt x="143" y="287"/>
                </a:cubicBezTo>
                <a:lnTo>
                  <a:pt x="429" y="287"/>
                </a:lnTo>
                <a:cubicBezTo>
                  <a:pt x="501" y="287"/>
                  <a:pt x="572" y="215"/>
                  <a:pt x="572" y="144"/>
                </a:cubicBezTo>
                <a:cubicBezTo>
                  <a:pt x="572" y="72"/>
                  <a:pt x="501" y="1"/>
                  <a:pt x="429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6" name="Google Shape;2843;p94">
            <a:extLst>
              <a:ext uri="{FF2B5EF4-FFF2-40B4-BE49-F238E27FC236}">
                <a16:creationId xmlns:a16="http://schemas.microsoft.com/office/drawing/2014/main" id="{386E4A42-856C-4795-ABCB-63A7928B33C3}"/>
              </a:ext>
            </a:extLst>
          </p:cNvPr>
          <p:cNvSpPr>
            <a:spLocks noGrp="1"/>
          </p:cNvSpPr>
          <p:nvPr/>
        </p:nvSpPr>
        <p:spPr>
          <a:xfrm>
            <a:off x="2385605" y="2109516"/>
            <a:ext cx="187734" cy="22957"/>
          </a:xfrm>
          <a:custGeom>
            <a:avLst/>
            <a:gdLst/>
            <a:ahLst/>
            <a:cxnLst/>
            <a:rect l="l" t="t" r="r" b="b"/>
            <a:pathLst>
              <a:path w="2573" h="310">
                <a:moveTo>
                  <a:pt x="144" y="0"/>
                </a:moveTo>
                <a:cubicBezTo>
                  <a:pt x="48" y="0"/>
                  <a:pt x="1" y="72"/>
                  <a:pt x="1" y="143"/>
                </a:cubicBezTo>
                <a:cubicBezTo>
                  <a:pt x="1" y="239"/>
                  <a:pt x="48" y="310"/>
                  <a:pt x="144" y="310"/>
                </a:cubicBezTo>
                <a:lnTo>
                  <a:pt x="2430" y="310"/>
                </a:lnTo>
                <a:cubicBezTo>
                  <a:pt x="2525" y="310"/>
                  <a:pt x="2573" y="239"/>
                  <a:pt x="2573" y="143"/>
                </a:cubicBezTo>
                <a:cubicBezTo>
                  <a:pt x="2573" y="72"/>
                  <a:pt x="2525" y="0"/>
                  <a:pt x="2430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4" name="Google Shape;2819;p94">
            <a:extLst>
              <a:ext uri="{FF2B5EF4-FFF2-40B4-BE49-F238E27FC236}">
                <a16:creationId xmlns:a16="http://schemas.microsoft.com/office/drawing/2014/main" id="{148574C2-EBD4-4199-9829-8DFDEA9C78B4}"/>
              </a:ext>
            </a:extLst>
          </p:cNvPr>
          <p:cNvSpPr>
            <a:spLocks noGrp="1"/>
          </p:cNvSpPr>
          <p:nvPr/>
        </p:nvSpPr>
        <p:spPr>
          <a:xfrm>
            <a:off x="6120541" y="1913934"/>
            <a:ext cx="38305" cy="28808"/>
          </a:xfrm>
          <a:custGeom>
            <a:avLst/>
            <a:gdLst/>
            <a:ahLst/>
            <a:cxnLst/>
            <a:rect l="l" t="t" r="r" b="b"/>
            <a:pathLst>
              <a:path w="525" h="389">
                <a:moveTo>
                  <a:pt x="348" y="1"/>
                </a:moveTo>
                <a:cubicBezTo>
                  <a:pt x="335" y="1"/>
                  <a:pt x="323" y="3"/>
                  <a:pt x="310" y="7"/>
                </a:cubicBezTo>
                <a:lnTo>
                  <a:pt x="96" y="102"/>
                </a:lnTo>
                <a:cubicBezTo>
                  <a:pt x="24" y="126"/>
                  <a:pt x="1" y="221"/>
                  <a:pt x="24" y="293"/>
                </a:cubicBezTo>
                <a:cubicBezTo>
                  <a:pt x="48" y="340"/>
                  <a:pt x="96" y="388"/>
                  <a:pt x="143" y="388"/>
                </a:cubicBezTo>
                <a:cubicBezTo>
                  <a:pt x="167" y="388"/>
                  <a:pt x="191" y="388"/>
                  <a:pt x="215" y="364"/>
                </a:cubicBezTo>
                <a:lnTo>
                  <a:pt x="405" y="293"/>
                </a:lnTo>
                <a:cubicBezTo>
                  <a:pt x="477" y="269"/>
                  <a:pt x="524" y="174"/>
                  <a:pt x="501" y="102"/>
                </a:cubicBezTo>
                <a:cubicBezTo>
                  <a:pt x="461" y="44"/>
                  <a:pt x="406" y="1"/>
                  <a:pt x="348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5" name="Google Shape;2820;p94">
            <a:extLst>
              <a:ext uri="{FF2B5EF4-FFF2-40B4-BE49-F238E27FC236}">
                <a16:creationId xmlns:a16="http://schemas.microsoft.com/office/drawing/2014/main" id="{57E0AF51-B6FC-41BD-911C-FDDBED10DCD6}"/>
              </a:ext>
            </a:extLst>
          </p:cNvPr>
          <p:cNvSpPr>
            <a:spLocks noGrp="1"/>
          </p:cNvSpPr>
          <p:nvPr/>
        </p:nvSpPr>
        <p:spPr>
          <a:xfrm>
            <a:off x="6097923" y="1873128"/>
            <a:ext cx="34876" cy="34287"/>
          </a:xfrm>
          <a:custGeom>
            <a:avLst/>
            <a:gdLst/>
            <a:ahLst/>
            <a:cxnLst/>
            <a:rect l="l" t="t" r="r" b="b"/>
            <a:pathLst>
              <a:path w="478" h="463">
                <a:moveTo>
                  <a:pt x="298" y="1"/>
                </a:moveTo>
                <a:cubicBezTo>
                  <a:pt x="258" y="1"/>
                  <a:pt x="218" y="19"/>
                  <a:pt x="191" y="58"/>
                </a:cubicBezTo>
                <a:lnTo>
                  <a:pt x="49" y="225"/>
                </a:lnTo>
                <a:cubicBezTo>
                  <a:pt x="1" y="296"/>
                  <a:pt x="25" y="391"/>
                  <a:pt x="96" y="439"/>
                </a:cubicBezTo>
                <a:cubicBezTo>
                  <a:pt x="120" y="463"/>
                  <a:pt x="144" y="463"/>
                  <a:pt x="168" y="463"/>
                </a:cubicBezTo>
                <a:cubicBezTo>
                  <a:pt x="215" y="463"/>
                  <a:pt x="263" y="439"/>
                  <a:pt x="287" y="415"/>
                </a:cubicBezTo>
                <a:lnTo>
                  <a:pt x="430" y="225"/>
                </a:lnTo>
                <a:cubicBezTo>
                  <a:pt x="477" y="177"/>
                  <a:pt x="453" y="82"/>
                  <a:pt x="382" y="34"/>
                </a:cubicBezTo>
                <a:cubicBezTo>
                  <a:pt x="361" y="13"/>
                  <a:pt x="330" y="1"/>
                  <a:pt x="298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6" name="Google Shape;2821;p94">
            <a:extLst>
              <a:ext uri="{FF2B5EF4-FFF2-40B4-BE49-F238E27FC236}">
                <a16:creationId xmlns:a16="http://schemas.microsoft.com/office/drawing/2014/main" id="{57B8954A-C826-4A9B-B657-89922358B024}"/>
              </a:ext>
            </a:extLst>
          </p:cNvPr>
          <p:cNvSpPr>
            <a:spLocks noGrp="1"/>
          </p:cNvSpPr>
          <p:nvPr/>
        </p:nvSpPr>
        <p:spPr>
          <a:xfrm>
            <a:off x="6129223" y="1960292"/>
            <a:ext cx="38305" cy="24735"/>
          </a:xfrm>
          <a:custGeom>
            <a:avLst/>
            <a:gdLst/>
            <a:ahLst/>
            <a:cxnLst/>
            <a:rect l="l" t="t" r="r" b="b"/>
            <a:pathLst>
              <a:path w="525" h="334">
                <a:moveTo>
                  <a:pt x="191" y="0"/>
                </a:moveTo>
                <a:cubicBezTo>
                  <a:pt x="96" y="0"/>
                  <a:pt x="24" y="48"/>
                  <a:pt x="24" y="119"/>
                </a:cubicBezTo>
                <a:cubicBezTo>
                  <a:pt x="1" y="215"/>
                  <a:pt x="48" y="286"/>
                  <a:pt x="143" y="286"/>
                </a:cubicBezTo>
                <a:lnTo>
                  <a:pt x="358" y="334"/>
                </a:lnTo>
                <a:lnTo>
                  <a:pt x="382" y="334"/>
                </a:lnTo>
                <a:cubicBezTo>
                  <a:pt x="453" y="334"/>
                  <a:pt x="501" y="286"/>
                  <a:pt x="525" y="215"/>
                </a:cubicBezTo>
                <a:cubicBezTo>
                  <a:pt x="525" y="119"/>
                  <a:pt x="477" y="48"/>
                  <a:pt x="405" y="48"/>
                </a:cubicBezTo>
                <a:lnTo>
                  <a:pt x="191" y="0"/>
                </a:ln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7" name="Google Shape;2822;p94">
            <a:extLst>
              <a:ext uri="{FF2B5EF4-FFF2-40B4-BE49-F238E27FC236}">
                <a16:creationId xmlns:a16="http://schemas.microsoft.com/office/drawing/2014/main" id="{0E034DD0-4B55-4B91-A037-3246A0A29407}"/>
              </a:ext>
            </a:extLst>
          </p:cNvPr>
          <p:cNvSpPr>
            <a:spLocks noGrp="1"/>
          </p:cNvSpPr>
          <p:nvPr/>
        </p:nvSpPr>
        <p:spPr>
          <a:xfrm>
            <a:off x="5710488" y="1722647"/>
            <a:ext cx="738530" cy="731528"/>
          </a:xfrm>
          <a:custGeom>
            <a:avLst/>
            <a:gdLst/>
            <a:ahLst/>
            <a:cxnLst/>
            <a:rect l="l" t="t" r="r" b="b"/>
            <a:pathLst>
              <a:path w="10122" h="9878">
                <a:moveTo>
                  <a:pt x="4787" y="423"/>
                </a:moveTo>
                <a:lnTo>
                  <a:pt x="6168" y="994"/>
                </a:lnTo>
                <a:lnTo>
                  <a:pt x="5240" y="1376"/>
                </a:lnTo>
                <a:cubicBezTo>
                  <a:pt x="5233" y="1382"/>
                  <a:pt x="5226" y="1385"/>
                  <a:pt x="5219" y="1385"/>
                </a:cubicBezTo>
                <a:cubicBezTo>
                  <a:pt x="5202" y="1385"/>
                  <a:pt x="5185" y="1369"/>
                  <a:pt x="5168" y="1352"/>
                </a:cubicBezTo>
                <a:lnTo>
                  <a:pt x="4787" y="423"/>
                </a:lnTo>
                <a:close/>
                <a:moveTo>
                  <a:pt x="8216" y="2066"/>
                </a:moveTo>
                <a:cubicBezTo>
                  <a:pt x="8264" y="2066"/>
                  <a:pt x="8312" y="2090"/>
                  <a:pt x="8312" y="2138"/>
                </a:cubicBezTo>
                <a:lnTo>
                  <a:pt x="8312" y="2566"/>
                </a:lnTo>
                <a:cubicBezTo>
                  <a:pt x="8312" y="2614"/>
                  <a:pt x="8264" y="2661"/>
                  <a:pt x="8216" y="2661"/>
                </a:cubicBezTo>
                <a:lnTo>
                  <a:pt x="7407" y="2661"/>
                </a:lnTo>
                <a:lnTo>
                  <a:pt x="7168" y="2066"/>
                </a:lnTo>
                <a:close/>
                <a:moveTo>
                  <a:pt x="8788" y="1280"/>
                </a:moveTo>
                <a:cubicBezTo>
                  <a:pt x="8931" y="1280"/>
                  <a:pt x="9050" y="1399"/>
                  <a:pt x="9050" y="1542"/>
                </a:cubicBezTo>
                <a:lnTo>
                  <a:pt x="9050" y="3924"/>
                </a:lnTo>
                <a:lnTo>
                  <a:pt x="7954" y="3924"/>
                </a:lnTo>
                <a:lnTo>
                  <a:pt x="7550" y="2947"/>
                </a:lnTo>
                <a:lnTo>
                  <a:pt x="8216" y="2947"/>
                </a:lnTo>
                <a:cubicBezTo>
                  <a:pt x="8431" y="2947"/>
                  <a:pt x="8597" y="2781"/>
                  <a:pt x="8597" y="2566"/>
                </a:cubicBezTo>
                <a:lnTo>
                  <a:pt x="8597" y="2138"/>
                </a:lnTo>
                <a:cubicBezTo>
                  <a:pt x="8597" y="1923"/>
                  <a:pt x="8431" y="1757"/>
                  <a:pt x="8216" y="1757"/>
                </a:cubicBezTo>
                <a:lnTo>
                  <a:pt x="7049" y="1757"/>
                </a:lnTo>
                <a:lnTo>
                  <a:pt x="6835" y="1280"/>
                </a:lnTo>
                <a:close/>
                <a:moveTo>
                  <a:pt x="4430" y="352"/>
                </a:moveTo>
                <a:lnTo>
                  <a:pt x="4906" y="1471"/>
                </a:lnTo>
                <a:cubicBezTo>
                  <a:pt x="4954" y="1614"/>
                  <a:pt x="5073" y="1685"/>
                  <a:pt x="5216" y="1685"/>
                </a:cubicBezTo>
                <a:cubicBezTo>
                  <a:pt x="5263" y="1685"/>
                  <a:pt x="5311" y="1685"/>
                  <a:pt x="5359" y="1661"/>
                </a:cubicBezTo>
                <a:lnTo>
                  <a:pt x="6478" y="1185"/>
                </a:lnTo>
                <a:lnTo>
                  <a:pt x="7621" y="3947"/>
                </a:lnTo>
                <a:lnTo>
                  <a:pt x="6907" y="3947"/>
                </a:lnTo>
                <a:cubicBezTo>
                  <a:pt x="6835" y="3947"/>
                  <a:pt x="6764" y="3995"/>
                  <a:pt x="6764" y="4090"/>
                </a:cubicBezTo>
                <a:cubicBezTo>
                  <a:pt x="6764" y="4162"/>
                  <a:pt x="6835" y="4233"/>
                  <a:pt x="6907" y="4233"/>
                </a:cubicBezTo>
                <a:lnTo>
                  <a:pt x="9574" y="4233"/>
                </a:lnTo>
                <a:cubicBezTo>
                  <a:pt x="9717" y="4233"/>
                  <a:pt x="9812" y="4352"/>
                  <a:pt x="9812" y="4471"/>
                </a:cubicBezTo>
                <a:lnTo>
                  <a:pt x="9812" y="8972"/>
                </a:lnTo>
                <a:cubicBezTo>
                  <a:pt x="9812" y="9330"/>
                  <a:pt x="9550" y="9591"/>
                  <a:pt x="9193" y="9591"/>
                </a:cubicBezTo>
                <a:lnTo>
                  <a:pt x="1596" y="9591"/>
                </a:lnTo>
                <a:cubicBezTo>
                  <a:pt x="1739" y="9425"/>
                  <a:pt x="1834" y="9210"/>
                  <a:pt x="1834" y="8972"/>
                </a:cubicBezTo>
                <a:lnTo>
                  <a:pt x="1834" y="7353"/>
                </a:lnTo>
                <a:cubicBezTo>
                  <a:pt x="1834" y="7281"/>
                  <a:pt x="1763" y="7210"/>
                  <a:pt x="1667" y="7210"/>
                </a:cubicBezTo>
                <a:cubicBezTo>
                  <a:pt x="1596" y="7210"/>
                  <a:pt x="1524" y="7281"/>
                  <a:pt x="1524" y="7353"/>
                </a:cubicBezTo>
                <a:lnTo>
                  <a:pt x="1524" y="8972"/>
                </a:lnTo>
                <a:cubicBezTo>
                  <a:pt x="1524" y="9330"/>
                  <a:pt x="1262" y="9591"/>
                  <a:pt x="905" y="9591"/>
                </a:cubicBezTo>
                <a:cubicBezTo>
                  <a:pt x="572" y="9591"/>
                  <a:pt x="286" y="9330"/>
                  <a:pt x="286" y="8972"/>
                </a:cubicBezTo>
                <a:lnTo>
                  <a:pt x="286" y="2590"/>
                </a:lnTo>
                <a:cubicBezTo>
                  <a:pt x="286" y="2447"/>
                  <a:pt x="405" y="2328"/>
                  <a:pt x="548" y="2328"/>
                </a:cubicBezTo>
                <a:lnTo>
                  <a:pt x="834" y="2328"/>
                </a:lnTo>
                <a:lnTo>
                  <a:pt x="1120" y="3066"/>
                </a:lnTo>
                <a:cubicBezTo>
                  <a:pt x="1155" y="3120"/>
                  <a:pt x="1204" y="3147"/>
                  <a:pt x="1257" y="3147"/>
                </a:cubicBezTo>
                <a:cubicBezTo>
                  <a:pt x="1274" y="3147"/>
                  <a:pt x="1292" y="3144"/>
                  <a:pt x="1310" y="3138"/>
                </a:cubicBezTo>
                <a:cubicBezTo>
                  <a:pt x="1382" y="3114"/>
                  <a:pt x="1429" y="3019"/>
                  <a:pt x="1405" y="2947"/>
                </a:cubicBezTo>
                <a:lnTo>
                  <a:pt x="953" y="1876"/>
                </a:lnTo>
                <a:cubicBezTo>
                  <a:pt x="929" y="1852"/>
                  <a:pt x="953" y="1804"/>
                  <a:pt x="977" y="1804"/>
                </a:cubicBezTo>
                <a:lnTo>
                  <a:pt x="4430" y="352"/>
                </a:lnTo>
                <a:close/>
                <a:moveTo>
                  <a:pt x="4513" y="0"/>
                </a:moveTo>
                <a:cubicBezTo>
                  <a:pt x="4495" y="0"/>
                  <a:pt x="4477" y="6"/>
                  <a:pt x="4454" y="18"/>
                </a:cubicBezTo>
                <a:lnTo>
                  <a:pt x="858" y="1518"/>
                </a:lnTo>
                <a:cubicBezTo>
                  <a:pt x="691" y="1590"/>
                  <a:pt x="596" y="1804"/>
                  <a:pt x="667" y="1971"/>
                </a:cubicBezTo>
                <a:lnTo>
                  <a:pt x="691" y="2042"/>
                </a:lnTo>
                <a:lnTo>
                  <a:pt x="548" y="2042"/>
                </a:lnTo>
                <a:cubicBezTo>
                  <a:pt x="238" y="2042"/>
                  <a:pt x="0" y="2280"/>
                  <a:pt x="0" y="2590"/>
                </a:cubicBezTo>
                <a:lnTo>
                  <a:pt x="0" y="8972"/>
                </a:lnTo>
                <a:cubicBezTo>
                  <a:pt x="0" y="9472"/>
                  <a:pt x="405" y="9877"/>
                  <a:pt x="905" y="9877"/>
                </a:cubicBezTo>
                <a:lnTo>
                  <a:pt x="9193" y="9877"/>
                </a:lnTo>
                <a:cubicBezTo>
                  <a:pt x="9717" y="9877"/>
                  <a:pt x="10121" y="9472"/>
                  <a:pt x="10121" y="8972"/>
                </a:cubicBezTo>
                <a:lnTo>
                  <a:pt x="10121" y="4471"/>
                </a:lnTo>
                <a:cubicBezTo>
                  <a:pt x="10121" y="4162"/>
                  <a:pt x="9860" y="3924"/>
                  <a:pt x="9574" y="3924"/>
                </a:cubicBezTo>
                <a:lnTo>
                  <a:pt x="9336" y="3924"/>
                </a:lnTo>
                <a:lnTo>
                  <a:pt x="9336" y="1542"/>
                </a:lnTo>
                <a:cubicBezTo>
                  <a:pt x="9336" y="1233"/>
                  <a:pt x="9097" y="994"/>
                  <a:pt x="8788" y="994"/>
                </a:cubicBezTo>
                <a:lnTo>
                  <a:pt x="6716" y="994"/>
                </a:lnTo>
                <a:lnTo>
                  <a:pt x="6692" y="923"/>
                </a:lnTo>
                <a:cubicBezTo>
                  <a:pt x="6668" y="899"/>
                  <a:pt x="6645" y="852"/>
                  <a:pt x="6621" y="852"/>
                </a:cubicBezTo>
                <a:lnTo>
                  <a:pt x="4573" y="18"/>
                </a:lnTo>
                <a:cubicBezTo>
                  <a:pt x="4549" y="6"/>
                  <a:pt x="4531" y="0"/>
                  <a:pt x="451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8" name="Google Shape;2823;p94">
            <a:extLst>
              <a:ext uri="{FF2B5EF4-FFF2-40B4-BE49-F238E27FC236}">
                <a16:creationId xmlns:a16="http://schemas.microsoft.com/office/drawing/2014/main" id="{06B94662-6FE6-4CF5-B934-EE5CBA83D325}"/>
              </a:ext>
            </a:extLst>
          </p:cNvPr>
          <p:cNvSpPr>
            <a:spLocks noGrp="1"/>
          </p:cNvSpPr>
          <p:nvPr/>
        </p:nvSpPr>
        <p:spPr>
          <a:xfrm>
            <a:off x="5807750" y="1881793"/>
            <a:ext cx="370213" cy="348361"/>
          </a:xfrm>
          <a:custGeom>
            <a:avLst/>
            <a:gdLst/>
            <a:ahLst/>
            <a:cxnLst/>
            <a:rect l="l" t="t" r="r" b="b"/>
            <a:pathLst>
              <a:path w="5074" h="4704">
                <a:moveTo>
                  <a:pt x="2760" y="301"/>
                </a:moveTo>
                <a:cubicBezTo>
                  <a:pt x="2892" y="301"/>
                  <a:pt x="3021" y="325"/>
                  <a:pt x="3144" y="370"/>
                </a:cubicBezTo>
                <a:cubicBezTo>
                  <a:pt x="3430" y="489"/>
                  <a:pt x="3645" y="703"/>
                  <a:pt x="3740" y="965"/>
                </a:cubicBezTo>
                <a:cubicBezTo>
                  <a:pt x="3859" y="1227"/>
                  <a:pt x="3859" y="1513"/>
                  <a:pt x="3764" y="1775"/>
                </a:cubicBezTo>
                <a:lnTo>
                  <a:pt x="3287" y="1775"/>
                </a:lnTo>
                <a:cubicBezTo>
                  <a:pt x="3335" y="1679"/>
                  <a:pt x="3359" y="1560"/>
                  <a:pt x="3311" y="1441"/>
                </a:cubicBezTo>
                <a:cubicBezTo>
                  <a:pt x="3264" y="1346"/>
                  <a:pt x="3168" y="1275"/>
                  <a:pt x="3073" y="1227"/>
                </a:cubicBezTo>
                <a:cubicBezTo>
                  <a:pt x="3025" y="1203"/>
                  <a:pt x="2972" y="1191"/>
                  <a:pt x="2918" y="1191"/>
                </a:cubicBezTo>
                <a:cubicBezTo>
                  <a:pt x="2865" y="1191"/>
                  <a:pt x="2811" y="1203"/>
                  <a:pt x="2763" y="1227"/>
                </a:cubicBezTo>
                <a:lnTo>
                  <a:pt x="2621" y="1298"/>
                </a:lnTo>
                <a:cubicBezTo>
                  <a:pt x="2607" y="1303"/>
                  <a:pt x="2594" y="1305"/>
                  <a:pt x="2581" y="1305"/>
                </a:cubicBezTo>
                <a:cubicBezTo>
                  <a:pt x="2524" y="1305"/>
                  <a:pt x="2473" y="1266"/>
                  <a:pt x="2454" y="1227"/>
                </a:cubicBezTo>
                <a:cubicBezTo>
                  <a:pt x="2430" y="1155"/>
                  <a:pt x="2478" y="1108"/>
                  <a:pt x="2525" y="1084"/>
                </a:cubicBezTo>
                <a:lnTo>
                  <a:pt x="2668" y="1013"/>
                </a:lnTo>
                <a:cubicBezTo>
                  <a:pt x="2692" y="1001"/>
                  <a:pt x="2710" y="995"/>
                  <a:pt x="2728" y="995"/>
                </a:cubicBezTo>
                <a:cubicBezTo>
                  <a:pt x="2746" y="995"/>
                  <a:pt x="2763" y="1001"/>
                  <a:pt x="2787" y="1013"/>
                </a:cubicBezTo>
                <a:cubicBezTo>
                  <a:pt x="2815" y="1031"/>
                  <a:pt x="2842" y="1039"/>
                  <a:pt x="2868" y="1039"/>
                </a:cubicBezTo>
                <a:cubicBezTo>
                  <a:pt x="2910" y="1039"/>
                  <a:pt x="2948" y="1018"/>
                  <a:pt x="2978" y="989"/>
                </a:cubicBezTo>
                <a:cubicBezTo>
                  <a:pt x="3025" y="917"/>
                  <a:pt x="3002" y="822"/>
                  <a:pt x="2954" y="774"/>
                </a:cubicBezTo>
                <a:cubicBezTo>
                  <a:pt x="2892" y="728"/>
                  <a:pt x="2821" y="702"/>
                  <a:pt x="2746" y="702"/>
                </a:cubicBezTo>
                <a:cubicBezTo>
                  <a:pt x="2705" y="702"/>
                  <a:pt x="2663" y="710"/>
                  <a:pt x="2621" y="727"/>
                </a:cubicBezTo>
                <a:lnTo>
                  <a:pt x="2597" y="679"/>
                </a:lnTo>
                <a:cubicBezTo>
                  <a:pt x="2577" y="620"/>
                  <a:pt x="2509" y="578"/>
                  <a:pt x="2446" y="578"/>
                </a:cubicBezTo>
                <a:cubicBezTo>
                  <a:pt x="2432" y="578"/>
                  <a:pt x="2419" y="580"/>
                  <a:pt x="2406" y="584"/>
                </a:cubicBezTo>
                <a:cubicBezTo>
                  <a:pt x="2335" y="632"/>
                  <a:pt x="2311" y="703"/>
                  <a:pt x="2335" y="774"/>
                </a:cubicBezTo>
                <a:lnTo>
                  <a:pt x="2359" y="822"/>
                </a:lnTo>
                <a:cubicBezTo>
                  <a:pt x="2192" y="941"/>
                  <a:pt x="2120" y="1155"/>
                  <a:pt x="2192" y="1346"/>
                </a:cubicBezTo>
                <a:cubicBezTo>
                  <a:pt x="2264" y="1490"/>
                  <a:pt x="2418" y="1594"/>
                  <a:pt x="2582" y="1594"/>
                </a:cubicBezTo>
                <a:cubicBezTo>
                  <a:pt x="2635" y="1594"/>
                  <a:pt x="2688" y="1583"/>
                  <a:pt x="2740" y="1560"/>
                </a:cubicBezTo>
                <a:lnTo>
                  <a:pt x="2882" y="1489"/>
                </a:lnTo>
                <a:lnTo>
                  <a:pt x="2978" y="1489"/>
                </a:lnTo>
                <a:cubicBezTo>
                  <a:pt x="3002" y="1513"/>
                  <a:pt x="3025" y="1537"/>
                  <a:pt x="3025" y="1560"/>
                </a:cubicBezTo>
                <a:cubicBezTo>
                  <a:pt x="3049" y="1608"/>
                  <a:pt x="3025" y="1679"/>
                  <a:pt x="2978" y="1703"/>
                </a:cubicBezTo>
                <a:lnTo>
                  <a:pt x="2811" y="1775"/>
                </a:lnTo>
                <a:lnTo>
                  <a:pt x="2763" y="1775"/>
                </a:lnTo>
                <a:cubicBezTo>
                  <a:pt x="2740" y="1775"/>
                  <a:pt x="2716" y="1775"/>
                  <a:pt x="2692" y="1751"/>
                </a:cubicBezTo>
                <a:cubicBezTo>
                  <a:pt x="2668" y="1715"/>
                  <a:pt x="2632" y="1697"/>
                  <a:pt x="2594" y="1697"/>
                </a:cubicBezTo>
                <a:cubicBezTo>
                  <a:pt x="2555" y="1697"/>
                  <a:pt x="2513" y="1715"/>
                  <a:pt x="2478" y="1751"/>
                </a:cubicBezTo>
                <a:cubicBezTo>
                  <a:pt x="2478" y="1751"/>
                  <a:pt x="2478" y="1775"/>
                  <a:pt x="2454" y="1775"/>
                </a:cubicBezTo>
                <a:lnTo>
                  <a:pt x="1739" y="1775"/>
                </a:lnTo>
                <a:cubicBezTo>
                  <a:pt x="1620" y="1513"/>
                  <a:pt x="1620" y="1227"/>
                  <a:pt x="1739" y="965"/>
                </a:cubicBezTo>
                <a:cubicBezTo>
                  <a:pt x="1835" y="703"/>
                  <a:pt x="2049" y="489"/>
                  <a:pt x="2311" y="393"/>
                </a:cubicBezTo>
                <a:cubicBezTo>
                  <a:pt x="2462" y="331"/>
                  <a:pt x="2613" y="301"/>
                  <a:pt x="2760" y="301"/>
                </a:cubicBezTo>
                <a:close/>
                <a:moveTo>
                  <a:pt x="2740" y="0"/>
                </a:moveTo>
                <a:cubicBezTo>
                  <a:pt x="2561" y="0"/>
                  <a:pt x="2382" y="36"/>
                  <a:pt x="2216" y="108"/>
                </a:cubicBezTo>
                <a:cubicBezTo>
                  <a:pt x="1858" y="251"/>
                  <a:pt x="1596" y="512"/>
                  <a:pt x="1454" y="846"/>
                </a:cubicBezTo>
                <a:cubicBezTo>
                  <a:pt x="1335" y="1155"/>
                  <a:pt x="1311" y="1489"/>
                  <a:pt x="1406" y="1775"/>
                </a:cubicBezTo>
                <a:lnTo>
                  <a:pt x="739" y="1775"/>
                </a:lnTo>
                <a:cubicBezTo>
                  <a:pt x="644" y="1775"/>
                  <a:pt x="572" y="1798"/>
                  <a:pt x="501" y="1822"/>
                </a:cubicBezTo>
                <a:lnTo>
                  <a:pt x="311" y="1394"/>
                </a:lnTo>
                <a:cubicBezTo>
                  <a:pt x="293" y="1342"/>
                  <a:pt x="239" y="1303"/>
                  <a:pt x="183" y="1303"/>
                </a:cubicBezTo>
                <a:cubicBezTo>
                  <a:pt x="162" y="1303"/>
                  <a:pt x="140" y="1309"/>
                  <a:pt x="120" y="1322"/>
                </a:cubicBezTo>
                <a:cubicBezTo>
                  <a:pt x="49" y="1346"/>
                  <a:pt x="1" y="1441"/>
                  <a:pt x="49" y="1513"/>
                </a:cubicBezTo>
                <a:lnTo>
                  <a:pt x="263" y="2037"/>
                </a:lnTo>
                <a:cubicBezTo>
                  <a:pt x="215" y="2132"/>
                  <a:pt x="191" y="2227"/>
                  <a:pt x="191" y="2322"/>
                </a:cubicBezTo>
                <a:lnTo>
                  <a:pt x="191" y="4537"/>
                </a:lnTo>
                <a:cubicBezTo>
                  <a:pt x="191" y="4632"/>
                  <a:pt x="263" y="4704"/>
                  <a:pt x="334" y="4704"/>
                </a:cubicBezTo>
                <a:cubicBezTo>
                  <a:pt x="430" y="4704"/>
                  <a:pt x="501" y="4632"/>
                  <a:pt x="501" y="4537"/>
                </a:cubicBezTo>
                <a:lnTo>
                  <a:pt x="501" y="2322"/>
                </a:lnTo>
                <a:cubicBezTo>
                  <a:pt x="501" y="2179"/>
                  <a:pt x="596" y="2084"/>
                  <a:pt x="739" y="2084"/>
                </a:cubicBezTo>
                <a:lnTo>
                  <a:pt x="4907" y="2084"/>
                </a:lnTo>
                <a:cubicBezTo>
                  <a:pt x="5002" y="2084"/>
                  <a:pt x="5073" y="2013"/>
                  <a:pt x="5073" y="1918"/>
                </a:cubicBezTo>
                <a:cubicBezTo>
                  <a:pt x="5073" y="1846"/>
                  <a:pt x="5002" y="1775"/>
                  <a:pt x="4907" y="1775"/>
                </a:cubicBezTo>
                <a:lnTo>
                  <a:pt x="4073" y="1775"/>
                </a:lnTo>
                <a:cubicBezTo>
                  <a:pt x="4168" y="1465"/>
                  <a:pt x="4145" y="1155"/>
                  <a:pt x="4026" y="846"/>
                </a:cubicBezTo>
                <a:cubicBezTo>
                  <a:pt x="3883" y="512"/>
                  <a:pt x="3597" y="251"/>
                  <a:pt x="3264" y="108"/>
                </a:cubicBezTo>
                <a:cubicBezTo>
                  <a:pt x="3097" y="36"/>
                  <a:pt x="2918" y="0"/>
                  <a:pt x="2740" y="0"/>
                </a:cubicBezTo>
                <a:close/>
              </a:path>
            </a:pathLst>
          </a:custGeom>
          <a:solidFill>
            <a:srgbClr val="FD0C5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9" name="Google Shape;2824;p94">
            <a:extLst>
              <a:ext uri="{FF2B5EF4-FFF2-40B4-BE49-F238E27FC236}">
                <a16:creationId xmlns:a16="http://schemas.microsoft.com/office/drawing/2014/main" id="{02B037F2-DC45-4341-8A79-CB3209AED39D}"/>
              </a:ext>
            </a:extLst>
          </p:cNvPr>
          <p:cNvSpPr>
            <a:spLocks noGrp="1"/>
          </p:cNvSpPr>
          <p:nvPr/>
        </p:nvSpPr>
        <p:spPr>
          <a:xfrm>
            <a:off x="5823435" y="1838099"/>
            <a:ext cx="102586" cy="55245"/>
          </a:xfrm>
          <a:custGeom>
            <a:avLst/>
            <a:gdLst/>
            <a:ahLst/>
            <a:cxnLst/>
            <a:rect l="l" t="t" r="r" b="b"/>
            <a:pathLst>
              <a:path w="1406" h="746">
                <a:moveTo>
                  <a:pt x="1207" y="1"/>
                </a:moveTo>
                <a:cubicBezTo>
                  <a:pt x="1193" y="1"/>
                  <a:pt x="1180" y="3"/>
                  <a:pt x="1167" y="7"/>
                </a:cubicBezTo>
                <a:lnTo>
                  <a:pt x="119" y="460"/>
                </a:lnTo>
                <a:cubicBezTo>
                  <a:pt x="48" y="483"/>
                  <a:pt x="0" y="579"/>
                  <a:pt x="24" y="650"/>
                </a:cubicBezTo>
                <a:cubicBezTo>
                  <a:pt x="48" y="721"/>
                  <a:pt x="119" y="745"/>
                  <a:pt x="167" y="745"/>
                </a:cubicBezTo>
                <a:lnTo>
                  <a:pt x="215" y="745"/>
                </a:lnTo>
                <a:lnTo>
                  <a:pt x="1286" y="293"/>
                </a:lnTo>
                <a:cubicBezTo>
                  <a:pt x="1358" y="269"/>
                  <a:pt x="1405" y="174"/>
                  <a:pt x="1358" y="102"/>
                </a:cubicBezTo>
                <a:cubicBezTo>
                  <a:pt x="1338" y="44"/>
                  <a:pt x="1270" y="1"/>
                  <a:pt x="1207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0" name="Google Shape;2825;p94">
            <a:extLst>
              <a:ext uri="{FF2B5EF4-FFF2-40B4-BE49-F238E27FC236}">
                <a16:creationId xmlns:a16="http://schemas.microsoft.com/office/drawing/2014/main" id="{C50B4741-907E-42DE-BA0B-3176B42ED322}"/>
              </a:ext>
            </a:extLst>
          </p:cNvPr>
          <p:cNvSpPr>
            <a:spLocks noGrp="1"/>
          </p:cNvSpPr>
          <p:nvPr/>
        </p:nvSpPr>
        <p:spPr>
          <a:xfrm>
            <a:off x="5839050" y="1891866"/>
            <a:ext cx="55670" cy="34955"/>
          </a:xfrm>
          <a:custGeom>
            <a:avLst/>
            <a:gdLst/>
            <a:ahLst/>
            <a:cxnLst/>
            <a:rect l="l" t="t" r="r" b="b"/>
            <a:pathLst>
              <a:path w="763" h="472">
                <a:moveTo>
                  <a:pt x="599" y="0"/>
                </a:moveTo>
                <a:cubicBezTo>
                  <a:pt x="576" y="0"/>
                  <a:pt x="551" y="6"/>
                  <a:pt x="525" y="19"/>
                </a:cubicBezTo>
                <a:lnTo>
                  <a:pt x="96" y="186"/>
                </a:lnTo>
                <a:cubicBezTo>
                  <a:pt x="24" y="234"/>
                  <a:pt x="1" y="305"/>
                  <a:pt x="24" y="376"/>
                </a:cubicBezTo>
                <a:cubicBezTo>
                  <a:pt x="48" y="448"/>
                  <a:pt x="96" y="472"/>
                  <a:pt x="167" y="472"/>
                </a:cubicBezTo>
                <a:lnTo>
                  <a:pt x="215" y="472"/>
                </a:lnTo>
                <a:lnTo>
                  <a:pt x="644" y="281"/>
                </a:lnTo>
                <a:cubicBezTo>
                  <a:pt x="715" y="257"/>
                  <a:pt x="763" y="162"/>
                  <a:pt x="739" y="91"/>
                </a:cubicBezTo>
                <a:cubicBezTo>
                  <a:pt x="705" y="39"/>
                  <a:pt x="658" y="0"/>
                  <a:pt x="599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1" name="Google Shape;2826;p94">
            <a:extLst>
              <a:ext uri="{FF2B5EF4-FFF2-40B4-BE49-F238E27FC236}">
                <a16:creationId xmlns:a16="http://schemas.microsoft.com/office/drawing/2014/main" id="{36AB534A-DCD7-4445-B575-A5862273CEB8}"/>
              </a:ext>
            </a:extLst>
          </p:cNvPr>
          <p:cNvSpPr>
            <a:spLocks noGrp="1"/>
          </p:cNvSpPr>
          <p:nvPr/>
        </p:nvSpPr>
        <p:spPr>
          <a:xfrm>
            <a:off x="5889467" y="2335907"/>
            <a:ext cx="76537" cy="21254"/>
          </a:xfrm>
          <a:custGeom>
            <a:avLst/>
            <a:gdLst/>
            <a:ahLst/>
            <a:cxnLst/>
            <a:rect l="l" t="t" r="r" b="b"/>
            <a:pathLst>
              <a:path w="1049" h="287">
                <a:moveTo>
                  <a:pt x="143" y="1"/>
                </a:moveTo>
                <a:cubicBezTo>
                  <a:pt x="72" y="1"/>
                  <a:pt x="0" y="48"/>
                  <a:pt x="0" y="144"/>
                </a:cubicBezTo>
                <a:cubicBezTo>
                  <a:pt x="0" y="215"/>
                  <a:pt x="72" y="286"/>
                  <a:pt x="143" y="286"/>
                </a:cubicBezTo>
                <a:lnTo>
                  <a:pt x="905" y="286"/>
                </a:lnTo>
                <a:cubicBezTo>
                  <a:pt x="977" y="286"/>
                  <a:pt x="1048" y="215"/>
                  <a:pt x="1048" y="144"/>
                </a:cubicBezTo>
                <a:cubicBezTo>
                  <a:pt x="1048" y="48"/>
                  <a:pt x="977" y="1"/>
                  <a:pt x="905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2" name="Google Shape;2827;p94">
            <a:extLst>
              <a:ext uri="{FF2B5EF4-FFF2-40B4-BE49-F238E27FC236}">
                <a16:creationId xmlns:a16="http://schemas.microsoft.com/office/drawing/2014/main" id="{B5DD2815-B50D-4491-A04C-6F99AB0237E5}"/>
              </a:ext>
            </a:extLst>
          </p:cNvPr>
          <p:cNvSpPr>
            <a:spLocks noGrp="1"/>
          </p:cNvSpPr>
          <p:nvPr/>
        </p:nvSpPr>
        <p:spPr>
          <a:xfrm>
            <a:off x="5889467" y="2374713"/>
            <a:ext cx="177299" cy="23030"/>
          </a:xfrm>
          <a:custGeom>
            <a:avLst/>
            <a:gdLst/>
            <a:ahLst/>
            <a:cxnLst/>
            <a:rect l="l" t="t" r="r" b="b"/>
            <a:pathLst>
              <a:path w="2430" h="311">
                <a:moveTo>
                  <a:pt x="143" y="1"/>
                </a:moveTo>
                <a:cubicBezTo>
                  <a:pt x="72" y="1"/>
                  <a:pt x="0" y="72"/>
                  <a:pt x="0" y="143"/>
                </a:cubicBezTo>
                <a:cubicBezTo>
                  <a:pt x="0" y="239"/>
                  <a:pt x="72" y="310"/>
                  <a:pt x="143" y="310"/>
                </a:cubicBezTo>
                <a:lnTo>
                  <a:pt x="2286" y="310"/>
                </a:lnTo>
                <a:cubicBezTo>
                  <a:pt x="2358" y="310"/>
                  <a:pt x="2429" y="239"/>
                  <a:pt x="2429" y="143"/>
                </a:cubicBezTo>
                <a:cubicBezTo>
                  <a:pt x="2429" y="72"/>
                  <a:pt x="2358" y="1"/>
                  <a:pt x="2286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8" name="Google Shape;2806;p94">
            <a:extLst>
              <a:ext uri="{FF2B5EF4-FFF2-40B4-BE49-F238E27FC236}">
                <a16:creationId xmlns:a16="http://schemas.microsoft.com/office/drawing/2014/main" id="{DF5EB72A-9714-47B1-AA38-FD4B1CF31477}"/>
              </a:ext>
            </a:extLst>
          </p:cNvPr>
          <p:cNvSpPr>
            <a:spLocks noGrp="1"/>
          </p:cNvSpPr>
          <p:nvPr/>
        </p:nvSpPr>
        <p:spPr>
          <a:xfrm>
            <a:off x="9757324" y="1749715"/>
            <a:ext cx="738604" cy="694944"/>
          </a:xfrm>
          <a:custGeom>
            <a:avLst/>
            <a:gdLst/>
            <a:ahLst/>
            <a:cxnLst/>
            <a:rect l="l" t="t" r="r" b="b"/>
            <a:pathLst>
              <a:path w="10123" h="9384">
                <a:moveTo>
                  <a:pt x="5073" y="8550"/>
                </a:moveTo>
                <a:cubicBezTo>
                  <a:pt x="5216" y="8550"/>
                  <a:pt x="5335" y="8669"/>
                  <a:pt x="5335" y="8812"/>
                </a:cubicBezTo>
                <a:cubicBezTo>
                  <a:pt x="5335" y="8954"/>
                  <a:pt x="5216" y="9097"/>
                  <a:pt x="5073" y="9097"/>
                </a:cubicBezTo>
                <a:cubicBezTo>
                  <a:pt x="4907" y="9097"/>
                  <a:pt x="4788" y="8954"/>
                  <a:pt x="4788" y="8812"/>
                </a:cubicBezTo>
                <a:cubicBezTo>
                  <a:pt x="4788" y="8669"/>
                  <a:pt x="4907" y="8550"/>
                  <a:pt x="5073" y="8550"/>
                </a:cubicBezTo>
                <a:close/>
                <a:moveTo>
                  <a:pt x="358" y="0"/>
                </a:moveTo>
                <a:cubicBezTo>
                  <a:pt x="168" y="0"/>
                  <a:pt x="1" y="167"/>
                  <a:pt x="1" y="357"/>
                </a:cubicBezTo>
                <a:lnTo>
                  <a:pt x="1" y="953"/>
                </a:lnTo>
                <a:cubicBezTo>
                  <a:pt x="1" y="1143"/>
                  <a:pt x="144" y="1286"/>
                  <a:pt x="334" y="1286"/>
                </a:cubicBezTo>
                <a:lnTo>
                  <a:pt x="334" y="5168"/>
                </a:lnTo>
                <a:cubicBezTo>
                  <a:pt x="334" y="5239"/>
                  <a:pt x="406" y="5311"/>
                  <a:pt x="477" y="5311"/>
                </a:cubicBezTo>
                <a:cubicBezTo>
                  <a:pt x="572" y="5311"/>
                  <a:pt x="644" y="5263"/>
                  <a:pt x="644" y="5168"/>
                </a:cubicBezTo>
                <a:lnTo>
                  <a:pt x="644" y="1286"/>
                </a:lnTo>
                <a:lnTo>
                  <a:pt x="7741" y="1286"/>
                </a:lnTo>
                <a:cubicBezTo>
                  <a:pt x="7812" y="1286"/>
                  <a:pt x="7884" y="1239"/>
                  <a:pt x="7884" y="1143"/>
                </a:cubicBezTo>
                <a:cubicBezTo>
                  <a:pt x="7884" y="1072"/>
                  <a:pt x="7812" y="1000"/>
                  <a:pt x="7741" y="1000"/>
                </a:cubicBezTo>
                <a:lnTo>
                  <a:pt x="358" y="1000"/>
                </a:lnTo>
                <a:cubicBezTo>
                  <a:pt x="334" y="1000"/>
                  <a:pt x="311" y="977"/>
                  <a:pt x="311" y="953"/>
                </a:cubicBezTo>
                <a:lnTo>
                  <a:pt x="311" y="357"/>
                </a:lnTo>
                <a:cubicBezTo>
                  <a:pt x="311" y="310"/>
                  <a:pt x="334" y="286"/>
                  <a:pt x="358" y="286"/>
                </a:cubicBezTo>
                <a:lnTo>
                  <a:pt x="9789" y="286"/>
                </a:lnTo>
                <a:cubicBezTo>
                  <a:pt x="9812" y="286"/>
                  <a:pt x="9836" y="334"/>
                  <a:pt x="9836" y="357"/>
                </a:cubicBezTo>
                <a:lnTo>
                  <a:pt x="9836" y="953"/>
                </a:lnTo>
                <a:cubicBezTo>
                  <a:pt x="9836" y="977"/>
                  <a:pt x="9812" y="1000"/>
                  <a:pt x="9789" y="1000"/>
                </a:cubicBezTo>
                <a:lnTo>
                  <a:pt x="8407" y="1000"/>
                </a:lnTo>
                <a:cubicBezTo>
                  <a:pt x="8312" y="1000"/>
                  <a:pt x="8241" y="1072"/>
                  <a:pt x="8241" y="1143"/>
                </a:cubicBezTo>
                <a:cubicBezTo>
                  <a:pt x="8241" y="1239"/>
                  <a:pt x="8312" y="1286"/>
                  <a:pt x="8407" y="1286"/>
                </a:cubicBezTo>
                <a:lnTo>
                  <a:pt x="9503" y="1286"/>
                </a:lnTo>
                <a:lnTo>
                  <a:pt x="9503" y="7335"/>
                </a:lnTo>
                <a:cubicBezTo>
                  <a:pt x="9503" y="7359"/>
                  <a:pt x="9479" y="7383"/>
                  <a:pt x="9455" y="7383"/>
                </a:cubicBezTo>
                <a:lnTo>
                  <a:pt x="692" y="7383"/>
                </a:lnTo>
                <a:cubicBezTo>
                  <a:pt x="668" y="7383"/>
                  <a:pt x="644" y="7359"/>
                  <a:pt x="644" y="7335"/>
                </a:cubicBezTo>
                <a:lnTo>
                  <a:pt x="644" y="5835"/>
                </a:lnTo>
                <a:cubicBezTo>
                  <a:pt x="644" y="5740"/>
                  <a:pt x="572" y="5692"/>
                  <a:pt x="477" y="5692"/>
                </a:cubicBezTo>
                <a:cubicBezTo>
                  <a:pt x="406" y="5692"/>
                  <a:pt x="334" y="5740"/>
                  <a:pt x="334" y="5835"/>
                </a:cubicBezTo>
                <a:lnTo>
                  <a:pt x="334" y="7335"/>
                </a:lnTo>
                <a:cubicBezTo>
                  <a:pt x="334" y="7526"/>
                  <a:pt x="501" y="7668"/>
                  <a:pt x="692" y="7668"/>
                </a:cubicBezTo>
                <a:lnTo>
                  <a:pt x="4907" y="7668"/>
                </a:lnTo>
                <a:lnTo>
                  <a:pt x="4907" y="8264"/>
                </a:lnTo>
                <a:cubicBezTo>
                  <a:pt x="4669" y="8335"/>
                  <a:pt x="4502" y="8550"/>
                  <a:pt x="4502" y="8812"/>
                </a:cubicBezTo>
                <a:cubicBezTo>
                  <a:pt x="4502" y="9121"/>
                  <a:pt x="4740" y="9383"/>
                  <a:pt x="5073" y="9383"/>
                </a:cubicBezTo>
                <a:cubicBezTo>
                  <a:pt x="5383" y="9383"/>
                  <a:pt x="5621" y="9121"/>
                  <a:pt x="5621" y="8812"/>
                </a:cubicBezTo>
                <a:cubicBezTo>
                  <a:pt x="5621" y="8550"/>
                  <a:pt x="5454" y="8335"/>
                  <a:pt x="5216" y="8264"/>
                </a:cubicBezTo>
                <a:lnTo>
                  <a:pt x="5216" y="7668"/>
                </a:lnTo>
                <a:lnTo>
                  <a:pt x="9431" y="7668"/>
                </a:lnTo>
                <a:cubicBezTo>
                  <a:pt x="9622" y="7668"/>
                  <a:pt x="9789" y="7526"/>
                  <a:pt x="9789" y="7335"/>
                </a:cubicBezTo>
                <a:lnTo>
                  <a:pt x="9789" y="1286"/>
                </a:lnTo>
                <a:cubicBezTo>
                  <a:pt x="9979" y="1286"/>
                  <a:pt x="10122" y="1143"/>
                  <a:pt x="10122" y="953"/>
                </a:cubicBezTo>
                <a:lnTo>
                  <a:pt x="10122" y="357"/>
                </a:lnTo>
                <a:cubicBezTo>
                  <a:pt x="10122" y="167"/>
                  <a:pt x="9979" y="0"/>
                  <a:pt x="9789" y="0"/>
                </a:cubicBezTo>
                <a:close/>
              </a:path>
            </a:pathLst>
          </a:custGeom>
          <a:solidFill>
            <a:srgbClr val="FD0C5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9" name="Google Shape;2807;p94">
            <a:extLst>
              <a:ext uri="{FF2B5EF4-FFF2-40B4-BE49-F238E27FC236}">
                <a16:creationId xmlns:a16="http://schemas.microsoft.com/office/drawing/2014/main" id="{03D26D72-6983-4EF2-8819-908F4C3C60E4}"/>
              </a:ext>
            </a:extLst>
          </p:cNvPr>
          <p:cNvSpPr>
            <a:spLocks noGrp="1"/>
          </p:cNvSpPr>
          <p:nvPr/>
        </p:nvSpPr>
        <p:spPr>
          <a:xfrm>
            <a:off x="10315126" y="2192350"/>
            <a:ext cx="99083" cy="21254"/>
          </a:xfrm>
          <a:custGeom>
            <a:avLst/>
            <a:gdLst/>
            <a:ahLst/>
            <a:cxnLst/>
            <a:rect l="l" t="t" r="r" b="b"/>
            <a:pathLst>
              <a:path w="1358" h="287">
                <a:moveTo>
                  <a:pt x="167" y="1"/>
                </a:moveTo>
                <a:cubicBezTo>
                  <a:pt x="72" y="1"/>
                  <a:pt x="0" y="72"/>
                  <a:pt x="0" y="144"/>
                </a:cubicBezTo>
                <a:cubicBezTo>
                  <a:pt x="0" y="239"/>
                  <a:pt x="72" y="286"/>
                  <a:pt x="167" y="286"/>
                </a:cubicBezTo>
                <a:lnTo>
                  <a:pt x="1191" y="286"/>
                </a:lnTo>
                <a:cubicBezTo>
                  <a:pt x="1286" y="286"/>
                  <a:pt x="1358" y="239"/>
                  <a:pt x="1358" y="144"/>
                </a:cubicBezTo>
                <a:cubicBezTo>
                  <a:pt x="1334" y="72"/>
                  <a:pt x="1286" y="1"/>
                  <a:pt x="1191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0" name="Google Shape;2808;p94">
            <a:extLst>
              <a:ext uri="{FF2B5EF4-FFF2-40B4-BE49-F238E27FC236}">
                <a16:creationId xmlns:a16="http://schemas.microsoft.com/office/drawing/2014/main" id="{F73A84BD-EA2A-4D95-A6B3-BA2F7CC3FA17}"/>
              </a:ext>
            </a:extLst>
          </p:cNvPr>
          <p:cNvSpPr>
            <a:spLocks noGrp="1"/>
          </p:cNvSpPr>
          <p:nvPr/>
        </p:nvSpPr>
        <p:spPr>
          <a:xfrm>
            <a:off x="10240413" y="2231154"/>
            <a:ext cx="173796" cy="23030"/>
          </a:xfrm>
          <a:custGeom>
            <a:avLst/>
            <a:gdLst/>
            <a:ahLst/>
            <a:cxnLst/>
            <a:rect l="l" t="t" r="r" b="b"/>
            <a:pathLst>
              <a:path w="2382" h="311">
                <a:moveTo>
                  <a:pt x="143" y="1"/>
                </a:moveTo>
                <a:cubicBezTo>
                  <a:pt x="72" y="1"/>
                  <a:pt x="0" y="72"/>
                  <a:pt x="0" y="143"/>
                </a:cubicBezTo>
                <a:cubicBezTo>
                  <a:pt x="0" y="239"/>
                  <a:pt x="72" y="310"/>
                  <a:pt x="143" y="310"/>
                </a:cubicBezTo>
                <a:lnTo>
                  <a:pt x="2215" y="310"/>
                </a:lnTo>
                <a:cubicBezTo>
                  <a:pt x="2310" y="310"/>
                  <a:pt x="2382" y="239"/>
                  <a:pt x="2382" y="143"/>
                </a:cubicBezTo>
                <a:cubicBezTo>
                  <a:pt x="2382" y="72"/>
                  <a:pt x="2310" y="1"/>
                  <a:pt x="2215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1" name="Google Shape;2809;p94">
            <a:extLst>
              <a:ext uri="{FF2B5EF4-FFF2-40B4-BE49-F238E27FC236}">
                <a16:creationId xmlns:a16="http://schemas.microsoft.com/office/drawing/2014/main" id="{790C7646-D6B3-419D-BDF3-09F1AA2B3135}"/>
              </a:ext>
            </a:extLst>
          </p:cNvPr>
          <p:cNvSpPr>
            <a:spLocks noGrp="1"/>
          </p:cNvSpPr>
          <p:nvPr/>
        </p:nvSpPr>
        <p:spPr>
          <a:xfrm>
            <a:off x="10240413" y="1903160"/>
            <a:ext cx="36555" cy="22957"/>
          </a:xfrm>
          <a:custGeom>
            <a:avLst/>
            <a:gdLst/>
            <a:ahLst/>
            <a:cxnLst/>
            <a:rect l="l" t="t" r="r" b="b"/>
            <a:pathLst>
              <a:path w="501" h="310">
                <a:moveTo>
                  <a:pt x="143" y="0"/>
                </a:moveTo>
                <a:cubicBezTo>
                  <a:pt x="72" y="0"/>
                  <a:pt x="0" y="72"/>
                  <a:pt x="0" y="143"/>
                </a:cubicBezTo>
                <a:cubicBezTo>
                  <a:pt x="0" y="238"/>
                  <a:pt x="72" y="310"/>
                  <a:pt x="143" y="310"/>
                </a:cubicBezTo>
                <a:lnTo>
                  <a:pt x="334" y="310"/>
                </a:lnTo>
                <a:cubicBezTo>
                  <a:pt x="429" y="310"/>
                  <a:pt x="500" y="238"/>
                  <a:pt x="500" y="143"/>
                </a:cubicBezTo>
                <a:cubicBezTo>
                  <a:pt x="500" y="72"/>
                  <a:pt x="429" y="0"/>
                  <a:pt x="334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2" name="Google Shape;2810;p94">
            <a:extLst>
              <a:ext uri="{FF2B5EF4-FFF2-40B4-BE49-F238E27FC236}">
                <a16:creationId xmlns:a16="http://schemas.microsoft.com/office/drawing/2014/main" id="{8FB3E07A-5D5E-4301-807A-B5A2E27785E1}"/>
              </a:ext>
            </a:extLst>
          </p:cNvPr>
          <p:cNvSpPr>
            <a:spLocks noGrp="1"/>
          </p:cNvSpPr>
          <p:nvPr/>
        </p:nvSpPr>
        <p:spPr>
          <a:xfrm>
            <a:off x="10294259" y="1903160"/>
            <a:ext cx="119950" cy="22957"/>
          </a:xfrm>
          <a:custGeom>
            <a:avLst/>
            <a:gdLst/>
            <a:ahLst/>
            <a:cxnLst/>
            <a:rect l="l" t="t" r="r" b="b"/>
            <a:pathLst>
              <a:path w="1644" h="310">
                <a:moveTo>
                  <a:pt x="143" y="0"/>
                </a:moveTo>
                <a:cubicBezTo>
                  <a:pt x="72" y="0"/>
                  <a:pt x="1" y="72"/>
                  <a:pt x="1" y="143"/>
                </a:cubicBezTo>
                <a:cubicBezTo>
                  <a:pt x="1" y="238"/>
                  <a:pt x="72" y="310"/>
                  <a:pt x="143" y="310"/>
                </a:cubicBezTo>
                <a:lnTo>
                  <a:pt x="1477" y="310"/>
                </a:lnTo>
                <a:cubicBezTo>
                  <a:pt x="1572" y="310"/>
                  <a:pt x="1644" y="238"/>
                  <a:pt x="1644" y="143"/>
                </a:cubicBezTo>
                <a:cubicBezTo>
                  <a:pt x="1644" y="72"/>
                  <a:pt x="1572" y="0"/>
                  <a:pt x="1477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3" name="Google Shape;2811;p94">
            <a:extLst>
              <a:ext uri="{FF2B5EF4-FFF2-40B4-BE49-F238E27FC236}">
                <a16:creationId xmlns:a16="http://schemas.microsoft.com/office/drawing/2014/main" id="{EC9E0779-D157-4AE3-A4AE-1572197E3A61}"/>
              </a:ext>
            </a:extLst>
          </p:cNvPr>
          <p:cNvSpPr>
            <a:spLocks noGrp="1"/>
          </p:cNvSpPr>
          <p:nvPr/>
        </p:nvSpPr>
        <p:spPr>
          <a:xfrm>
            <a:off x="10240413" y="1943669"/>
            <a:ext cx="173796" cy="21254"/>
          </a:xfrm>
          <a:custGeom>
            <a:avLst/>
            <a:gdLst/>
            <a:ahLst/>
            <a:cxnLst/>
            <a:rect l="l" t="t" r="r" b="b"/>
            <a:pathLst>
              <a:path w="2382" h="287">
                <a:moveTo>
                  <a:pt x="143" y="1"/>
                </a:moveTo>
                <a:cubicBezTo>
                  <a:pt x="72" y="1"/>
                  <a:pt x="0" y="48"/>
                  <a:pt x="0" y="144"/>
                </a:cubicBezTo>
                <a:cubicBezTo>
                  <a:pt x="0" y="215"/>
                  <a:pt x="72" y="287"/>
                  <a:pt x="143" y="287"/>
                </a:cubicBezTo>
                <a:lnTo>
                  <a:pt x="2215" y="287"/>
                </a:lnTo>
                <a:cubicBezTo>
                  <a:pt x="2310" y="287"/>
                  <a:pt x="2382" y="215"/>
                  <a:pt x="2382" y="144"/>
                </a:cubicBezTo>
                <a:cubicBezTo>
                  <a:pt x="2382" y="48"/>
                  <a:pt x="2310" y="1"/>
                  <a:pt x="2215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4" name="Google Shape;2812;p94">
            <a:extLst>
              <a:ext uri="{FF2B5EF4-FFF2-40B4-BE49-F238E27FC236}">
                <a16:creationId xmlns:a16="http://schemas.microsoft.com/office/drawing/2014/main" id="{BCFE82E2-ACAF-448C-87DF-5498486058B1}"/>
              </a:ext>
            </a:extLst>
          </p:cNvPr>
          <p:cNvSpPr>
            <a:spLocks noGrp="1"/>
          </p:cNvSpPr>
          <p:nvPr/>
        </p:nvSpPr>
        <p:spPr>
          <a:xfrm>
            <a:off x="10240413" y="2008912"/>
            <a:ext cx="173796" cy="141225"/>
          </a:xfrm>
          <a:custGeom>
            <a:avLst/>
            <a:gdLst/>
            <a:ahLst/>
            <a:cxnLst/>
            <a:rect l="l" t="t" r="r" b="b"/>
            <a:pathLst>
              <a:path w="2382" h="1907">
                <a:moveTo>
                  <a:pt x="143" y="1"/>
                </a:moveTo>
                <a:cubicBezTo>
                  <a:pt x="48" y="1"/>
                  <a:pt x="0" y="49"/>
                  <a:pt x="0" y="144"/>
                </a:cubicBezTo>
                <a:lnTo>
                  <a:pt x="0" y="1763"/>
                </a:lnTo>
                <a:cubicBezTo>
                  <a:pt x="0" y="1835"/>
                  <a:pt x="72" y="1906"/>
                  <a:pt x="143" y="1906"/>
                </a:cubicBezTo>
                <a:lnTo>
                  <a:pt x="2215" y="1906"/>
                </a:lnTo>
                <a:cubicBezTo>
                  <a:pt x="2310" y="1906"/>
                  <a:pt x="2382" y="1835"/>
                  <a:pt x="2382" y="1763"/>
                </a:cubicBezTo>
                <a:cubicBezTo>
                  <a:pt x="2382" y="1668"/>
                  <a:pt x="2310" y="1597"/>
                  <a:pt x="2215" y="1597"/>
                </a:cubicBezTo>
                <a:lnTo>
                  <a:pt x="1858" y="1597"/>
                </a:lnTo>
                <a:lnTo>
                  <a:pt x="1858" y="311"/>
                </a:lnTo>
                <a:cubicBezTo>
                  <a:pt x="1858" y="239"/>
                  <a:pt x="1786" y="168"/>
                  <a:pt x="1715" y="168"/>
                </a:cubicBezTo>
                <a:cubicBezTo>
                  <a:pt x="1644" y="168"/>
                  <a:pt x="1572" y="239"/>
                  <a:pt x="1572" y="311"/>
                </a:cubicBezTo>
                <a:lnTo>
                  <a:pt x="1572" y="1597"/>
                </a:lnTo>
                <a:lnTo>
                  <a:pt x="1334" y="1597"/>
                </a:lnTo>
                <a:lnTo>
                  <a:pt x="1334" y="1120"/>
                </a:lnTo>
                <a:cubicBezTo>
                  <a:pt x="1334" y="1049"/>
                  <a:pt x="1263" y="977"/>
                  <a:pt x="1191" y="977"/>
                </a:cubicBezTo>
                <a:cubicBezTo>
                  <a:pt x="1096" y="977"/>
                  <a:pt x="1024" y="1049"/>
                  <a:pt x="1024" y="1120"/>
                </a:cubicBezTo>
                <a:lnTo>
                  <a:pt x="1024" y="1597"/>
                </a:lnTo>
                <a:lnTo>
                  <a:pt x="786" y="1597"/>
                </a:lnTo>
                <a:lnTo>
                  <a:pt x="786" y="763"/>
                </a:lnTo>
                <a:cubicBezTo>
                  <a:pt x="786" y="668"/>
                  <a:pt x="739" y="596"/>
                  <a:pt x="643" y="596"/>
                </a:cubicBezTo>
                <a:cubicBezTo>
                  <a:pt x="572" y="596"/>
                  <a:pt x="500" y="668"/>
                  <a:pt x="500" y="763"/>
                </a:cubicBezTo>
                <a:lnTo>
                  <a:pt x="500" y="1597"/>
                </a:lnTo>
                <a:lnTo>
                  <a:pt x="286" y="1597"/>
                </a:lnTo>
                <a:lnTo>
                  <a:pt x="286" y="144"/>
                </a:lnTo>
                <a:cubicBezTo>
                  <a:pt x="286" y="72"/>
                  <a:pt x="215" y="1"/>
                  <a:pt x="143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5" name="Google Shape;2813;p94">
            <a:extLst>
              <a:ext uri="{FF2B5EF4-FFF2-40B4-BE49-F238E27FC236}">
                <a16:creationId xmlns:a16="http://schemas.microsoft.com/office/drawing/2014/main" id="{FC69A224-7204-4F13-827A-8F6CFF13CA93}"/>
              </a:ext>
            </a:extLst>
          </p:cNvPr>
          <p:cNvSpPr>
            <a:spLocks noGrp="1"/>
          </p:cNvSpPr>
          <p:nvPr/>
        </p:nvSpPr>
        <p:spPr>
          <a:xfrm>
            <a:off x="9833790" y="1885460"/>
            <a:ext cx="364959" cy="370429"/>
          </a:xfrm>
          <a:custGeom>
            <a:avLst/>
            <a:gdLst/>
            <a:ahLst/>
            <a:cxnLst/>
            <a:rect l="l" t="t" r="r" b="b"/>
            <a:pathLst>
              <a:path w="5002" h="5002">
                <a:moveTo>
                  <a:pt x="2501" y="1215"/>
                </a:moveTo>
                <a:cubicBezTo>
                  <a:pt x="3216" y="1215"/>
                  <a:pt x="3811" y="1787"/>
                  <a:pt x="3811" y="2501"/>
                </a:cubicBezTo>
                <a:cubicBezTo>
                  <a:pt x="3811" y="3240"/>
                  <a:pt x="3216" y="3811"/>
                  <a:pt x="2501" y="3811"/>
                </a:cubicBezTo>
                <a:cubicBezTo>
                  <a:pt x="1787" y="3811"/>
                  <a:pt x="1215" y="3216"/>
                  <a:pt x="1215" y="2501"/>
                </a:cubicBezTo>
                <a:cubicBezTo>
                  <a:pt x="1215" y="1787"/>
                  <a:pt x="1787" y="1215"/>
                  <a:pt x="2501" y="1215"/>
                </a:cubicBezTo>
                <a:close/>
                <a:moveTo>
                  <a:pt x="4692" y="2668"/>
                </a:moveTo>
                <a:cubicBezTo>
                  <a:pt x="4668" y="3121"/>
                  <a:pt x="4502" y="3549"/>
                  <a:pt x="4216" y="3883"/>
                </a:cubicBezTo>
                <a:lnTo>
                  <a:pt x="3787" y="3454"/>
                </a:lnTo>
                <a:cubicBezTo>
                  <a:pt x="3954" y="3216"/>
                  <a:pt x="4073" y="2954"/>
                  <a:pt x="4097" y="2668"/>
                </a:cubicBezTo>
                <a:close/>
                <a:moveTo>
                  <a:pt x="2358" y="311"/>
                </a:moveTo>
                <a:lnTo>
                  <a:pt x="2358" y="930"/>
                </a:lnTo>
                <a:cubicBezTo>
                  <a:pt x="1549" y="1001"/>
                  <a:pt x="906" y="1692"/>
                  <a:pt x="906" y="2501"/>
                </a:cubicBezTo>
                <a:cubicBezTo>
                  <a:pt x="906" y="3383"/>
                  <a:pt x="1620" y="4097"/>
                  <a:pt x="2501" y="4097"/>
                </a:cubicBezTo>
                <a:cubicBezTo>
                  <a:pt x="2930" y="4097"/>
                  <a:pt x="3311" y="3954"/>
                  <a:pt x="3597" y="3668"/>
                </a:cubicBezTo>
                <a:cubicBezTo>
                  <a:pt x="3740" y="3811"/>
                  <a:pt x="3883" y="3954"/>
                  <a:pt x="4025" y="4097"/>
                </a:cubicBezTo>
                <a:cubicBezTo>
                  <a:pt x="3644" y="4478"/>
                  <a:pt x="3097" y="4716"/>
                  <a:pt x="2501" y="4716"/>
                </a:cubicBezTo>
                <a:cubicBezTo>
                  <a:pt x="1287" y="4716"/>
                  <a:pt x="310" y="3716"/>
                  <a:pt x="310" y="2501"/>
                </a:cubicBezTo>
                <a:cubicBezTo>
                  <a:pt x="310" y="1335"/>
                  <a:pt x="1215" y="382"/>
                  <a:pt x="2358" y="311"/>
                </a:cubicBezTo>
                <a:close/>
                <a:moveTo>
                  <a:pt x="2501" y="1"/>
                </a:moveTo>
                <a:cubicBezTo>
                  <a:pt x="1120" y="1"/>
                  <a:pt x="1" y="1144"/>
                  <a:pt x="1" y="2501"/>
                </a:cubicBezTo>
                <a:cubicBezTo>
                  <a:pt x="1" y="3883"/>
                  <a:pt x="1120" y="5002"/>
                  <a:pt x="2501" y="5002"/>
                </a:cubicBezTo>
                <a:cubicBezTo>
                  <a:pt x="3883" y="5002"/>
                  <a:pt x="5002" y="3883"/>
                  <a:pt x="5002" y="2501"/>
                </a:cubicBezTo>
                <a:cubicBezTo>
                  <a:pt x="5002" y="1978"/>
                  <a:pt x="4835" y="1477"/>
                  <a:pt x="4526" y="1049"/>
                </a:cubicBezTo>
                <a:cubicBezTo>
                  <a:pt x="4499" y="1009"/>
                  <a:pt x="4459" y="992"/>
                  <a:pt x="4415" y="992"/>
                </a:cubicBezTo>
                <a:cubicBezTo>
                  <a:pt x="4380" y="992"/>
                  <a:pt x="4343" y="1004"/>
                  <a:pt x="4311" y="1025"/>
                </a:cubicBezTo>
                <a:cubicBezTo>
                  <a:pt x="4264" y="1073"/>
                  <a:pt x="4240" y="1144"/>
                  <a:pt x="4287" y="1215"/>
                </a:cubicBezTo>
                <a:cubicBezTo>
                  <a:pt x="4526" y="1549"/>
                  <a:pt x="4668" y="1954"/>
                  <a:pt x="4692" y="2359"/>
                </a:cubicBezTo>
                <a:lnTo>
                  <a:pt x="4097" y="2359"/>
                </a:lnTo>
                <a:cubicBezTo>
                  <a:pt x="4025" y="1597"/>
                  <a:pt x="3406" y="1001"/>
                  <a:pt x="2644" y="930"/>
                </a:cubicBezTo>
                <a:lnTo>
                  <a:pt x="2644" y="311"/>
                </a:lnTo>
                <a:cubicBezTo>
                  <a:pt x="3097" y="334"/>
                  <a:pt x="3501" y="501"/>
                  <a:pt x="3859" y="787"/>
                </a:cubicBezTo>
                <a:cubicBezTo>
                  <a:pt x="3886" y="805"/>
                  <a:pt x="3917" y="813"/>
                  <a:pt x="3947" y="813"/>
                </a:cubicBezTo>
                <a:cubicBezTo>
                  <a:pt x="3996" y="813"/>
                  <a:pt x="4044" y="792"/>
                  <a:pt x="4073" y="763"/>
                </a:cubicBezTo>
                <a:cubicBezTo>
                  <a:pt x="4121" y="692"/>
                  <a:pt x="4121" y="596"/>
                  <a:pt x="4049" y="549"/>
                </a:cubicBezTo>
                <a:cubicBezTo>
                  <a:pt x="3597" y="191"/>
                  <a:pt x="3073" y="1"/>
                  <a:pt x="2501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6" name="Google Shape;2814;p94">
            <a:extLst>
              <a:ext uri="{FF2B5EF4-FFF2-40B4-BE49-F238E27FC236}">
                <a16:creationId xmlns:a16="http://schemas.microsoft.com/office/drawing/2014/main" id="{CC942708-1EED-4719-A7AB-15E25B610BA4}"/>
              </a:ext>
            </a:extLst>
          </p:cNvPr>
          <p:cNvSpPr>
            <a:spLocks noGrp="1"/>
          </p:cNvSpPr>
          <p:nvPr/>
        </p:nvSpPr>
        <p:spPr>
          <a:xfrm>
            <a:off x="9844225" y="2227156"/>
            <a:ext cx="52240" cy="37620"/>
          </a:xfrm>
          <a:custGeom>
            <a:avLst/>
            <a:gdLst/>
            <a:ahLst/>
            <a:cxnLst/>
            <a:rect l="l" t="t" r="r" b="b"/>
            <a:pathLst>
              <a:path w="716" h="508">
                <a:moveTo>
                  <a:pt x="167" y="1"/>
                </a:moveTo>
                <a:cubicBezTo>
                  <a:pt x="132" y="1"/>
                  <a:pt x="96" y="19"/>
                  <a:pt x="72" y="55"/>
                </a:cubicBezTo>
                <a:cubicBezTo>
                  <a:pt x="1" y="102"/>
                  <a:pt x="1" y="197"/>
                  <a:pt x="72" y="245"/>
                </a:cubicBezTo>
                <a:lnTo>
                  <a:pt x="263" y="459"/>
                </a:lnTo>
                <a:cubicBezTo>
                  <a:pt x="286" y="483"/>
                  <a:pt x="334" y="507"/>
                  <a:pt x="358" y="507"/>
                </a:cubicBezTo>
                <a:cubicBezTo>
                  <a:pt x="405" y="507"/>
                  <a:pt x="429" y="483"/>
                  <a:pt x="477" y="459"/>
                </a:cubicBezTo>
                <a:lnTo>
                  <a:pt x="667" y="245"/>
                </a:lnTo>
                <a:cubicBezTo>
                  <a:pt x="715" y="197"/>
                  <a:pt x="715" y="102"/>
                  <a:pt x="667" y="55"/>
                </a:cubicBezTo>
                <a:cubicBezTo>
                  <a:pt x="632" y="19"/>
                  <a:pt x="590" y="1"/>
                  <a:pt x="551" y="1"/>
                </a:cubicBezTo>
                <a:cubicBezTo>
                  <a:pt x="513" y="1"/>
                  <a:pt x="477" y="19"/>
                  <a:pt x="453" y="55"/>
                </a:cubicBezTo>
                <a:lnTo>
                  <a:pt x="358" y="150"/>
                </a:lnTo>
                <a:lnTo>
                  <a:pt x="263" y="55"/>
                </a:lnTo>
                <a:cubicBezTo>
                  <a:pt x="239" y="19"/>
                  <a:pt x="203" y="1"/>
                  <a:pt x="167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7" name="Google Shape;2815;p94">
            <a:extLst>
              <a:ext uri="{FF2B5EF4-FFF2-40B4-BE49-F238E27FC236}">
                <a16:creationId xmlns:a16="http://schemas.microsoft.com/office/drawing/2014/main" id="{75757593-004B-4B1D-8138-0CAB416ECD5D}"/>
              </a:ext>
            </a:extLst>
          </p:cNvPr>
          <p:cNvSpPr>
            <a:spLocks noGrp="1"/>
          </p:cNvSpPr>
          <p:nvPr/>
        </p:nvSpPr>
        <p:spPr>
          <a:xfrm>
            <a:off x="10037138" y="2075044"/>
            <a:ext cx="52169" cy="36287"/>
          </a:xfrm>
          <a:custGeom>
            <a:avLst/>
            <a:gdLst/>
            <a:ahLst/>
            <a:cxnLst/>
            <a:rect l="l" t="t" r="r" b="b"/>
            <a:pathLst>
              <a:path w="715" h="490">
                <a:moveTo>
                  <a:pt x="164" y="1"/>
                </a:moveTo>
                <a:cubicBezTo>
                  <a:pt x="125" y="1"/>
                  <a:pt x="83" y="13"/>
                  <a:pt x="48" y="37"/>
                </a:cubicBezTo>
                <a:cubicBezTo>
                  <a:pt x="0" y="84"/>
                  <a:pt x="0" y="180"/>
                  <a:pt x="48" y="251"/>
                </a:cubicBezTo>
                <a:lnTo>
                  <a:pt x="238" y="442"/>
                </a:lnTo>
                <a:cubicBezTo>
                  <a:pt x="286" y="465"/>
                  <a:pt x="310" y="489"/>
                  <a:pt x="357" y="489"/>
                </a:cubicBezTo>
                <a:cubicBezTo>
                  <a:pt x="381" y="489"/>
                  <a:pt x="429" y="465"/>
                  <a:pt x="453" y="442"/>
                </a:cubicBezTo>
                <a:lnTo>
                  <a:pt x="667" y="251"/>
                </a:lnTo>
                <a:cubicBezTo>
                  <a:pt x="714" y="180"/>
                  <a:pt x="714" y="84"/>
                  <a:pt x="667" y="37"/>
                </a:cubicBezTo>
                <a:cubicBezTo>
                  <a:pt x="631" y="13"/>
                  <a:pt x="589" y="1"/>
                  <a:pt x="551" y="1"/>
                </a:cubicBezTo>
                <a:cubicBezTo>
                  <a:pt x="512" y="1"/>
                  <a:pt x="476" y="13"/>
                  <a:pt x="453" y="37"/>
                </a:cubicBezTo>
                <a:lnTo>
                  <a:pt x="357" y="132"/>
                </a:lnTo>
                <a:lnTo>
                  <a:pt x="262" y="37"/>
                </a:lnTo>
                <a:cubicBezTo>
                  <a:pt x="238" y="13"/>
                  <a:pt x="202" y="1"/>
                  <a:pt x="164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8" name="Google Shape;2816;p94">
            <a:extLst>
              <a:ext uri="{FF2B5EF4-FFF2-40B4-BE49-F238E27FC236}">
                <a16:creationId xmlns:a16="http://schemas.microsoft.com/office/drawing/2014/main" id="{E064EA9E-2DFD-4EA3-B711-1609C3E46F7B}"/>
              </a:ext>
            </a:extLst>
          </p:cNvPr>
          <p:cNvSpPr>
            <a:spLocks noGrp="1"/>
          </p:cNvSpPr>
          <p:nvPr/>
        </p:nvSpPr>
        <p:spPr>
          <a:xfrm>
            <a:off x="10151762" y="1905752"/>
            <a:ext cx="52240" cy="36287"/>
          </a:xfrm>
          <a:custGeom>
            <a:avLst/>
            <a:gdLst/>
            <a:ahLst/>
            <a:cxnLst/>
            <a:rect l="l" t="t" r="r" b="b"/>
            <a:pathLst>
              <a:path w="716" h="490">
                <a:moveTo>
                  <a:pt x="168" y="1"/>
                </a:moveTo>
                <a:cubicBezTo>
                  <a:pt x="132" y="1"/>
                  <a:pt x="96" y="13"/>
                  <a:pt x="72" y="37"/>
                </a:cubicBezTo>
                <a:cubicBezTo>
                  <a:pt x="1" y="84"/>
                  <a:pt x="1" y="179"/>
                  <a:pt x="72" y="251"/>
                </a:cubicBezTo>
                <a:lnTo>
                  <a:pt x="263" y="441"/>
                </a:lnTo>
                <a:cubicBezTo>
                  <a:pt x="287" y="465"/>
                  <a:pt x="310" y="489"/>
                  <a:pt x="358" y="489"/>
                </a:cubicBezTo>
                <a:cubicBezTo>
                  <a:pt x="406" y="489"/>
                  <a:pt x="429" y="465"/>
                  <a:pt x="453" y="441"/>
                </a:cubicBezTo>
                <a:lnTo>
                  <a:pt x="668" y="251"/>
                </a:lnTo>
                <a:cubicBezTo>
                  <a:pt x="715" y="179"/>
                  <a:pt x="715" y="84"/>
                  <a:pt x="668" y="37"/>
                </a:cubicBezTo>
                <a:cubicBezTo>
                  <a:pt x="632" y="13"/>
                  <a:pt x="590" y="1"/>
                  <a:pt x="552" y="1"/>
                </a:cubicBezTo>
                <a:cubicBezTo>
                  <a:pt x="513" y="1"/>
                  <a:pt x="477" y="13"/>
                  <a:pt x="453" y="37"/>
                </a:cubicBezTo>
                <a:lnTo>
                  <a:pt x="358" y="132"/>
                </a:lnTo>
                <a:lnTo>
                  <a:pt x="263" y="37"/>
                </a:lnTo>
                <a:cubicBezTo>
                  <a:pt x="239" y="13"/>
                  <a:pt x="203" y="1"/>
                  <a:pt x="168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4E66C5A3-A3C5-30B4-C393-E9B38DD05805}"/>
              </a:ext>
            </a:extLst>
          </p:cNvPr>
          <p:cNvSpPr>
            <a:spLocks noGrp="1"/>
          </p:cNvSpPr>
          <p:nvPr/>
        </p:nvSpPr>
        <p:spPr>
          <a:xfrm>
            <a:off x="9337010" y="1396603"/>
            <a:ext cx="1504594" cy="1401168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cxnSp>
        <p:nvCxnSpPr>
          <p:cNvPr id="217" name="Google Shape;2799;p94"/>
          <p:cNvCxnSpPr/>
          <p:nvPr/>
        </p:nvCxnSpPr>
        <p:spPr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Прямоугольник 108">
            <a:extLst>
              <a:ext uri="{FF2B5EF4-FFF2-40B4-BE49-F238E27FC236}">
                <a16:creationId xmlns:a16="http://schemas.microsoft.com/office/drawing/2014/main" id="{796115F1-E396-4121-B4F4-8E6D67CB67C1}"/>
              </a:ext>
            </a:extLst>
          </p:cNvPr>
          <p:cNvSpPr>
            <a:spLocks noGrp="1"/>
          </p:cNvSpPr>
          <p:nvPr/>
        </p:nvSpPr>
        <p:spPr>
          <a:xfrm>
            <a:off x="361949" y="400050"/>
            <a:ext cx="3965187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ИНТЕРПРЕТИРУЕМОСТЬ И КОНТРОЛЬ</a:t>
            </a:r>
          </a:p>
        </p:txBody>
      </p:sp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442EB427-9402-4B66-8279-20D5727A009D}"/>
              </a:ext>
            </a:extLst>
          </p:cNvPr>
          <p:cNvSpPr>
            <a:spLocks noGrp="1"/>
          </p:cNvSpPr>
          <p:nvPr/>
        </p:nvSpPr>
        <p:spPr>
          <a:xfrm>
            <a:off x="190500" y="1238250"/>
            <a:ext cx="11811000" cy="5429250"/>
          </a:xfrm>
          <a:prstGeom prst="rect">
            <a:avLst/>
          </a:prstGeom>
          <a:solidFill>
            <a:srgbClr val="310F53"/>
          </a:solidFill>
          <a:ln w="0">
            <a:noFill/>
          </a:ln>
        </p:spPr>
      </p:sp>
      <p:sp>
        <p:nvSpPr>
          <p:cNvPr id="111" name="audit-panel">
            <a:extLst>
              <a:ext uri="{FF2B5EF4-FFF2-40B4-BE49-F238E27FC236}">
                <a16:creationId xmlns:a16="http://schemas.microsoft.com/office/drawing/2014/main" id="{13D8D1F1-A40C-4D4A-8222-63078C5EF27C}"/>
              </a:ext>
            </a:extLst>
          </p:cNvPr>
          <p:cNvSpPr>
            <a:spLocks noGrp="1"/>
          </p:cNvSpPr>
          <p:nvPr/>
        </p:nvSpPr>
        <p:spPr>
          <a:xfrm>
            <a:off x="523875" y="1466850"/>
            <a:ext cx="5286375" cy="4581525"/>
          </a:xfrm>
          <a:prstGeom prst="roundRect">
            <a:avLst>
              <a:gd name="adj" fmla="val 3742"/>
            </a:avLst>
          </a:prstGeom>
          <a:solidFill>
            <a:srgbClr val="FFFFFF"/>
          </a:solidFill>
          <a:ln w="9525">
            <a:solidFill>
              <a:srgbClr val="FFD6E4"/>
            </a:solidFill>
            <a:prstDash val="solid"/>
          </a:ln>
        </p:spPr>
      </p:sp>
      <p:sp>
        <p:nvSpPr>
          <p:cNvPr id="112" name="Прямоугольник: скругленные углы 111">
            <a:extLst>
              <a:ext uri="{FF2B5EF4-FFF2-40B4-BE49-F238E27FC236}">
                <a16:creationId xmlns:a16="http://schemas.microsoft.com/office/drawing/2014/main" id="{3D2F6C3D-906E-4FC1-932A-A171287BFCA1}"/>
              </a:ext>
            </a:extLst>
          </p:cNvPr>
          <p:cNvSpPr>
            <a:spLocks noGrp="1"/>
          </p:cNvSpPr>
          <p:nvPr/>
        </p:nvSpPr>
        <p:spPr>
          <a:xfrm>
            <a:off x="6238875" y="1466850"/>
            <a:ext cx="5238750" cy="1495425"/>
          </a:xfrm>
          <a:prstGeom prst="roundRect">
            <a:avLst>
              <a:gd name="adj" fmla="val 10191"/>
            </a:avLst>
          </a:prstGeom>
          <a:solidFill>
            <a:srgbClr val="FFFFFF"/>
          </a:solidFill>
          <a:ln w="9525">
            <a:solidFill>
              <a:srgbClr val="FFD6E4"/>
            </a:solidFill>
            <a:prstDash val="solid"/>
          </a:ln>
        </p:spPr>
      </p:sp>
      <p:sp>
        <p:nvSpPr>
          <p:cNvPr id="113" name="Прямоугольник: скругленные углы 112">
            <a:extLst>
              <a:ext uri="{FF2B5EF4-FFF2-40B4-BE49-F238E27FC236}">
                <a16:creationId xmlns:a16="http://schemas.microsoft.com/office/drawing/2014/main" id="{2F2723D4-D662-418D-9132-045609E08C4A}"/>
              </a:ext>
            </a:extLst>
          </p:cNvPr>
          <p:cNvSpPr>
            <a:spLocks noGrp="1"/>
          </p:cNvSpPr>
          <p:nvPr/>
        </p:nvSpPr>
        <p:spPr>
          <a:xfrm>
            <a:off x="6238875" y="3162300"/>
            <a:ext cx="5238750" cy="1495425"/>
          </a:xfrm>
          <a:prstGeom prst="roundRect">
            <a:avLst>
              <a:gd name="adj" fmla="val 10191"/>
            </a:avLst>
          </a:prstGeom>
          <a:solidFill>
            <a:srgbClr val="FFFFFF"/>
          </a:solidFill>
          <a:ln w="9525">
            <a:solidFill>
              <a:srgbClr val="FFD6E4"/>
            </a:solidFill>
            <a:prstDash val="solid"/>
          </a:ln>
        </p:spPr>
      </p:sp>
      <p:sp>
        <p:nvSpPr>
          <p:cNvPr id="114" name="Прямоугольник: скругленные углы 113">
            <a:extLst>
              <a:ext uri="{FF2B5EF4-FFF2-40B4-BE49-F238E27FC236}">
                <a16:creationId xmlns:a16="http://schemas.microsoft.com/office/drawing/2014/main" id="{34505835-B630-49CF-9E19-5CAF460B142E}"/>
              </a:ext>
            </a:extLst>
          </p:cNvPr>
          <p:cNvSpPr>
            <a:spLocks noGrp="1"/>
          </p:cNvSpPr>
          <p:nvPr/>
        </p:nvSpPr>
        <p:spPr>
          <a:xfrm>
            <a:off x="6238875" y="4857750"/>
            <a:ext cx="5238750" cy="1190625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9525">
            <a:solidFill>
              <a:srgbClr val="FFD6E4"/>
            </a:solidFill>
            <a:prstDash val="solid"/>
          </a:ln>
        </p:spPr>
      </p:sp>
      <p:sp>
        <p:nvSpPr>
          <p:cNvPr id="115" name="Прямоугольник 114">
            <a:extLst>
              <a:ext uri="{FF2B5EF4-FFF2-40B4-BE49-F238E27FC236}">
                <a16:creationId xmlns:a16="http://schemas.microsoft.com/office/drawing/2014/main" id="{C7BE51AA-3447-44CD-A277-59C1549A1B04}"/>
              </a:ext>
            </a:extLst>
          </p:cNvPr>
          <p:cNvSpPr>
            <a:spLocks noGrp="1"/>
          </p:cNvSpPr>
          <p:nvPr/>
        </p:nvSpPr>
        <p:spPr>
          <a:xfrm>
            <a:off x="838200" y="1809750"/>
            <a:ext cx="46672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Проверка по цепочке доказательств</a:t>
            </a:r>
          </a:p>
        </p:txBody>
      </p:sp>
      <p:sp>
        <p:nvSpPr>
          <p:cNvPr id="116" name="Прямоугольник 115">
            <a:extLst>
              <a:ext uri="{FF2B5EF4-FFF2-40B4-BE49-F238E27FC236}">
                <a16:creationId xmlns:a16="http://schemas.microsoft.com/office/drawing/2014/main" id="{F5E76565-5805-42E5-84AC-BA922A7A197A}"/>
              </a:ext>
            </a:extLst>
          </p:cNvPr>
          <p:cNvSpPr>
            <a:spLocks noGrp="1"/>
          </p:cNvSpPr>
          <p:nvPr/>
        </p:nvSpPr>
        <p:spPr>
          <a:xfrm>
            <a:off x="838200" y="2647950"/>
            <a:ext cx="4619625" cy="285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19050" bIns="0" anchor="t">
            <a:normAutofit/>
          </a:bodyPr>
          <a:lstStyle/>
          <a:p>
            <a:pPr marL="215900" indent="-101600" algn="l">
              <a:lnSpc>
                <a:spcPct val="108000"/>
              </a:lnSpc>
              <a:spcAft>
                <a:spcPts val="1200"/>
              </a:spcAft>
              <a:buNone/>
              <a:defRPr sz="1238" b="0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238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Признаки и направление их вклада видны в карточке.</a:t>
            </a:r>
          </a:p>
          <a:p>
            <a:pPr marL="215900" indent="-101600" algn="l">
              <a:lnSpc>
                <a:spcPct val="108000"/>
              </a:lnSpc>
              <a:spcAft>
                <a:spcPts val="1200"/>
              </a:spcAft>
              <a:buNone/>
              <a:defRPr sz="1238" b="0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238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CatBoost объясняется через SHAP и замену признака на медиану.</a:t>
            </a:r>
          </a:p>
          <a:p>
            <a:pPr marL="215900" indent="-101600" algn="l">
              <a:lnSpc>
                <a:spcPct val="108000"/>
              </a:lnSpc>
              <a:spcAft>
                <a:spcPts val="1200"/>
              </a:spcAft>
              <a:buNone/>
              <a:defRPr sz="1238" b="0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238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HGT объясняется удалением ближайших документов и сущностей.</a:t>
            </a:r>
          </a:p>
          <a:p>
            <a:pPr marL="215900" indent="-101600" algn="l">
              <a:lnSpc>
                <a:spcPct val="108000"/>
              </a:lnSpc>
              <a:spcAft>
                <a:spcPts val="1200"/>
              </a:spcAft>
              <a:buNone/>
              <a:defRPr sz="1238" b="0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238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Эксперт открывает исходный документ и дословную цитату.</a:t>
            </a:r>
          </a:p>
          <a:p>
            <a:pPr marL="215900" indent="-101600" algn="l">
              <a:lnSpc>
                <a:spcPct val="108000"/>
              </a:lnSpc>
              <a:spcAft>
                <a:spcPts val="1200"/>
              </a:spcAft>
              <a:buNone/>
              <a:defRPr sz="1238" b="0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238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Дата, тип, язык, доверенность и независимые подтверждения доступны для аудита.</a:t>
            </a:r>
          </a:p>
        </p:txBody>
      </p:sp>
      <p:sp>
        <p:nvSpPr>
          <p:cNvPr id="117" name="Прямоугольник 116">
            <a:extLst>
              <a:ext uri="{FF2B5EF4-FFF2-40B4-BE49-F238E27FC236}">
                <a16:creationId xmlns:a16="http://schemas.microsoft.com/office/drawing/2014/main" id="{BB2448D7-A25A-429E-87A9-DBEEFC7878A9}"/>
              </a:ext>
            </a:extLst>
          </p:cNvPr>
          <p:cNvSpPr>
            <a:spLocks noGrp="1"/>
          </p:cNvSpPr>
          <p:nvPr/>
        </p:nvSpPr>
        <p:spPr>
          <a:xfrm>
            <a:off x="6619875" y="1676400"/>
            <a:ext cx="4476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ПОЧЕМУ ВКЛЮЧИЛИ</a:t>
            </a:r>
          </a:p>
        </p:txBody>
      </p:sp>
      <p:sp>
        <p:nvSpPr>
          <p:cNvPr id="118" name="Прямоугольник 117">
            <a:extLst>
              <a:ext uri="{FF2B5EF4-FFF2-40B4-BE49-F238E27FC236}">
                <a16:creationId xmlns:a16="http://schemas.microsoft.com/office/drawing/2014/main" id="{DAD83114-88E7-42D9-81AD-F1ABE4332661}"/>
              </a:ext>
            </a:extLst>
          </p:cNvPr>
          <p:cNvSpPr>
            <a:spLocks noGrp="1"/>
          </p:cNvSpPr>
          <p:nvPr/>
        </p:nvSpPr>
        <p:spPr>
          <a:xfrm>
            <a:off x="6619875" y="2009775"/>
            <a:ext cx="44767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63" b="0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163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Сильная новизна, рост, независимые источники и ранняя зрелость; вклад каждого фактора объяснён.</a:t>
            </a:r>
          </a:p>
        </p:txBody>
      </p:sp>
      <p:sp>
        <p:nvSpPr>
          <p:cNvPr id="119" name="Прямоугольник 118">
            <a:extLst>
              <a:ext uri="{FF2B5EF4-FFF2-40B4-BE49-F238E27FC236}">
                <a16:creationId xmlns:a16="http://schemas.microsoft.com/office/drawing/2014/main" id="{0293DAC1-4DC6-46E0-8364-83E43559E05B}"/>
              </a:ext>
            </a:extLst>
          </p:cNvPr>
          <p:cNvSpPr>
            <a:spLocks noGrp="1"/>
          </p:cNvSpPr>
          <p:nvPr/>
        </p:nvSpPr>
        <p:spPr>
          <a:xfrm>
            <a:off x="6619875" y="3362325"/>
            <a:ext cx="4476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ПОЧЕМУ ИСКЛЮЧИЛИ</a:t>
            </a:r>
          </a:p>
        </p:txBody>
      </p:sp>
      <p:sp>
        <p:nvSpPr>
          <p:cNvPr id="120" name="Прямоугольник 119">
            <a:extLst>
              <a:ext uri="{FF2B5EF4-FFF2-40B4-BE49-F238E27FC236}">
                <a16:creationId xmlns:a16="http://schemas.microsoft.com/office/drawing/2014/main" id="{19445D38-C479-4B2D-8AF9-7C6456B1B166}"/>
              </a:ext>
            </a:extLst>
          </p:cNvPr>
          <p:cNvSpPr>
            <a:spLocks noGrp="1"/>
          </p:cNvSpPr>
          <p:nvPr/>
        </p:nvSpPr>
        <p:spPr>
          <a:xfrm>
            <a:off x="6619875" y="3695700"/>
            <a:ext cx="44767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63" b="0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163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Зрелый рынок, стандарт, массовое внедрение, хайп, один слабый источник или информационный шум.</a:t>
            </a:r>
          </a:p>
        </p:txBody>
      </p:sp>
      <p:sp>
        <p:nvSpPr>
          <p:cNvPr id="121" name="Прямоугольник 120">
            <a:extLst>
              <a:ext uri="{FF2B5EF4-FFF2-40B4-BE49-F238E27FC236}">
                <a16:creationId xmlns:a16="http://schemas.microsoft.com/office/drawing/2014/main" id="{6F4F95CC-A68A-48F0-9FC7-2601586F5F3B}"/>
              </a:ext>
            </a:extLst>
          </p:cNvPr>
          <p:cNvSpPr>
            <a:spLocks noGrp="1"/>
          </p:cNvSpPr>
          <p:nvPr/>
        </p:nvSpPr>
        <p:spPr>
          <a:xfrm>
            <a:off x="6619875" y="5057775"/>
            <a:ext cx="4476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ЧТО ВИДИТ ЭКСПЕРТ</a:t>
            </a:r>
          </a:p>
        </p:txBody>
      </p:sp>
      <p:sp>
        <p:nvSpPr>
          <p:cNvPr id="122" name="Прямоугольник 121">
            <a:extLst>
              <a:ext uri="{FF2B5EF4-FFF2-40B4-BE49-F238E27FC236}">
                <a16:creationId xmlns:a16="http://schemas.microsoft.com/office/drawing/2014/main" id="{60B57F9D-5D5B-427E-90E0-7A9E387B90B2}"/>
              </a:ext>
            </a:extLst>
          </p:cNvPr>
          <p:cNvSpPr>
            <a:spLocks noGrp="1"/>
          </p:cNvSpPr>
          <p:nvPr/>
        </p:nvSpPr>
        <p:spPr>
          <a:xfrm>
            <a:off x="6619875" y="5391150"/>
            <a:ext cx="4476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63" b="0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163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Оригинал, цитату, метаданные источника, отметку автоперевода и статус независимой рецензии.</a:t>
            </a:r>
          </a:p>
        </p:txBody>
      </p:sp>
    </p:spTree>
    <p:extLst>
      <p:ext uri="{BB962C8B-B14F-4D97-AF65-F5344CB8AC3E}">
        <p14:creationId xmlns:p14="http://schemas.microsoft.com/office/powerpoint/2010/main" val="33803451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E0D9EF9A-DA2D-60AC-63A9-ACD551239B10}"/>
              </a:ext>
            </a:extLst>
          </p:cNvPr>
          <p:cNvSpPr>
            <a:spLocks noGrp="1"/>
          </p:cNvSpPr>
          <p:nvPr/>
        </p:nvSpPr>
        <p:spPr>
          <a:xfrm>
            <a:off x="346074" y="324562"/>
            <a:ext cx="3790919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346B550E-0CFF-4A79-B1FE-2EC1424EF86E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52DCC5B9-D646-4B76-891F-6FF4E74E9CB4}" type="slidenum">
              <a:rPr>
                <a:solidFill>
                  <a:schemeClr val="accent5"/>
                </a:solidFill>
              </a:rPr>
              <a:t>13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89C5FEE7-8855-4287-AE2D-52539F4D5F31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346075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b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B2C021-BD44-4085-92C0-42B29CA7DD4E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346075" y="1814077"/>
            <a:ext cx="2526079" cy="1120685"/>
          </a:xfrm>
        </p:spPr>
        <p:txBody>
          <a:bodyPr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26F0F5-5C67-466D-943E-F4703B2F2700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4832960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b="0">
              <a:solidFill>
                <a:schemeClr val="accent5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6D4997F-BA2F-417E-957D-7B6FF608CC45}"/>
              </a:ext>
            </a:extLst>
          </p:cNvPr>
          <p:cNvSpPr>
            <a:spLocks noGrp="1"/>
          </p:cNvSpPr>
          <p:nvPr>
            <p:ph type="body" idx="29"/>
          </p:nvPr>
        </p:nvSpPr>
        <p:spPr>
          <a:xfrm>
            <a:off x="4832960" y="1814077"/>
            <a:ext cx="2526079" cy="1120685"/>
          </a:xfrm>
        </p:spPr>
        <p:txBody>
          <a:bodyPr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04BBFFE-3199-451F-A356-405FEE6461C5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9330862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b="0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6B529974-604C-48E2-AD6F-070B19225F48}"/>
              </a:ext>
            </a:extLst>
          </p:cNvPr>
          <p:cNvSpPr>
            <a:spLocks noGrp="1"/>
          </p:cNvSpPr>
          <p:nvPr>
            <p:ph type="body" idx="31"/>
          </p:nvPr>
        </p:nvSpPr>
        <p:spPr>
          <a:xfrm>
            <a:off x="9330862" y="1814077"/>
            <a:ext cx="2526079" cy="1120685"/>
          </a:xfrm>
        </p:spPr>
        <p:txBody>
          <a:bodyPr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9C425FA5-5D8B-4070-9FEA-743FFC23DC9C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2593517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b="0">
              <a:solidFill>
                <a:schemeClr val="accent5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3E4BE6CF-D653-4C71-B520-8F640E846D62}"/>
              </a:ext>
            </a:extLst>
          </p:cNvPr>
          <p:cNvSpPr>
            <a:spLocks noGrp="1"/>
          </p:cNvSpPr>
          <p:nvPr>
            <p:ph type="body" idx="33"/>
          </p:nvPr>
        </p:nvSpPr>
        <p:spPr>
          <a:xfrm>
            <a:off x="2593517" y="5181340"/>
            <a:ext cx="2526079" cy="1120685"/>
          </a:xfrm>
        </p:spPr>
        <p:txBody>
          <a:bodyPr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E93D78-FBF8-4CFA-B0D4-B21070DBC331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7080402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b="0">
              <a:solidFill>
                <a:schemeClr val="accent5"/>
              </a:solidFill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931BD573-963A-40B6-8E80-802A897ACB26}"/>
              </a:ext>
            </a:extLst>
          </p:cNvPr>
          <p:cNvSpPr>
            <a:spLocks noGrp="1"/>
          </p:cNvSpPr>
          <p:nvPr>
            <p:ph type="body" idx="35"/>
          </p:nvPr>
        </p:nvSpPr>
        <p:spPr>
          <a:xfrm>
            <a:off x="7080402" y="5181340"/>
            <a:ext cx="2526079" cy="1120685"/>
          </a:xfrm>
        </p:spPr>
        <p:txBody>
          <a:bodyPr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362794C1-B5B6-4A36-BADD-F32FBA32C744}"/>
              </a:ext>
            </a:extLst>
          </p:cNvPr>
          <p:cNvSpPr>
            <a:spLocks noGrp="1"/>
          </p:cNvSpPr>
          <p:nvPr/>
        </p:nvSpPr>
        <p:spPr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8F2071A8-9E3E-4CEC-894B-994C9F7CFB92}"/>
              </a:ext>
            </a:extLst>
          </p:cNvPr>
          <p:cNvSpPr>
            <a:spLocks noGrp="1"/>
          </p:cNvSpPr>
          <p:nvPr/>
        </p:nvSpPr>
        <p:spPr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578D4EA7-56B2-4776-BED7-669CFDEC69B5}"/>
              </a:ext>
            </a:extLst>
          </p:cNvPr>
          <p:cNvSpPr>
            <a:spLocks noGrp="1"/>
          </p:cNvSpPr>
          <p:nvPr/>
        </p:nvSpPr>
        <p:spPr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37F3394C-0D56-4727-B378-B27D2025B48B}"/>
              </a:ext>
            </a:extLst>
          </p:cNvPr>
          <p:cNvSpPr>
            <a:spLocks noGrp="1"/>
          </p:cNvSpPr>
          <p:nvPr/>
        </p:nvSpPr>
        <p:spPr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A11A3DE8-939E-4A43-AD30-737893320CBC}"/>
              </a:ext>
            </a:extLst>
          </p:cNvPr>
          <p:cNvSpPr>
            <a:spLocks noGrp="1"/>
          </p:cNvSpPr>
          <p:nvPr/>
        </p:nvSpPr>
        <p:spPr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DB396D48-DEEA-4603-97D9-33DDAF8F798A}"/>
              </a:ext>
            </a:extLst>
          </p:cNvPr>
          <p:cNvSpPr>
            <a:spLocks noGrp="1"/>
          </p:cNvSpPr>
          <p:nvPr/>
        </p:nvSpPr>
        <p:spPr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346A5F05-DA80-4893-A0E9-EFC088CE7653}"/>
              </a:ext>
            </a:extLst>
          </p:cNvPr>
          <p:cNvSpPr>
            <a:spLocks noGrp="1"/>
          </p:cNvSpPr>
          <p:nvPr/>
        </p:nvSpPr>
        <p:spPr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83E3A0A6-8497-49CF-88C7-8E190986F853}"/>
              </a:ext>
            </a:extLst>
          </p:cNvPr>
          <p:cNvSpPr>
            <a:spLocks noGrp="1"/>
          </p:cNvSpPr>
          <p:nvPr/>
        </p:nvSpPr>
        <p:spPr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D07985E3-BBF5-4DAC-8622-DE454754D0C4}"/>
              </a:ext>
            </a:extLst>
          </p:cNvPr>
          <p:cNvSpPr>
            <a:spLocks noGrp="1"/>
          </p:cNvSpPr>
          <p:nvPr/>
        </p:nvSpPr>
        <p:spPr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3" name="Скругленный прямоугольник 42">
            <a:extLst>
              <a:ext uri="{FF2B5EF4-FFF2-40B4-BE49-F238E27FC236}">
                <a16:creationId xmlns:a16="http://schemas.microsoft.com/office/drawing/2014/main" id="{4E8CC8D8-3B02-4108-71E4-BDF385E41A76}"/>
              </a:ext>
            </a:extLst>
          </p:cNvPr>
          <p:cNvSpPr>
            <a:spLocks noGrp="1"/>
          </p:cNvSpPr>
          <p:nvPr/>
        </p:nvSpPr>
        <p:spPr>
          <a:xfrm>
            <a:off x="1191126" y="3508049"/>
            <a:ext cx="874814" cy="708179"/>
          </a:xfrm>
          <a:prstGeom prst="roundRect">
            <a:avLst/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r>
              <a:rPr sz="2400" b="1"/>
              <a:t>1</a:t>
            </a:r>
          </a:p>
        </p:txBody>
      </p:sp>
      <p:sp>
        <p:nvSpPr>
          <p:cNvPr id="44" name="Скругленный прямоугольник 43">
            <a:extLst>
              <a:ext uri="{FF2B5EF4-FFF2-40B4-BE49-F238E27FC236}">
                <a16:creationId xmlns:a16="http://schemas.microsoft.com/office/drawing/2014/main" id="{219852BA-89EA-AEC0-D3BB-81E4FBB78FBF}"/>
              </a:ext>
            </a:extLst>
          </p:cNvPr>
          <p:cNvSpPr>
            <a:spLocks noGrp="1"/>
          </p:cNvSpPr>
          <p:nvPr/>
        </p:nvSpPr>
        <p:spPr>
          <a:xfrm>
            <a:off x="3412397" y="3506136"/>
            <a:ext cx="874814" cy="708179"/>
          </a:xfrm>
          <a:prstGeom prst="roundRect">
            <a:avLst/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r>
              <a:rPr sz="2400" b="1"/>
              <a:t>2</a:t>
            </a:r>
          </a:p>
        </p:txBody>
      </p:sp>
      <p:sp>
        <p:nvSpPr>
          <p:cNvPr id="45" name="Скругленный прямоугольник 44">
            <a:extLst>
              <a:ext uri="{FF2B5EF4-FFF2-40B4-BE49-F238E27FC236}">
                <a16:creationId xmlns:a16="http://schemas.microsoft.com/office/drawing/2014/main" id="{BEB80488-DBD5-60E2-7B94-2C03FD2F73EC}"/>
              </a:ext>
            </a:extLst>
          </p:cNvPr>
          <p:cNvSpPr>
            <a:spLocks noGrp="1"/>
          </p:cNvSpPr>
          <p:nvPr/>
        </p:nvSpPr>
        <p:spPr>
          <a:xfrm>
            <a:off x="5658594" y="3516255"/>
            <a:ext cx="874814" cy="708179"/>
          </a:xfrm>
          <a:prstGeom prst="roundRect">
            <a:avLst/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r>
              <a:rPr sz="2400" b="1"/>
              <a:t>3</a:t>
            </a:r>
          </a:p>
        </p:txBody>
      </p:sp>
      <p:sp>
        <p:nvSpPr>
          <p:cNvPr id="53" name="Скругленный прямоугольник 52">
            <a:extLst>
              <a:ext uri="{FF2B5EF4-FFF2-40B4-BE49-F238E27FC236}">
                <a16:creationId xmlns:a16="http://schemas.microsoft.com/office/drawing/2014/main" id="{41C3924C-4DE8-D413-3F15-F71BBA421983}"/>
              </a:ext>
            </a:extLst>
          </p:cNvPr>
          <p:cNvSpPr>
            <a:spLocks noGrp="1"/>
          </p:cNvSpPr>
          <p:nvPr/>
        </p:nvSpPr>
        <p:spPr>
          <a:xfrm>
            <a:off x="7889752" y="3506135"/>
            <a:ext cx="874814" cy="708179"/>
          </a:xfrm>
          <a:prstGeom prst="roundRect">
            <a:avLst/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r>
              <a:rPr sz="2400" b="1"/>
              <a:t>4</a:t>
            </a:r>
          </a:p>
        </p:txBody>
      </p:sp>
      <p:sp>
        <p:nvSpPr>
          <p:cNvPr id="54" name="Скругленный прямоугольник 53">
            <a:extLst>
              <a:ext uri="{FF2B5EF4-FFF2-40B4-BE49-F238E27FC236}">
                <a16:creationId xmlns:a16="http://schemas.microsoft.com/office/drawing/2014/main" id="{5040D480-3D0A-377D-EDA1-4B45E5CE44A4}"/>
              </a:ext>
            </a:extLst>
          </p:cNvPr>
          <p:cNvSpPr>
            <a:spLocks noGrp="1"/>
          </p:cNvSpPr>
          <p:nvPr/>
        </p:nvSpPr>
        <p:spPr>
          <a:xfrm>
            <a:off x="10113012" y="3538626"/>
            <a:ext cx="874814" cy="708179"/>
          </a:xfrm>
          <a:prstGeom prst="roundRect">
            <a:avLst/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r>
              <a:rPr sz="2400" b="1"/>
              <a:t>5</a:t>
            </a: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BD4BFEA8-37B5-92D1-855E-4FF06BA59DA3}"/>
              </a:ext>
            </a:extLst>
          </p:cNvPr>
          <p:cNvSpPr>
            <a:spLocks noGrp="1"/>
          </p:cNvSpPr>
          <p:nvPr/>
        </p:nvSpPr>
        <p:spPr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endParaRPr sz="2400" b="1"/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21820900-0645-FD25-E909-18D394EFF3AF}"/>
              </a:ext>
            </a:extLst>
          </p:cNvPr>
          <p:cNvSpPr>
            <a:spLocks noGrp="1"/>
          </p:cNvSpPr>
          <p:nvPr/>
        </p:nvSpPr>
        <p:spPr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endParaRPr sz="2400" b="1"/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996865AC-684A-E392-11F5-A3160D858242}"/>
              </a:ext>
            </a:extLst>
          </p:cNvPr>
          <p:cNvSpPr>
            <a:spLocks noGrp="1"/>
          </p:cNvSpPr>
          <p:nvPr/>
        </p:nvSpPr>
        <p:spPr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endParaRPr sz="2400" b="1"/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1557C0D9-E1EE-FF6F-28CC-F2CF230BFDBA}"/>
              </a:ext>
            </a:extLst>
          </p:cNvPr>
          <p:cNvSpPr>
            <a:spLocks noGrp="1"/>
          </p:cNvSpPr>
          <p:nvPr/>
        </p:nvSpPr>
        <p:spPr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endParaRPr sz="2400" b="1"/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BC511278-171F-4030-656D-F6DA5B6264BC}"/>
              </a:ext>
            </a:extLst>
          </p:cNvPr>
          <p:cNvSpPr>
            <a:spLocks noGrp="1"/>
          </p:cNvSpPr>
          <p:nvPr/>
        </p:nvSpPr>
        <p:spPr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endParaRPr sz="2400" b="1"/>
          </a:p>
        </p:txBody>
      </p:sp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0C29A2CA-025F-49F1-B7B3-1E5AAEBD77DA}"/>
              </a:ext>
            </a:extLst>
          </p:cNvPr>
          <p:cNvSpPr>
            <a:spLocks noGrp="1"/>
          </p:cNvSpPr>
          <p:nvPr/>
        </p:nvSpPr>
        <p:spPr>
          <a:xfrm>
            <a:off x="190500" y="904875"/>
            <a:ext cx="11811000" cy="5715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56" name="content-title">
            <a:extLst>
              <a:ext uri="{FF2B5EF4-FFF2-40B4-BE49-F238E27FC236}">
                <a16:creationId xmlns:a16="http://schemas.microsoft.com/office/drawing/2014/main" id="{3FE43AC7-5355-40CC-A773-4B67F25551D6}"/>
              </a:ext>
            </a:extLst>
          </p:cNvPr>
          <p:cNvSpPr>
            <a:spLocks noGrp="1"/>
          </p:cNvSpPr>
          <p:nvPr/>
        </p:nvSpPr>
        <p:spPr>
          <a:xfrm>
            <a:off x="523875" y="390525"/>
            <a:ext cx="37147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2500"/>
          </a:bodyPr>
          <a:lstStyle/>
          <a:p>
            <a:pPr algn="l">
              <a:buNone/>
              <a:def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ПОЛЬЗОВАТЕЛЬСКИЙ СЦЕНАРИЙ</a:t>
            </a:r>
          </a:p>
        </p:txBody>
      </p:sp>
      <p:sp>
        <p:nvSpPr>
          <p:cNvPr id="57" name="Прямоугольник: скругленные углы 56">
            <a:extLst>
              <a:ext uri="{FF2B5EF4-FFF2-40B4-BE49-F238E27FC236}">
                <a16:creationId xmlns:a16="http://schemas.microsoft.com/office/drawing/2014/main" id="{4F5983AE-85E0-4B85-BC61-B63A6CFCE494}"/>
              </a:ext>
            </a:extLst>
          </p:cNvPr>
          <p:cNvSpPr>
            <a:spLocks noGrp="1"/>
          </p:cNvSpPr>
          <p:nvPr/>
        </p:nvSpPr>
        <p:spPr>
          <a:xfrm>
            <a:off x="619125" y="1476375"/>
            <a:ext cx="4857750" cy="276225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9050">
            <a:solidFill>
              <a:srgbClr val="FC3777"/>
            </a:solidFill>
            <a:prstDash val="solid"/>
          </a:ln>
        </p:spPr>
      </p:sp>
      <p:sp>
        <p:nvSpPr>
          <p:cNvPr id="58" name="Прямоугольник: скругленные углы 57">
            <a:extLst>
              <a:ext uri="{FF2B5EF4-FFF2-40B4-BE49-F238E27FC236}">
                <a16:creationId xmlns:a16="http://schemas.microsoft.com/office/drawing/2014/main" id="{03791E2B-F24C-4095-8C7D-08A5C8D924F9}"/>
              </a:ext>
            </a:extLst>
          </p:cNvPr>
          <p:cNvSpPr>
            <a:spLocks noGrp="1"/>
          </p:cNvSpPr>
          <p:nvPr/>
        </p:nvSpPr>
        <p:spPr>
          <a:xfrm>
            <a:off x="6715125" y="1476375"/>
            <a:ext cx="4857750" cy="276225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9050">
            <a:solidFill>
              <a:srgbClr val="FC3777"/>
            </a:solidFill>
            <a:prstDash val="solid"/>
          </a:ln>
        </p:spPr>
      </p:sp>
      <p:pic>
        <p:nvPicPr>
          <p:cNvPr id="103" name="Рисунок 101"/>
          <p:cNvPicPr>
            <a:picLocks noChangeAspect="1"/>
          </p:cNvPicPr>
          <p:nvPr/>
        </p:nvPicPr>
        <p:blipFill>
          <a:blip r:embed="rId4"/>
          <a:srcRect t="1020" b="1020"/>
          <a:stretch>
            <a:fillRect/>
          </a:stretch>
        </p:blipFill>
        <p:spPr>
          <a:xfrm>
            <a:off x="714375" y="1571625"/>
            <a:ext cx="4667250" cy="2571750"/>
          </a:xfrm>
          <a:prstGeom prst="rect">
            <a:avLst/>
          </a:prstGeom>
        </p:spPr>
      </p:pic>
      <p:pic>
        <p:nvPicPr>
          <p:cNvPr id="104" name="Рисунок 102"/>
          <p:cNvPicPr>
            <a:picLocks noChangeAspect="1"/>
          </p:cNvPicPr>
          <p:nvPr/>
        </p:nvPicPr>
        <p:blipFill>
          <a:blip r:embed="rId5"/>
          <a:srcRect t="1020" b="1020"/>
          <a:stretch>
            <a:fillRect/>
          </a:stretch>
        </p:blipFill>
        <p:spPr>
          <a:xfrm>
            <a:off x="6810375" y="1571625"/>
            <a:ext cx="4667250" cy="2571750"/>
          </a:xfrm>
          <a:prstGeom prst="rect">
            <a:avLst/>
          </a:prstGeom>
        </p:spPr>
      </p:pic>
      <p:sp>
        <p:nvSpPr>
          <p:cNvPr id="61" name="Прямоугольник 60">
            <a:extLst>
              <a:ext uri="{FF2B5EF4-FFF2-40B4-BE49-F238E27FC236}">
                <a16:creationId xmlns:a16="http://schemas.microsoft.com/office/drawing/2014/main" id="{E513589D-E824-4E9A-8298-0ADE7E57388C}"/>
              </a:ext>
            </a:extLst>
          </p:cNvPr>
          <p:cNvSpPr>
            <a:spLocks noGrp="1"/>
          </p:cNvSpPr>
          <p:nvPr/>
        </p:nvSpPr>
        <p:spPr>
          <a:xfrm>
            <a:off x="714375" y="4438650"/>
            <a:ext cx="4667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1. Открытый запрос и TOP-15</a:t>
            </a:r>
          </a:p>
        </p:txBody>
      </p:sp>
      <p:sp>
        <p:nvSpPr>
          <p:cNvPr id="62" name="Прямоугольник 61">
            <a:extLst>
              <a:ext uri="{FF2B5EF4-FFF2-40B4-BE49-F238E27FC236}">
                <a16:creationId xmlns:a16="http://schemas.microsoft.com/office/drawing/2014/main" id="{6F6110D2-D79C-4975-8389-91B851195FC8}"/>
              </a:ext>
            </a:extLst>
          </p:cNvPr>
          <p:cNvSpPr>
            <a:spLocks noGrp="1"/>
          </p:cNvSpPr>
          <p:nvPr/>
        </p:nvSpPr>
        <p:spPr>
          <a:xfrm>
            <a:off x="714375" y="4876800"/>
            <a:ext cx="466725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19050" bIns="0" anchor="t">
            <a:normAutofit/>
          </a:bodyPr>
          <a:lstStyle/>
          <a:p>
            <a:pPr marL="215900" indent="-101600" algn="l">
              <a:lnSpc>
                <a:spcPct val="108000"/>
              </a:lnSpc>
              <a:spcAft>
                <a:spcPts val="700"/>
              </a:spcAft>
              <a:buNone/>
              <a:defRPr sz="1163" b="0">
                <a:solidFill>
                  <a:srgbClr val="6E6476"/>
                </a:solidFill>
                <a:latin typeface="Montserrat"/>
                <a:ea typeface="Montserrat"/>
                <a:cs typeface="Montserrat"/>
              </a:defRPr>
            </a:pPr>
            <a:r>
              <a:rPr sz="1163" b="0">
                <a:solidFill>
                  <a:srgbClr val="6E6476"/>
                </a:solidFill>
                <a:latin typeface="Montserrat"/>
                <a:ea typeface="Montserrat"/>
                <a:cs typeface="Montserrat"/>
              </a:rPr>
              <a:t>Счётчики обработанных материалов и кандидатов.</a:t>
            </a:r>
          </a:p>
          <a:p>
            <a:pPr marL="215900" indent="-101600" algn="l">
              <a:lnSpc>
                <a:spcPct val="108000"/>
              </a:lnSpc>
              <a:spcAft>
                <a:spcPts val="700"/>
              </a:spcAft>
              <a:buNone/>
              <a:defRPr sz="1163" b="0">
                <a:solidFill>
                  <a:srgbClr val="6E6476"/>
                </a:solidFill>
                <a:latin typeface="Montserrat"/>
                <a:ea typeface="Montserrat"/>
                <a:cs typeface="Montserrat"/>
              </a:defRPr>
            </a:pPr>
            <a:r>
              <a:rPr sz="1163" b="0">
                <a:solidFill>
                  <a:srgbClr val="6E6476"/>
                </a:solidFill>
                <a:latin typeface="Montserrat"/>
                <a:ea typeface="Montserrat"/>
                <a:cs typeface="Montserrat"/>
              </a:rPr>
              <a:t>Скоринг, ключевые признаки, динамика и список исключений.</a:t>
            </a:r>
          </a:p>
        </p:txBody>
      </p:sp>
      <p:sp>
        <p:nvSpPr>
          <p:cNvPr id="63" name="Прямоугольник 62">
            <a:extLst>
              <a:ext uri="{FF2B5EF4-FFF2-40B4-BE49-F238E27FC236}">
                <a16:creationId xmlns:a16="http://schemas.microsoft.com/office/drawing/2014/main" id="{4A0327B6-9634-42CD-8F77-F53CFB8A26F3}"/>
              </a:ext>
            </a:extLst>
          </p:cNvPr>
          <p:cNvSpPr>
            <a:spLocks noGrp="1"/>
          </p:cNvSpPr>
          <p:nvPr/>
        </p:nvSpPr>
        <p:spPr>
          <a:xfrm>
            <a:off x="6810375" y="4438650"/>
            <a:ext cx="4667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2. Аналитическая справка</a:t>
            </a:r>
          </a:p>
        </p:txBody>
      </p:sp>
      <p:sp>
        <p:nvSpPr>
          <p:cNvPr id="64" name="Прямоугольник 63">
            <a:extLst>
              <a:ext uri="{FF2B5EF4-FFF2-40B4-BE49-F238E27FC236}">
                <a16:creationId xmlns:a16="http://schemas.microsoft.com/office/drawing/2014/main" id="{740E8B4B-A82D-46BE-AF05-4DF84EB1DE6E}"/>
              </a:ext>
            </a:extLst>
          </p:cNvPr>
          <p:cNvSpPr>
            <a:spLocks noGrp="1"/>
          </p:cNvSpPr>
          <p:nvPr/>
        </p:nvSpPr>
        <p:spPr>
          <a:xfrm>
            <a:off x="6810375" y="4876800"/>
            <a:ext cx="466725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19050" bIns="0" anchor="t">
            <a:normAutofit/>
          </a:bodyPr>
          <a:lstStyle/>
          <a:p>
            <a:pPr marL="215900" indent="-101600" algn="l">
              <a:lnSpc>
                <a:spcPct val="108000"/>
              </a:lnSpc>
              <a:spcAft>
                <a:spcPts val="700"/>
              </a:spcAft>
              <a:buNone/>
              <a:defRPr sz="1163" b="0">
                <a:solidFill>
                  <a:srgbClr val="6E6476"/>
                </a:solidFill>
                <a:latin typeface="Montserrat"/>
                <a:ea typeface="Montserrat"/>
                <a:cs typeface="Montserrat"/>
              </a:defRPr>
            </a:pPr>
            <a:r>
              <a:rPr sz="1163" b="0">
                <a:solidFill>
                  <a:srgbClr val="6E6476"/>
                </a:solidFill>
                <a:latin typeface="Montserrat"/>
                <a:ea typeface="Montserrat"/>
                <a:cs typeface="Montserrat"/>
              </a:rPr>
              <a:t>Описание, преимущества, кейсы и ключевые источники.</a:t>
            </a:r>
          </a:p>
          <a:p>
            <a:pPr marL="215900" indent="-101600" algn="l">
              <a:lnSpc>
                <a:spcPct val="108000"/>
              </a:lnSpc>
              <a:spcAft>
                <a:spcPts val="700"/>
              </a:spcAft>
              <a:buNone/>
              <a:defRPr sz="1163" b="0">
                <a:solidFill>
                  <a:srgbClr val="6E6476"/>
                </a:solidFill>
                <a:latin typeface="Montserrat"/>
                <a:ea typeface="Montserrat"/>
                <a:cs typeface="Montserrat"/>
              </a:defRPr>
            </a:pPr>
            <a:r>
              <a:rPr sz="1163" b="0">
                <a:solidFill>
                  <a:srgbClr val="6E6476"/>
                </a:solidFill>
                <a:latin typeface="Montserrat"/>
                <a:ea typeface="Montserrat"/>
                <a:cs typeface="Montserrat"/>
              </a:rPr>
              <a:t>Причина статуса, вклад признаков и граф связей.</a:t>
            </a:r>
          </a:p>
        </p:txBody>
      </p:sp>
      <p:sp>
        <p:nvSpPr>
          <p:cNvPr id="65" name="Прямоугольник 64">
            <a:extLst>
              <a:ext uri="{FF2B5EF4-FFF2-40B4-BE49-F238E27FC236}">
                <a16:creationId xmlns:a16="http://schemas.microsoft.com/office/drawing/2014/main" id="{FB17E9B1-080B-498A-A3A8-F50B28EACC12}"/>
              </a:ext>
            </a:extLst>
          </p:cNvPr>
          <p:cNvSpPr>
            <a:spLocks noGrp="1"/>
          </p:cNvSpPr>
          <p:nvPr/>
        </p:nvSpPr>
        <p:spPr>
          <a:xfrm>
            <a:off x="1190625" y="5953125"/>
            <a:ext cx="9810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938" b="0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938" b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Скриншоты интерфейса из демо-режима. Показанные технологии и числа синтетические.</a:t>
            </a:r>
          </a:p>
        </p:txBody>
      </p:sp>
    </p:spTree>
    <p:extLst>
      <p:ext uri="{BB962C8B-B14F-4D97-AF65-F5344CB8AC3E}">
        <p14:creationId xmlns:p14="http://schemas.microsoft.com/office/powerpoint/2010/main" val="21945992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39125108-8C0F-2F06-5739-B84F0E2F138C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2" name="AutoShape 1">
            <a:extLst>
              <a:ext uri="{FF2B5EF4-FFF2-40B4-BE49-F238E27FC236}">
                <a16:creationId xmlns:a16="http://schemas.microsoft.com/office/drawing/2014/main" id="{C5DD9855-9040-4A8E-8FC7-2A87D71D92A4}"/>
              </a:ext>
            </a:extLst>
          </p:cNvPr>
          <p:cNvSpPr>
            <a:spLocks noGrp="1"/>
          </p:cNvSpPr>
          <p:nvPr/>
        </p:nvSpPr>
        <p:spPr>
          <a:xfrm>
            <a:off x="1150498" y="1149443"/>
            <a:ext cx="4266586" cy="2822929"/>
          </a:xfrm>
          <a:prstGeom prst="roundRect">
            <a:avLst>
              <a:gd name="adj" fmla="val 1292"/>
            </a:avLst>
          </a:prstGeom>
          <a:solidFill>
            <a:schemeClr val="accent5"/>
          </a:solidFill>
          <a:ln w="25400">
            <a:noFill/>
            <a:prstDash val="solid"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tIns="0" rIns="0" bIns="0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1CA962FF-DEAF-450E-BAC9-2CBF039F5EDD}"/>
              </a:ext>
            </a:extLst>
          </p:cNvPr>
          <p:cNvSpPr>
            <a:spLocks noGrp="1"/>
          </p:cNvSpPr>
          <p:nvPr/>
        </p:nvSpPr>
        <p:spPr>
          <a:xfrm>
            <a:off x="1149124" y="1358784"/>
            <a:ext cx="4266587" cy="199825"/>
          </a:xfrm>
          <a:prstGeom prst="rect">
            <a:avLst/>
          </a:prstGeom>
          <a:solidFill>
            <a:schemeClr val="accent6">
              <a:lumMod val="50000"/>
            </a:schemeClr>
          </a:solidFill>
          <a:ln w="25400">
            <a:noFill/>
            <a:prstDash val="solid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14" name="AutoShape 3">
            <a:extLst>
              <a:ext uri="{FF2B5EF4-FFF2-40B4-BE49-F238E27FC236}">
                <a16:creationId xmlns:a16="http://schemas.microsoft.com/office/drawing/2014/main" id="{29B32C08-05E5-455D-AB4B-FA780C0B9C44}"/>
              </a:ext>
            </a:extLst>
          </p:cNvPr>
          <p:cNvSpPr>
            <a:spLocks noGrp="1"/>
          </p:cNvSpPr>
          <p:nvPr/>
        </p:nvSpPr>
        <p:spPr>
          <a:xfrm>
            <a:off x="1782205" y="1203365"/>
            <a:ext cx="1706634" cy="355244"/>
          </a:xfrm>
          <a:prstGeom prst="roundRect">
            <a:avLst>
              <a:gd name="adj" fmla="val 11986"/>
            </a:avLst>
          </a:prstGeom>
          <a:solidFill>
            <a:schemeClr val="accent6">
              <a:lumMod val="50000"/>
            </a:schemeClr>
          </a:solidFill>
          <a:ln w="25400">
            <a:noFill/>
            <a:prstDash val="solid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15" name="Oval 4">
            <a:extLst>
              <a:ext uri="{FF2B5EF4-FFF2-40B4-BE49-F238E27FC236}">
                <a16:creationId xmlns:a16="http://schemas.microsoft.com/office/drawing/2014/main" id="{DB5DCAC2-FF8B-4D8A-8761-EF6BE6B4CB79}"/>
              </a:ext>
            </a:extLst>
          </p:cNvPr>
          <p:cNvSpPr>
            <a:spLocks noGrp="1"/>
          </p:cNvSpPr>
          <p:nvPr/>
        </p:nvSpPr>
        <p:spPr>
          <a:xfrm>
            <a:off x="1218574" y="1225567"/>
            <a:ext cx="60220" cy="60265"/>
          </a:xfrm>
          <a:prstGeom prst="ellipse">
            <a:avLst/>
          </a:prstGeom>
          <a:solidFill>
            <a:schemeClr val="accent2"/>
          </a:solidFill>
          <a:ln w="25400">
            <a:noFill/>
            <a:prstDash val="solid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16" name="Oval 5">
            <a:extLst>
              <a:ext uri="{FF2B5EF4-FFF2-40B4-BE49-F238E27FC236}">
                <a16:creationId xmlns:a16="http://schemas.microsoft.com/office/drawing/2014/main" id="{A18062AF-728F-4F67-A9EE-6DA3DC1E6BBC}"/>
              </a:ext>
            </a:extLst>
          </p:cNvPr>
          <p:cNvSpPr>
            <a:spLocks noGrp="1"/>
          </p:cNvSpPr>
          <p:nvPr/>
        </p:nvSpPr>
        <p:spPr>
          <a:xfrm>
            <a:off x="1325239" y="1225567"/>
            <a:ext cx="60220" cy="60265"/>
          </a:xfrm>
          <a:prstGeom prst="ellipse">
            <a:avLst/>
          </a:prstGeom>
          <a:solidFill>
            <a:schemeClr val="accent3"/>
          </a:solidFill>
          <a:ln w="25400">
            <a:noFill/>
            <a:prstDash val="solid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17" name="Oval 6">
            <a:extLst>
              <a:ext uri="{FF2B5EF4-FFF2-40B4-BE49-F238E27FC236}">
                <a16:creationId xmlns:a16="http://schemas.microsoft.com/office/drawing/2014/main" id="{1F8B8CA3-31B9-4E3E-89F8-B823F31C1C99}"/>
              </a:ext>
            </a:extLst>
          </p:cNvPr>
          <p:cNvSpPr>
            <a:spLocks noGrp="1"/>
          </p:cNvSpPr>
          <p:nvPr/>
        </p:nvSpPr>
        <p:spPr>
          <a:xfrm>
            <a:off x="1431903" y="1225567"/>
            <a:ext cx="60220" cy="60265"/>
          </a:xfrm>
          <a:prstGeom prst="ellipse">
            <a:avLst/>
          </a:prstGeom>
          <a:solidFill>
            <a:schemeClr val="accent4"/>
          </a:solidFill>
          <a:ln w="25400">
            <a:noFill/>
            <a:prstDash val="solid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18" name="Rectangle 92">
            <a:extLst>
              <a:ext uri="{FF2B5EF4-FFF2-40B4-BE49-F238E27FC236}">
                <a16:creationId xmlns:a16="http://schemas.microsoft.com/office/drawing/2014/main" id="{C40CC64C-4BDE-4B83-ACBA-76BBEC31E3B1}"/>
              </a:ext>
            </a:extLst>
          </p:cNvPr>
          <p:cNvSpPr>
            <a:spLocks noGrp="1"/>
          </p:cNvSpPr>
          <p:nvPr/>
        </p:nvSpPr>
        <p:spPr>
          <a:xfrm>
            <a:off x="1889263" y="1396846"/>
            <a:ext cx="3205451" cy="126873"/>
          </a:xfrm>
          <a:prstGeom prst="rect">
            <a:avLst/>
          </a:prstGeom>
          <a:solidFill>
            <a:srgbClr val="FFFFFF"/>
          </a:solidFill>
          <a:ln w="25400">
            <a:solidFill>
              <a:srgbClr val="B3B3B3"/>
            </a:solidFill>
            <a:prstDash val="solid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8251ED56-D5C4-4244-B7B8-9CC65D6F8A0C}"/>
              </a:ext>
            </a:extLst>
          </p:cNvPr>
          <p:cNvSpPr>
            <a:spLocks noGrp="1"/>
          </p:cNvSpPr>
          <p:nvPr/>
        </p:nvSpPr>
        <p:spPr>
          <a:xfrm>
            <a:off x="5210105" y="1203365"/>
            <a:ext cx="24455" cy="24472"/>
          </a:xfrm>
          <a:custGeom>
            <a:avLst/>
            <a:gdLst>
              <a:gd name="T0" fmla="*/ 168 w 193"/>
              <a:gd name="T1" fmla="*/ 0 h 192"/>
              <a:gd name="T2" fmla="*/ 24 w 193"/>
              <a:gd name="T3" fmla="*/ 0 h 192"/>
              <a:gd name="T4" fmla="*/ 0 w 193"/>
              <a:gd name="T5" fmla="*/ 24 h 192"/>
              <a:gd name="T6" fmla="*/ 0 w 193"/>
              <a:gd name="T7" fmla="*/ 168 h 192"/>
              <a:gd name="T8" fmla="*/ 24 w 193"/>
              <a:gd name="T9" fmla="*/ 192 h 192"/>
              <a:gd name="T10" fmla="*/ 168 w 193"/>
              <a:gd name="T11" fmla="*/ 192 h 192"/>
              <a:gd name="T12" fmla="*/ 193 w 193"/>
              <a:gd name="T13" fmla="*/ 168 h 192"/>
              <a:gd name="T14" fmla="*/ 193 w 193"/>
              <a:gd name="T15" fmla="*/ 24 h 192"/>
              <a:gd name="T16" fmla="*/ 168 w 193"/>
              <a:gd name="T17" fmla="*/ 0 h 192"/>
            </a:gdLst>
            <a:ahLst/>
            <a:cxnLst/>
            <a:rect l="0" t="0" r="r" b="b"/>
            <a:pathLst>
              <a:path w="193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2"/>
                  <a:pt x="11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2" y="192"/>
                  <a:pt x="193" y="182"/>
                  <a:pt x="193" y="168"/>
                </a:cubicBezTo>
                <a:cubicBezTo>
                  <a:pt x="193" y="24"/>
                  <a:pt x="193" y="24"/>
                  <a:pt x="193" y="24"/>
                </a:cubicBezTo>
                <a:cubicBezTo>
                  <a:pt x="193" y="11"/>
                  <a:pt x="182" y="0"/>
                  <a:pt x="168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3" name="Freeform 14">
            <a:extLst>
              <a:ext uri="{FF2B5EF4-FFF2-40B4-BE49-F238E27FC236}">
                <a16:creationId xmlns:a16="http://schemas.microsoft.com/office/drawing/2014/main" id="{ECE11028-B7CA-451E-851D-176871A08FC6}"/>
              </a:ext>
            </a:extLst>
          </p:cNvPr>
          <p:cNvSpPr>
            <a:spLocks noGrp="1"/>
          </p:cNvSpPr>
          <p:nvPr/>
        </p:nvSpPr>
        <p:spPr>
          <a:xfrm>
            <a:off x="5210105" y="1240208"/>
            <a:ext cx="24455" cy="24472"/>
          </a:xfrm>
          <a:custGeom>
            <a:avLst/>
            <a:gdLst>
              <a:gd name="T0" fmla="*/ 168 w 193"/>
              <a:gd name="T1" fmla="*/ 0 h 192"/>
              <a:gd name="T2" fmla="*/ 24 w 193"/>
              <a:gd name="T3" fmla="*/ 0 h 192"/>
              <a:gd name="T4" fmla="*/ 0 w 193"/>
              <a:gd name="T5" fmla="*/ 24 h 192"/>
              <a:gd name="T6" fmla="*/ 0 w 193"/>
              <a:gd name="T7" fmla="*/ 168 h 192"/>
              <a:gd name="T8" fmla="*/ 24 w 193"/>
              <a:gd name="T9" fmla="*/ 192 h 192"/>
              <a:gd name="T10" fmla="*/ 168 w 193"/>
              <a:gd name="T11" fmla="*/ 192 h 192"/>
              <a:gd name="T12" fmla="*/ 193 w 193"/>
              <a:gd name="T13" fmla="*/ 168 h 192"/>
              <a:gd name="T14" fmla="*/ 193 w 193"/>
              <a:gd name="T15" fmla="*/ 24 h 192"/>
              <a:gd name="T16" fmla="*/ 168 w 193"/>
              <a:gd name="T17" fmla="*/ 0 h 192"/>
            </a:gdLst>
            <a:ahLst/>
            <a:cxnLst/>
            <a:rect l="0" t="0" r="r" b="b"/>
            <a:pathLst>
              <a:path w="193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1"/>
                  <a:pt x="11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2" y="192"/>
                  <a:pt x="193" y="181"/>
                  <a:pt x="193" y="168"/>
                </a:cubicBezTo>
                <a:cubicBezTo>
                  <a:pt x="193" y="24"/>
                  <a:pt x="193" y="24"/>
                  <a:pt x="193" y="24"/>
                </a:cubicBezTo>
                <a:cubicBezTo>
                  <a:pt x="193" y="11"/>
                  <a:pt x="182" y="0"/>
                  <a:pt x="168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4" name="Freeform 15">
            <a:extLst>
              <a:ext uri="{FF2B5EF4-FFF2-40B4-BE49-F238E27FC236}">
                <a16:creationId xmlns:a16="http://schemas.microsoft.com/office/drawing/2014/main" id="{C663966C-C5F6-4AF2-AC81-EF7A040B7489}"/>
              </a:ext>
            </a:extLst>
          </p:cNvPr>
          <p:cNvSpPr>
            <a:spLocks noGrp="1"/>
          </p:cNvSpPr>
          <p:nvPr/>
        </p:nvSpPr>
        <p:spPr>
          <a:xfrm>
            <a:off x="5210105" y="1276945"/>
            <a:ext cx="24455" cy="24634"/>
          </a:xfrm>
          <a:custGeom>
            <a:avLst/>
            <a:gdLst>
              <a:gd name="T0" fmla="*/ 168 w 193"/>
              <a:gd name="T1" fmla="*/ 0 h 193"/>
              <a:gd name="T2" fmla="*/ 24 w 193"/>
              <a:gd name="T3" fmla="*/ 0 h 193"/>
              <a:gd name="T4" fmla="*/ 0 w 193"/>
              <a:gd name="T5" fmla="*/ 25 h 193"/>
              <a:gd name="T6" fmla="*/ 0 w 193"/>
              <a:gd name="T7" fmla="*/ 169 h 193"/>
              <a:gd name="T8" fmla="*/ 24 w 193"/>
              <a:gd name="T9" fmla="*/ 193 h 193"/>
              <a:gd name="T10" fmla="*/ 168 w 193"/>
              <a:gd name="T11" fmla="*/ 193 h 193"/>
              <a:gd name="T12" fmla="*/ 193 w 193"/>
              <a:gd name="T13" fmla="*/ 169 h 193"/>
              <a:gd name="T14" fmla="*/ 193 w 193"/>
              <a:gd name="T15" fmla="*/ 25 h 193"/>
              <a:gd name="T16" fmla="*/ 168 w 193"/>
              <a:gd name="T17" fmla="*/ 0 h 193"/>
            </a:gdLst>
            <a:ahLst/>
            <a:cxnLst/>
            <a:rect l="0" t="0" r="r" b="b"/>
            <a:pathLst>
              <a:path w="193" h="193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5"/>
                </a:cubicBezTo>
                <a:cubicBezTo>
                  <a:pt x="0" y="169"/>
                  <a:pt x="0" y="169"/>
                  <a:pt x="0" y="169"/>
                </a:cubicBezTo>
                <a:cubicBezTo>
                  <a:pt x="0" y="182"/>
                  <a:pt x="11" y="193"/>
                  <a:pt x="24" y="193"/>
                </a:cubicBezTo>
                <a:cubicBezTo>
                  <a:pt x="168" y="193"/>
                  <a:pt x="168" y="193"/>
                  <a:pt x="168" y="193"/>
                </a:cubicBezTo>
                <a:cubicBezTo>
                  <a:pt x="182" y="193"/>
                  <a:pt x="193" y="182"/>
                  <a:pt x="193" y="169"/>
                </a:cubicBezTo>
                <a:cubicBezTo>
                  <a:pt x="193" y="25"/>
                  <a:pt x="193" y="25"/>
                  <a:pt x="193" y="25"/>
                </a:cubicBezTo>
                <a:cubicBezTo>
                  <a:pt x="193" y="11"/>
                  <a:pt x="182" y="0"/>
                  <a:pt x="168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5" name="Freeform 16">
            <a:extLst>
              <a:ext uri="{FF2B5EF4-FFF2-40B4-BE49-F238E27FC236}">
                <a16:creationId xmlns:a16="http://schemas.microsoft.com/office/drawing/2014/main" id="{1231452A-2DB6-4628-B13E-989E31967835}"/>
              </a:ext>
            </a:extLst>
          </p:cNvPr>
          <p:cNvSpPr>
            <a:spLocks noGrp="1"/>
          </p:cNvSpPr>
          <p:nvPr/>
        </p:nvSpPr>
        <p:spPr>
          <a:xfrm>
            <a:off x="5246734" y="1203365"/>
            <a:ext cx="24294" cy="24472"/>
          </a:xfrm>
          <a:custGeom>
            <a:avLst/>
            <a:gdLst>
              <a:gd name="T0" fmla="*/ 168 w 192"/>
              <a:gd name="T1" fmla="*/ 0 h 192"/>
              <a:gd name="T2" fmla="*/ 24 w 192"/>
              <a:gd name="T3" fmla="*/ 0 h 192"/>
              <a:gd name="T4" fmla="*/ 0 w 192"/>
              <a:gd name="T5" fmla="*/ 24 h 192"/>
              <a:gd name="T6" fmla="*/ 0 w 192"/>
              <a:gd name="T7" fmla="*/ 168 h 192"/>
              <a:gd name="T8" fmla="*/ 24 w 192"/>
              <a:gd name="T9" fmla="*/ 192 h 192"/>
              <a:gd name="T10" fmla="*/ 168 w 192"/>
              <a:gd name="T11" fmla="*/ 192 h 192"/>
              <a:gd name="T12" fmla="*/ 192 w 192"/>
              <a:gd name="T13" fmla="*/ 168 h 192"/>
              <a:gd name="T14" fmla="*/ 192 w 192"/>
              <a:gd name="T15" fmla="*/ 24 h 192"/>
              <a:gd name="T16" fmla="*/ 168 w 192"/>
              <a:gd name="T17" fmla="*/ 0 h 192"/>
            </a:gdLst>
            <a:ahLst/>
            <a:cxnLst/>
            <a:rect l="0" t="0" r="r" b="b"/>
            <a:pathLst>
              <a:path w="192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2"/>
                  <a:pt x="11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1" y="192"/>
                  <a:pt x="192" y="182"/>
                  <a:pt x="192" y="168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02B5F533-7190-4486-800E-50B9DEE2ECC1}"/>
              </a:ext>
            </a:extLst>
          </p:cNvPr>
          <p:cNvSpPr>
            <a:spLocks noGrp="1"/>
          </p:cNvSpPr>
          <p:nvPr/>
        </p:nvSpPr>
        <p:spPr>
          <a:xfrm>
            <a:off x="5246734" y="1240208"/>
            <a:ext cx="24294" cy="24472"/>
          </a:xfrm>
          <a:custGeom>
            <a:avLst/>
            <a:gdLst>
              <a:gd name="T0" fmla="*/ 168 w 192"/>
              <a:gd name="T1" fmla="*/ 0 h 192"/>
              <a:gd name="T2" fmla="*/ 24 w 192"/>
              <a:gd name="T3" fmla="*/ 0 h 192"/>
              <a:gd name="T4" fmla="*/ 0 w 192"/>
              <a:gd name="T5" fmla="*/ 24 h 192"/>
              <a:gd name="T6" fmla="*/ 0 w 192"/>
              <a:gd name="T7" fmla="*/ 168 h 192"/>
              <a:gd name="T8" fmla="*/ 24 w 192"/>
              <a:gd name="T9" fmla="*/ 192 h 192"/>
              <a:gd name="T10" fmla="*/ 168 w 192"/>
              <a:gd name="T11" fmla="*/ 192 h 192"/>
              <a:gd name="T12" fmla="*/ 192 w 192"/>
              <a:gd name="T13" fmla="*/ 168 h 192"/>
              <a:gd name="T14" fmla="*/ 192 w 192"/>
              <a:gd name="T15" fmla="*/ 24 h 192"/>
              <a:gd name="T16" fmla="*/ 168 w 192"/>
              <a:gd name="T17" fmla="*/ 0 h 192"/>
            </a:gdLst>
            <a:ahLst/>
            <a:cxnLst/>
            <a:rect l="0" t="0" r="r" b="b"/>
            <a:pathLst>
              <a:path w="192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1"/>
                  <a:pt x="11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1" y="192"/>
                  <a:pt x="192" y="181"/>
                  <a:pt x="192" y="168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7" name="Freeform 18">
            <a:extLst>
              <a:ext uri="{FF2B5EF4-FFF2-40B4-BE49-F238E27FC236}">
                <a16:creationId xmlns:a16="http://schemas.microsoft.com/office/drawing/2014/main" id="{E1197ACF-D4F7-4F4F-B51B-31BAB0320329}"/>
              </a:ext>
            </a:extLst>
          </p:cNvPr>
          <p:cNvSpPr>
            <a:spLocks noGrp="1"/>
          </p:cNvSpPr>
          <p:nvPr/>
        </p:nvSpPr>
        <p:spPr>
          <a:xfrm>
            <a:off x="5246734" y="1276945"/>
            <a:ext cx="24294" cy="24634"/>
          </a:xfrm>
          <a:custGeom>
            <a:avLst/>
            <a:gdLst>
              <a:gd name="T0" fmla="*/ 168 w 192"/>
              <a:gd name="T1" fmla="*/ 0 h 193"/>
              <a:gd name="T2" fmla="*/ 24 w 192"/>
              <a:gd name="T3" fmla="*/ 0 h 193"/>
              <a:gd name="T4" fmla="*/ 0 w 192"/>
              <a:gd name="T5" fmla="*/ 25 h 193"/>
              <a:gd name="T6" fmla="*/ 0 w 192"/>
              <a:gd name="T7" fmla="*/ 169 h 193"/>
              <a:gd name="T8" fmla="*/ 24 w 192"/>
              <a:gd name="T9" fmla="*/ 193 h 193"/>
              <a:gd name="T10" fmla="*/ 168 w 192"/>
              <a:gd name="T11" fmla="*/ 193 h 193"/>
              <a:gd name="T12" fmla="*/ 192 w 192"/>
              <a:gd name="T13" fmla="*/ 169 h 193"/>
              <a:gd name="T14" fmla="*/ 192 w 192"/>
              <a:gd name="T15" fmla="*/ 25 h 193"/>
              <a:gd name="T16" fmla="*/ 168 w 192"/>
              <a:gd name="T17" fmla="*/ 0 h 193"/>
            </a:gdLst>
            <a:ahLst/>
            <a:cxnLst/>
            <a:rect l="0" t="0" r="r" b="b"/>
            <a:pathLst>
              <a:path w="192" h="193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5"/>
                </a:cubicBezTo>
                <a:cubicBezTo>
                  <a:pt x="0" y="169"/>
                  <a:pt x="0" y="169"/>
                  <a:pt x="0" y="169"/>
                </a:cubicBezTo>
                <a:cubicBezTo>
                  <a:pt x="0" y="182"/>
                  <a:pt x="11" y="193"/>
                  <a:pt x="24" y="193"/>
                </a:cubicBezTo>
                <a:cubicBezTo>
                  <a:pt x="168" y="193"/>
                  <a:pt x="168" y="193"/>
                  <a:pt x="168" y="193"/>
                </a:cubicBezTo>
                <a:cubicBezTo>
                  <a:pt x="181" y="193"/>
                  <a:pt x="192" y="182"/>
                  <a:pt x="192" y="169"/>
                </a:cubicBezTo>
                <a:cubicBezTo>
                  <a:pt x="192" y="25"/>
                  <a:pt x="192" y="25"/>
                  <a:pt x="192" y="25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8" name="Freeform 19">
            <a:extLst>
              <a:ext uri="{FF2B5EF4-FFF2-40B4-BE49-F238E27FC236}">
                <a16:creationId xmlns:a16="http://schemas.microsoft.com/office/drawing/2014/main" id="{305C916E-AA00-40D3-979E-8385C880D15E}"/>
              </a:ext>
            </a:extLst>
          </p:cNvPr>
          <p:cNvSpPr>
            <a:spLocks noGrp="1"/>
          </p:cNvSpPr>
          <p:nvPr/>
        </p:nvSpPr>
        <p:spPr>
          <a:xfrm>
            <a:off x="5283310" y="1203365"/>
            <a:ext cx="24348" cy="24472"/>
          </a:xfrm>
          <a:custGeom>
            <a:avLst/>
            <a:gdLst>
              <a:gd name="T0" fmla="*/ 168 w 192"/>
              <a:gd name="T1" fmla="*/ 0 h 192"/>
              <a:gd name="T2" fmla="*/ 24 w 192"/>
              <a:gd name="T3" fmla="*/ 0 h 192"/>
              <a:gd name="T4" fmla="*/ 0 w 192"/>
              <a:gd name="T5" fmla="*/ 24 h 192"/>
              <a:gd name="T6" fmla="*/ 0 w 192"/>
              <a:gd name="T7" fmla="*/ 168 h 192"/>
              <a:gd name="T8" fmla="*/ 24 w 192"/>
              <a:gd name="T9" fmla="*/ 192 h 192"/>
              <a:gd name="T10" fmla="*/ 168 w 192"/>
              <a:gd name="T11" fmla="*/ 192 h 192"/>
              <a:gd name="T12" fmla="*/ 192 w 192"/>
              <a:gd name="T13" fmla="*/ 168 h 192"/>
              <a:gd name="T14" fmla="*/ 192 w 192"/>
              <a:gd name="T15" fmla="*/ 24 h 192"/>
              <a:gd name="T16" fmla="*/ 168 w 192"/>
              <a:gd name="T17" fmla="*/ 0 h 192"/>
            </a:gdLst>
            <a:ahLst/>
            <a:cxnLst/>
            <a:rect l="0" t="0" r="r" b="b"/>
            <a:pathLst>
              <a:path w="192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0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2"/>
                  <a:pt x="10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1" y="192"/>
                  <a:pt x="192" y="182"/>
                  <a:pt x="192" y="168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9" name="Freeform 20">
            <a:extLst>
              <a:ext uri="{FF2B5EF4-FFF2-40B4-BE49-F238E27FC236}">
                <a16:creationId xmlns:a16="http://schemas.microsoft.com/office/drawing/2014/main" id="{606A4951-C43E-4D62-8601-77DAE03DB7A5}"/>
              </a:ext>
            </a:extLst>
          </p:cNvPr>
          <p:cNvSpPr>
            <a:spLocks noGrp="1"/>
          </p:cNvSpPr>
          <p:nvPr/>
        </p:nvSpPr>
        <p:spPr>
          <a:xfrm>
            <a:off x="5283310" y="1240208"/>
            <a:ext cx="24348" cy="24472"/>
          </a:xfrm>
          <a:custGeom>
            <a:avLst/>
            <a:gdLst>
              <a:gd name="T0" fmla="*/ 168 w 192"/>
              <a:gd name="T1" fmla="*/ 0 h 192"/>
              <a:gd name="T2" fmla="*/ 24 w 192"/>
              <a:gd name="T3" fmla="*/ 0 h 192"/>
              <a:gd name="T4" fmla="*/ 0 w 192"/>
              <a:gd name="T5" fmla="*/ 24 h 192"/>
              <a:gd name="T6" fmla="*/ 0 w 192"/>
              <a:gd name="T7" fmla="*/ 168 h 192"/>
              <a:gd name="T8" fmla="*/ 24 w 192"/>
              <a:gd name="T9" fmla="*/ 192 h 192"/>
              <a:gd name="T10" fmla="*/ 168 w 192"/>
              <a:gd name="T11" fmla="*/ 192 h 192"/>
              <a:gd name="T12" fmla="*/ 192 w 192"/>
              <a:gd name="T13" fmla="*/ 168 h 192"/>
              <a:gd name="T14" fmla="*/ 192 w 192"/>
              <a:gd name="T15" fmla="*/ 24 h 192"/>
              <a:gd name="T16" fmla="*/ 168 w 192"/>
              <a:gd name="T17" fmla="*/ 0 h 192"/>
            </a:gdLst>
            <a:ahLst/>
            <a:cxnLst/>
            <a:rect l="0" t="0" r="r" b="b"/>
            <a:pathLst>
              <a:path w="192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0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1"/>
                  <a:pt x="10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1" y="192"/>
                  <a:pt x="192" y="181"/>
                  <a:pt x="192" y="168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30" name="Freeform 21">
            <a:extLst>
              <a:ext uri="{FF2B5EF4-FFF2-40B4-BE49-F238E27FC236}">
                <a16:creationId xmlns:a16="http://schemas.microsoft.com/office/drawing/2014/main" id="{E4DF5AB0-92B8-4555-8BFE-FEB94F35CC73}"/>
              </a:ext>
            </a:extLst>
          </p:cNvPr>
          <p:cNvSpPr>
            <a:spLocks noGrp="1"/>
          </p:cNvSpPr>
          <p:nvPr/>
        </p:nvSpPr>
        <p:spPr>
          <a:xfrm>
            <a:off x="5283310" y="1276945"/>
            <a:ext cx="24348" cy="24634"/>
          </a:xfrm>
          <a:custGeom>
            <a:avLst/>
            <a:gdLst>
              <a:gd name="T0" fmla="*/ 168 w 192"/>
              <a:gd name="T1" fmla="*/ 0 h 193"/>
              <a:gd name="T2" fmla="*/ 24 w 192"/>
              <a:gd name="T3" fmla="*/ 0 h 193"/>
              <a:gd name="T4" fmla="*/ 0 w 192"/>
              <a:gd name="T5" fmla="*/ 25 h 193"/>
              <a:gd name="T6" fmla="*/ 0 w 192"/>
              <a:gd name="T7" fmla="*/ 169 h 193"/>
              <a:gd name="T8" fmla="*/ 24 w 192"/>
              <a:gd name="T9" fmla="*/ 193 h 193"/>
              <a:gd name="T10" fmla="*/ 168 w 192"/>
              <a:gd name="T11" fmla="*/ 193 h 193"/>
              <a:gd name="T12" fmla="*/ 192 w 192"/>
              <a:gd name="T13" fmla="*/ 169 h 193"/>
              <a:gd name="T14" fmla="*/ 192 w 192"/>
              <a:gd name="T15" fmla="*/ 25 h 193"/>
              <a:gd name="T16" fmla="*/ 168 w 192"/>
              <a:gd name="T17" fmla="*/ 0 h 193"/>
            </a:gdLst>
            <a:ahLst/>
            <a:cxnLst/>
            <a:rect l="0" t="0" r="r" b="b"/>
            <a:pathLst>
              <a:path w="192" h="193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0" y="0"/>
                  <a:pt x="0" y="11"/>
                  <a:pt x="0" y="25"/>
                </a:cubicBezTo>
                <a:cubicBezTo>
                  <a:pt x="0" y="169"/>
                  <a:pt x="0" y="169"/>
                  <a:pt x="0" y="169"/>
                </a:cubicBezTo>
                <a:cubicBezTo>
                  <a:pt x="0" y="182"/>
                  <a:pt x="10" y="193"/>
                  <a:pt x="24" y="193"/>
                </a:cubicBezTo>
                <a:cubicBezTo>
                  <a:pt x="168" y="193"/>
                  <a:pt x="168" y="193"/>
                  <a:pt x="168" y="193"/>
                </a:cubicBezTo>
                <a:cubicBezTo>
                  <a:pt x="181" y="193"/>
                  <a:pt x="192" y="182"/>
                  <a:pt x="192" y="169"/>
                </a:cubicBezTo>
                <a:cubicBezTo>
                  <a:pt x="192" y="25"/>
                  <a:pt x="192" y="25"/>
                  <a:pt x="192" y="25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0" name="Freeform 25">
            <a:extLst>
              <a:ext uri="{FF2B5EF4-FFF2-40B4-BE49-F238E27FC236}">
                <a16:creationId xmlns:a16="http://schemas.microsoft.com/office/drawing/2014/main" id="{C904AC4F-21D6-40FC-874A-C69831B8A24B}"/>
              </a:ext>
            </a:extLst>
          </p:cNvPr>
          <p:cNvSpPr>
            <a:spLocks noGrp="1"/>
          </p:cNvSpPr>
          <p:nvPr/>
        </p:nvSpPr>
        <p:spPr>
          <a:xfrm rot="5400000">
            <a:off x="5211808" y="1416310"/>
            <a:ext cx="92256" cy="81375"/>
          </a:xfrm>
          <a:custGeom>
            <a:avLst/>
            <a:gdLst>
              <a:gd name="T0" fmla="*/ 504 w 896"/>
              <a:gd name="T1" fmla="*/ 0 h 784"/>
              <a:gd name="T2" fmla="*/ 116 w 896"/>
              <a:gd name="T3" fmla="*/ 336 h 784"/>
              <a:gd name="T4" fmla="*/ 0 w 896"/>
              <a:gd name="T5" fmla="*/ 336 h 784"/>
              <a:gd name="T6" fmla="*/ 168 w 896"/>
              <a:gd name="T7" fmla="*/ 560 h 784"/>
              <a:gd name="T8" fmla="*/ 336 w 896"/>
              <a:gd name="T9" fmla="*/ 336 h 784"/>
              <a:gd name="T10" fmla="*/ 230 w 896"/>
              <a:gd name="T11" fmla="*/ 336 h 784"/>
              <a:gd name="T12" fmla="*/ 504 w 896"/>
              <a:gd name="T13" fmla="*/ 112 h 784"/>
              <a:gd name="T14" fmla="*/ 784 w 896"/>
              <a:gd name="T15" fmla="*/ 392 h 784"/>
              <a:gd name="T16" fmla="*/ 504 w 896"/>
              <a:gd name="T17" fmla="*/ 672 h 784"/>
              <a:gd name="T18" fmla="*/ 504 w 896"/>
              <a:gd name="T19" fmla="*/ 784 h 784"/>
              <a:gd name="T20" fmla="*/ 896 w 896"/>
              <a:gd name="T21" fmla="*/ 392 h 784"/>
              <a:gd name="T22" fmla="*/ 504 w 896"/>
              <a:gd name="T23" fmla="*/ 0 h 784"/>
            </a:gdLst>
            <a:ahLst/>
            <a:cxnLst/>
            <a:rect l="0" t="0" r="r" b="b"/>
            <a:pathLst>
              <a:path w="896" h="784">
                <a:moveTo>
                  <a:pt x="504" y="0"/>
                </a:moveTo>
                <a:cubicBezTo>
                  <a:pt x="307" y="0"/>
                  <a:pt x="144" y="146"/>
                  <a:pt x="116" y="336"/>
                </a:cubicBezTo>
                <a:cubicBezTo>
                  <a:pt x="0" y="336"/>
                  <a:pt x="0" y="336"/>
                  <a:pt x="0" y="336"/>
                </a:cubicBezTo>
                <a:cubicBezTo>
                  <a:pt x="168" y="560"/>
                  <a:pt x="168" y="560"/>
                  <a:pt x="168" y="560"/>
                </a:cubicBezTo>
                <a:cubicBezTo>
                  <a:pt x="336" y="336"/>
                  <a:pt x="336" y="336"/>
                  <a:pt x="336" y="336"/>
                </a:cubicBezTo>
                <a:cubicBezTo>
                  <a:pt x="230" y="336"/>
                  <a:pt x="230" y="336"/>
                  <a:pt x="230" y="336"/>
                </a:cubicBezTo>
                <a:cubicBezTo>
                  <a:pt x="256" y="208"/>
                  <a:pt x="369" y="112"/>
                  <a:pt x="504" y="112"/>
                </a:cubicBezTo>
                <a:cubicBezTo>
                  <a:pt x="658" y="112"/>
                  <a:pt x="784" y="238"/>
                  <a:pt x="784" y="392"/>
                </a:cubicBezTo>
                <a:cubicBezTo>
                  <a:pt x="784" y="546"/>
                  <a:pt x="658" y="672"/>
                  <a:pt x="504" y="672"/>
                </a:cubicBezTo>
                <a:cubicBezTo>
                  <a:pt x="504" y="784"/>
                  <a:pt x="504" y="784"/>
                  <a:pt x="504" y="784"/>
                </a:cubicBezTo>
                <a:cubicBezTo>
                  <a:pt x="721" y="784"/>
                  <a:pt x="896" y="609"/>
                  <a:pt x="896" y="392"/>
                </a:cubicBezTo>
                <a:cubicBezTo>
                  <a:pt x="896" y="175"/>
                  <a:pt x="721" y="0"/>
                  <a:pt x="504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1" name="Oval 6">
            <a:extLst>
              <a:ext uri="{FF2B5EF4-FFF2-40B4-BE49-F238E27FC236}">
                <a16:creationId xmlns:a16="http://schemas.microsoft.com/office/drawing/2014/main" id="{008AEF74-0CB4-4F9D-941F-B3FDCFD4ACA6}"/>
              </a:ext>
            </a:extLst>
          </p:cNvPr>
          <p:cNvSpPr>
            <a:spLocks noGrp="1"/>
          </p:cNvSpPr>
          <p:nvPr/>
        </p:nvSpPr>
        <p:spPr>
          <a:xfrm>
            <a:off x="1543769" y="1225567"/>
            <a:ext cx="60220" cy="60265"/>
          </a:xfrm>
          <a:prstGeom prst="ellipse">
            <a:avLst/>
          </a:prstGeom>
          <a:solidFill>
            <a:schemeClr val="accent5"/>
          </a:solidFill>
          <a:ln w="25400">
            <a:noFill/>
            <a:prstDash val="solid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F43D9F-F201-460A-B5AB-10C4C6323FC9}"/>
              </a:ext>
            </a:extLst>
          </p:cNvPr>
          <p:cNvSpPr>
            <a:spLocks noGrp="1"/>
          </p:cNvSpPr>
          <p:nvPr/>
        </p:nvSpPr>
        <p:spPr>
          <a:xfrm>
            <a:off x="2005596" y="1340551"/>
            <a:ext cx="1000920" cy="2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chemeClr val="tx1"/>
                </a:solidFill>
                <a:latin typeface="Poppins Light"/>
                <a:ea typeface="Poppins Light"/>
                <a:cs typeface="Poppins Light"/>
              </a:rPr>
              <a:t>www.lider.com</a:t>
            </a:r>
          </a:p>
        </p:txBody>
      </p:sp>
      <p:sp>
        <p:nvSpPr>
          <p:cNvPr id="11" name="Freeform 29">
            <a:extLst>
              <a:ext uri="{FF2B5EF4-FFF2-40B4-BE49-F238E27FC236}">
                <a16:creationId xmlns:a16="http://schemas.microsoft.com/office/drawing/2014/main" id="{773BAD95-B78D-42DD-A801-8B84C3BF5322}"/>
              </a:ext>
            </a:extLst>
          </p:cNvPr>
          <p:cNvSpPr>
            <a:spLocks noGrp="1"/>
          </p:cNvSpPr>
          <p:nvPr/>
        </p:nvSpPr>
        <p:spPr>
          <a:xfrm>
            <a:off x="1929513" y="1425286"/>
            <a:ext cx="72445" cy="73024"/>
          </a:xfrm>
          <a:custGeom>
            <a:avLst/>
            <a:gdLst>
              <a:gd name="T0" fmla="*/ 0 w 636"/>
              <a:gd name="T1" fmla="*/ 318 h 636"/>
              <a:gd name="T2" fmla="*/ 636 w 636"/>
              <a:gd name="T3" fmla="*/ 318 h 636"/>
              <a:gd name="T4" fmla="*/ 594 w 636"/>
              <a:gd name="T5" fmla="*/ 308 h 636"/>
              <a:gd name="T6" fmla="*/ 448 w 636"/>
              <a:gd name="T7" fmla="*/ 179 h 636"/>
              <a:gd name="T8" fmla="*/ 594 w 636"/>
              <a:gd name="T9" fmla="*/ 308 h 636"/>
              <a:gd name="T10" fmla="*/ 223 w 636"/>
              <a:gd name="T11" fmla="*/ 486 h 636"/>
              <a:gd name="T12" fmla="*/ 308 w 636"/>
              <a:gd name="T13" fmla="*/ 594 h 636"/>
              <a:gd name="T14" fmla="*/ 329 w 636"/>
              <a:gd name="T15" fmla="*/ 42 h 636"/>
              <a:gd name="T16" fmla="*/ 328 w 636"/>
              <a:gd name="T17" fmla="*/ 184 h 636"/>
              <a:gd name="T18" fmla="*/ 329 w 636"/>
              <a:gd name="T19" fmla="*/ 42 h 636"/>
              <a:gd name="T20" fmla="*/ 510 w 636"/>
              <a:gd name="T21" fmla="*/ 119 h 636"/>
              <a:gd name="T22" fmla="*/ 363 w 636"/>
              <a:gd name="T23" fmla="*/ 45 h 636"/>
              <a:gd name="T24" fmla="*/ 308 w 636"/>
              <a:gd name="T25" fmla="*/ 184 h 636"/>
              <a:gd name="T26" fmla="*/ 307 w 636"/>
              <a:gd name="T27" fmla="*/ 42 h 636"/>
              <a:gd name="T28" fmla="*/ 196 w 636"/>
              <a:gd name="T29" fmla="*/ 160 h 636"/>
              <a:gd name="T30" fmla="*/ 273 w 636"/>
              <a:gd name="T31" fmla="*/ 45 h 636"/>
              <a:gd name="T32" fmla="*/ 207 w 636"/>
              <a:gd name="T33" fmla="*/ 186 h 636"/>
              <a:gd name="T34" fmla="*/ 308 w 636"/>
              <a:gd name="T35" fmla="*/ 308 h 636"/>
              <a:gd name="T36" fmla="*/ 207 w 636"/>
              <a:gd name="T37" fmla="*/ 186 h 636"/>
              <a:gd name="T38" fmla="*/ 308 w 636"/>
              <a:gd name="T39" fmla="*/ 452 h 636"/>
              <a:gd name="T40" fmla="*/ 185 w 636"/>
              <a:gd name="T41" fmla="*/ 328 h 636"/>
              <a:gd name="T42" fmla="*/ 273 w 636"/>
              <a:gd name="T43" fmla="*/ 591 h 636"/>
              <a:gd name="T44" fmla="*/ 204 w 636"/>
              <a:gd name="T45" fmla="*/ 493 h 636"/>
              <a:gd name="T46" fmla="*/ 328 w 636"/>
              <a:gd name="T47" fmla="*/ 594 h 636"/>
              <a:gd name="T48" fmla="*/ 413 w 636"/>
              <a:gd name="T49" fmla="*/ 486 h 636"/>
              <a:gd name="T50" fmla="*/ 328 w 636"/>
              <a:gd name="T51" fmla="*/ 594 h 636"/>
              <a:gd name="T52" fmla="*/ 498 w 636"/>
              <a:gd name="T53" fmla="*/ 528 h 636"/>
              <a:gd name="T54" fmla="*/ 432 w 636"/>
              <a:gd name="T55" fmla="*/ 493 h 636"/>
              <a:gd name="T56" fmla="*/ 328 w 636"/>
              <a:gd name="T57" fmla="*/ 452 h 636"/>
              <a:gd name="T58" fmla="*/ 451 w 636"/>
              <a:gd name="T59" fmla="*/ 328 h 636"/>
              <a:gd name="T60" fmla="*/ 328 w 636"/>
              <a:gd name="T61" fmla="*/ 308 h 636"/>
              <a:gd name="T62" fmla="*/ 429 w 636"/>
              <a:gd name="T63" fmla="*/ 186 h 636"/>
              <a:gd name="T64" fmla="*/ 328 w 636"/>
              <a:gd name="T65" fmla="*/ 308 h 636"/>
              <a:gd name="T66" fmla="*/ 188 w 636"/>
              <a:gd name="T67" fmla="*/ 179 h 636"/>
              <a:gd name="T68" fmla="*/ 42 w 636"/>
              <a:gd name="T69" fmla="*/ 308 h 636"/>
              <a:gd name="T70" fmla="*/ 42 w 636"/>
              <a:gd name="T71" fmla="*/ 328 h 636"/>
              <a:gd name="T72" fmla="*/ 195 w 636"/>
              <a:gd name="T73" fmla="*/ 475 h 636"/>
              <a:gd name="T74" fmla="*/ 42 w 636"/>
              <a:gd name="T75" fmla="*/ 328 h 636"/>
              <a:gd name="T76" fmla="*/ 441 w 636"/>
              <a:gd name="T77" fmla="*/ 475 h 636"/>
              <a:gd name="T78" fmla="*/ 594 w 636"/>
              <a:gd name="T79" fmla="*/ 328 h 636"/>
            </a:gdLst>
            <a:ahLst/>
            <a:cxnLst/>
            <a:rect l="0" t="0" r="r" b="b"/>
            <a:pathLst>
              <a:path w="636" h="636">
                <a:moveTo>
                  <a:pt x="318" y="0"/>
                </a:moveTo>
                <a:cubicBezTo>
                  <a:pt x="142" y="0"/>
                  <a:pt x="0" y="142"/>
                  <a:pt x="0" y="318"/>
                </a:cubicBezTo>
                <a:cubicBezTo>
                  <a:pt x="0" y="494"/>
                  <a:pt x="142" y="636"/>
                  <a:pt x="318" y="636"/>
                </a:cubicBezTo>
                <a:cubicBezTo>
                  <a:pt x="494" y="636"/>
                  <a:pt x="636" y="494"/>
                  <a:pt x="636" y="318"/>
                </a:cubicBezTo>
                <a:cubicBezTo>
                  <a:pt x="636" y="142"/>
                  <a:pt x="494" y="0"/>
                  <a:pt x="318" y="0"/>
                </a:cubicBezTo>
                <a:close/>
                <a:moveTo>
                  <a:pt x="594" y="308"/>
                </a:moveTo>
                <a:cubicBezTo>
                  <a:pt x="471" y="308"/>
                  <a:pt x="471" y="308"/>
                  <a:pt x="471" y="308"/>
                </a:cubicBezTo>
                <a:cubicBezTo>
                  <a:pt x="470" y="262"/>
                  <a:pt x="462" y="219"/>
                  <a:pt x="448" y="179"/>
                </a:cubicBezTo>
                <a:cubicBezTo>
                  <a:pt x="476" y="168"/>
                  <a:pt x="501" y="152"/>
                  <a:pt x="525" y="134"/>
                </a:cubicBezTo>
                <a:cubicBezTo>
                  <a:pt x="566" y="181"/>
                  <a:pt x="592" y="241"/>
                  <a:pt x="594" y="308"/>
                </a:cubicBezTo>
                <a:close/>
                <a:moveTo>
                  <a:pt x="307" y="594"/>
                </a:moveTo>
                <a:cubicBezTo>
                  <a:pt x="273" y="566"/>
                  <a:pt x="244" y="529"/>
                  <a:pt x="223" y="486"/>
                </a:cubicBezTo>
                <a:cubicBezTo>
                  <a:pt x="250" y="478"/>
                  <a:pt x="278" y="473"/>
                  <a:pt x="308" y="472"/>
                </a:cubicBezTo>
                <a:cubicBezTo>
                  <a:pt x="308" y="594"/>
                  <a:pt x="308" y="594"/>
                  <a:pt x="308" y="594"/>
                </a:cubicBezTo>
                <a:cubicBezTo>
                  <a:pt x="307" y="594"/>
                  <a:pt x="307" y="594"/>
                  <a:pt x="307" y="594"/>
                </a:cubicBezTo>
                <a:close/>
                <a:moveTo>
                  <a:pt x="329" y="42"/>
                </a:moveTo>
                <a:cubicBezTo>
                  <a:pt x="368" y="74"/>
                  <a:pt x="400" y="117"/>
                  <a:pt x="421" y="167"/>
                </a:cubicBezTo>
                <a:cubicBezTo>
                  <a:pt x="392" y="177"/>
                  <a:pt x="361" y="183"/>
                  <a:pt x="328" y="184"/>
                </a:cubicBezTo>
                <a:cubicBezTo>
                  <a:pt x="328" y="42"/>
                  <a:pt x="328" y="42"/>
                  <a:pt x="328" y="42"/>
                </a:cubicBezTo>
                <a:cubicBezTo>
                  <a:pt x="329" y="42"/>
                  <a:pt x="329" y="42"/>
                  <a:pt x="329" y="42"/>
                </a:cubicBezTo>
                <a:close/>
                <a:moveTo>
                  <a:pt x="363" y="45"/>
                </a:moveTo>
                <a:cubicBezTo>
                  <a:pt x="420" y="55"/>
                  <a:pt x="471" y="81"/>
                  <a:pt x="510" y="119"/>
                </a:cubicBezTo>
                <a:cubicBezTo>
                  <a:pt x="489" y="136"/>
                  <a:pt x="466" y="150"/>
                  <a:pt x="440" y="160"/>
                </a:cubicBezTo>
                <a:cubicBezTo>
                  <a:pt x="421" y="116"/>
                  <a:pt x="395" y="77"/>
                  <a:pt x="363" y="45"/>
                </a:cubicBezTo>
                <a:close/>
                <a:moveTo>
                  <a:pt x="308" y="42"/>
                </a:moveTo>
                <a:cubicBezTo>
                  <a:pt x="308" y="184"/>
                  <a:pt x="308" y="184"/>
                  <a:pt x="308" y="184"/>
                </a:cubicBezTo>
                <a:cubicBezTo>
                  <a:pt x="275" y="183"/>
                  <a:pt x="244" y="177"/>
                  <a:pt x="215" y="167"/>
                </a:cubicBezTo>
                <a:cubicBezTo>
                  <a:pt x="236" y="117"/>
                  <a:pt x="268" y="74"/>
                  <a:pt x="307" y="42"/>
                </a:cubicBezTo>
                <a:cubicBezTo>
                  <a:pt x="307" y="42"/>
                  <a:pt x="307" y="42"/>
                  <a:pt x="308" y="42"/>
                </a:cubicBezTo>
                <a:close/>
                <a:moveTo>
                  <a:pt x="196" y="160"/>
                </a:moveTo>
                <a:cubicBezTo>
                  <a:pt x="171" y="150"/>
                  <a:pt x="147" y="136"/>
                  <a:pt x="126" y="119"/>
                </a:cubicBezTo>
                <a:cubicBezTo>
                  <a:pt x="165" y="81"/>
                  <a:pt x="216" y="55"/>
                  <a:pt x="273" y="45"/>
                </a:cubicBezTo>
                <a:cubicBezTo>
                  <a:pt x="241" y="77"/>
                  <a:pt x="215" y="116"/>
                  <a:pt x="196" y="160"/>
                </a:cubicBezTo>
                <a:close/>
                <a:moveTo>
                  <a:pt x="207" y="186"/>
                </a:moveTo>
                <a:cubicBezTo>
                  <a:pt x="239" y="197"/>
                  <a:pt x="273" y="204"/>
                  <a:pt x="308" y="205"/>
                </a:cubicBezTo>
                <a:cubicBezTo>
                  <a:pt x="308" y="308"/>
                  <a:pt x="308" y="308"/>
                  <a:pt x="308" y="308"/>
                </a:cubicBezTo>
                <a:cubicBezTo>
                  <a:pt x="185" y="308"/>
                  <a:pt x="185" y="308"/>
                  <a:pt x="185" y="308"/>
                </a:cubicBezTo>
                <a:cubicBezTo>
                  <a:pt x="186" y="265"/>
                  <a:pt x="194" y="224"/>
                  <a:pt x="207" y="186"/>
                </a:cubicBezTo>
                <a:close/>
                <a:moveTo>
                  <a:pt x="308" y="328"/>
                </a:moveTo>
                <a:cubicBezTo>
                  <a:pt x="308" y="452"/>
                  <a:pt x="308" y="452"/>
                  <a:pt x="308" y="452"/>
                </a:cubicBezTo>
                <a:cubicBezTo>
                  <a:pt x="275" y="453"/>
                  <a:pt x="244" y="458"/>
                  <a:pt x="215" y="468"/>
                </a:cubicBezTo>
                <a:cubicBezTo>
                  <a:pt x="197" y="425"/>
                  <a:pt x="186" y="378"/>
                  <a:pt x="185" y="328"/>
                </a:cubicBezTo>
                <a:lnTo>
                  <a:pt x="308" y="328"/>
                </a:lnTo>
                <a:close/>
                <a:moveTo>
                  <a:pt x="273" y="591"/>
                </a:moveTo>
                <a:cubicBezTo>
                  <a:pt x="222" y="582"/>
                  <a:pt x="176" y="560"/>
                  <a:pt x="138" y="528"/>
                </a:cubicBezTo>
                <a:cubicBezTo>
                  <a:pt x="158" y="514"/>
                  <a:pt x="180" y="502"/>
                  <a:pt x="204" y="493"/>
                </a:cubicBezTo>
                <a:cubicBezTo>
                  <a:pt x="222" y="531"/>
                  <a:pt x="245" y="563"/>
                  <a:pt x="273" y="591"/>
                </a:cubicBezTo>
                <a:close/>
                <a:moveTo>
                  <a:pt x="328" y="594"/>
                </a:moveTo>
                <a:cubicBezTo>
                  <a:pt x="328" y="472"/>
                  <a:pt x="328" y="472"/>
                  <a:pt x="328" y="472"/>
                </a:cubicBezTo>
                <a:cubicBezTo>
                  <a:pt x="358" y="473"/>
                  <a:pt x="386" y="478"/>
                  <a:pt x="413" y="486"/>
                </a:cubicBezTo>
                <a:cubicBezTo>
                  <a:pt x="392" y="529"/>
                  <a:pt x="363" y="566"/>
                  <a:pt x="329" y="594"/>
                </a:cubicBezTo>
                <a:cubicBezTo>
                  <a:pt x="329" y="594"/>
                  <a:pt x="329" y="594"/>
                  <a:pt x="328" y="594"/>
                </a:cubicBezTo>
                <a:close/>
                <a:moveTo>
                  <a:pt x="432" y="493"/>
                </a:moveTo>
                <a:cubicBezTo>
                  <a:pt x="456" y="502"/>
                  <a:pt x="478" y="514"/>
                  <a:pt x="498" y="528"/>
                </a:cubicBezTo>
                <a:cubicBezTo>
                  <a:pt x="460" y="560"/>
                  <a:pt x="414" y="582"/>
                  <a:pt x="363" y="591"/>
                </a:cubicBezTo>
                <a:cubicBezTo>
                  <a:pt x="391" y="563"/>
                  <a:pt x="414" y="531"/>
                  <a:pt x="432" y="493"/>
                </a:cubicBezTo>
                <a:close/>
                <a:moveTo>
                  <a:pt x="421" y="468"/>
                </a:moveTo>
                <a:cubicBezTo>
                  <a:pt x="392" y="458"/>
                  <a:pt x="361" y="453"/>
                  <a:pt x="328" y="452"/>
                </a:cubicBezTo>
                <a:cubicBezTo>
                  <a:pt x="328" y="328"/>
                  <a:pt x="328" y="328"/>
                  <a:pt x="328" y="328"/>
                </a:cubicBezTo>
                <a:cubicBezTo>
                  <a:pt x="451" y="328"/>
                  <a:pt x="451" y="328"/>
                  <a:pt x="451" y="328"/>
                </a:cubicBezTo>
                <a:cubicBezTo>
                  <a:pt x="450" y="378"/>
                  <a:pt x="439" y="425"/>
                  <a:pt x="421" y="468"/>
                </a:cubicBezTo>
                <a:close/>
                <a:moveTo>
                  <a:pt x="328" y="308"/>
                </a:moveTo>
                <a:cubicBezTo>
                  <a:pt x="328" y="205"/>
                  <a:pt x="328" y="205"/>
                  <a:pt x="328" y="205"/>
                </a:cubicBezTo>
                <a:cubicBezTo>
                  <a:pt x="363" y="204"/>
                  <a:pt x="397" y="197"/>
                  <a:pt x="429" y="186"/>
                </a:cubicBezTo>
                <a:cubicBezTo>
                  <a:pt x="442" y="224"/>
                  <a:pt x="450" y="265"/>
                  <a:pt x="451" y="308"/>
                </a:cubicBezTo>
                <a:lnTo>
                  <a:pt x="328" y="308"/>
                </a:lnTo>
                <a:close/>
                <a:moveTo>
                  <a:pt x="111" y="134"/>
                </a:moveTo>
                <a:cubicBezTo>
                  <a:pt x="135" y="152"/>
                  <a:pt x="160" y="168"/>
                  <a:pt x="188" y="179"/>
                </a:cubicBezTo>
                <a:cubicBezTo>
                  <a:pt x="174" y="219"/>
                  <a:pt x="166" y="262"/>
                  <a:pt x="165" y="308"/>
                </a:cubicBezTo>
                <a:cubicBezTo>
                  <a:pt x="42" y="308"/>
                  <a:pt x="42" y="308"/>
                  <a:pt x="42" y="308"/>
                </a:cubicBezTo>
                <a:cubicBezTo>
                  <a:pt x="44" y="241"/>
                  <a:pt x="70" y="181"/>
                  <a:pt x="111" y="134"/>
                </a:cubicBezTo>
                <a:close/>
                <a:moveTo>
                  <a:pt x="42" y="328"/>
                </a:moveTo>
                <a:cubicBezTo>
                  <a:pt x="165" y="328"/>
                  <a:pt x="165" y="328"/>
                  <a:pt x="165" y="328"/>
                </a:cubicBezTo>
                <a:cubicBezTo>
                  <a:pt x="166" y="381"/>
                  <a:pt x="177" y="430"/>
                  <a:pt x="195" y="475"/>
                </a:cubicBezTo>
                <a:cubicBezTo>
                  <a:pt x="169" y="485"/>
                  <a:pt x="145" y="498"/>
                  <a:pt x="123" y="514"/>
                </a:cubicBezTo>
                <a:cubicBezTo>
                  <a:pt x="75" y="466"/>
                  <a:pt x="44" y="401"/>
                  <a:pt x="42" y="328"/>
                </a:cubicBezTo>
                <a:close/>
                <a:moveTo>
                  <a:pt x="513" y="514"/>
                </a:moveTo>
                <a:cubicBezTo>
                  <a:pt x="491" y="498"/>
                  <a:pt x="467" y="485"/>
                  <a:pt x="441" y="475"/>
                </a:cubicBezTo>
                <a:cubicBezTo>
                  <a:pt x="459" y="430"/>
                  <a:pt x="470" y="381"/>
                  <a:pt x="471" y="328"/>
                </a:cubicBezTo>
                <a:cubicBezTo>
                  <a:pt x="594" y="328"/>
                  <a:pt x="594" y="328"/>
                  <a:pt x="594" y="328"/>
                </a:cubicBezTo>
                <a:cubicBezTo>
                  <a:pt x="592" y="401"/>
                  <a:pt x="561" y="466"/>
                  <a:pt x="513" y="514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35" name="AutoShape 1">
            <a:extLst>
              <a:ext uri="{FF2B5EF4-FFF2-40B4-BE49-F238E27FC236}">
                <a16:creationId xmlns:a16="http://schemas.microsoft.com/office/drawing/2014/main" id="{48F16F12-B004-4ABE-AAA8-42D597EFDA9A}"/>
              </a:ext>
            </a:extLst>
          </p:cNvPr>
          <p:cNvSpPr>
            <a:spLocks noGrp="1"/>
          </p:cNvSpPr>
          <p:nvPr/>
        </p:nvSpPr>
        <p:spPr>
          <a:xfrm>
            <a:off x="6795396" y="1149443"/>
            <a:ext cx="4266586" cy="2822929"/>
          </a:xfrm>
          <a:prstGeom prst="roundRect">
            <a:avLst>
              <a:gd name="adj" fmla="val 1292"/>
            </a:avLst>
          </a:prstGeom>
          <a:solidFill>
            <a:schemeClr val="accent5"/>
          </a:solidFill>
          <a:ln w="25400">
            <a:noFill/>
            <a:prstDash val="solid"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tIns="0" rIns="0" bIns="0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36" name="Rectangle 2">
            <a:extLst>
              <a:ext uri="{FF2B5EF4-FFF2-40B4-BE49-F238E27FC236}">
                <a16:creationId xmlns:a16="http://schemas.microsoft.com/office/drawing/2014/main" id="{92CE4B65-6103-4C38-92A7-2A427C04B8BE}"/>
              </a:ext>
            </a:extLst>
          </p:cNvPr>
          <p:cNvSpPr>
            <a:spLocks noGrp="1"/>
          </p:cNvSpPr>
          <p:nvPr/>
        </p:nvSpPr>
        <p:spPr>
          <a:xfrm>
            <a:off x="6794022" y="1358784"/>
            <a:ext cx="4266587" cy="199825"/>
          </a:xfrm>
          <a:prstGeom prst="rect">
            <a:avLst/>
          </a:prstGeom>
          <a:solidFill>
            <a:schemeClr val="accent6">
              <a:lumMod val="50000"/>
            </a:schemeClr>
          </a:solidFill>
          <a:ln w="25400">
            <a:noFill/>
            <a:prstDash val="solid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37" name="AutoShape 3">
            <a:extLst>
              <a:ext uri="{FF2B5EF4-FFF2-40B4-BE49-F238E27FC236}">
                <a16:creationId xmlns:a16="http://schemas.microsoft.com/office/drawing/2014/main" id="{297699FF-7AA4-40F4-81BC-DF7B89B3F7DF}"/>
              </a:ext>
            </a:extLst>
          </p:cNvPr>
          <p:cNvSpPr>
            <a:spLocks noGrp="1"/>
          </p:cNvSpPr>
          <p:nvPr/>
        </p:nvSpPr>
        <p:spPr>
          <a:xfrm>
            <a:off x="7427103" y="1203365"/>
            <a:ext cx="1706634" cy="355244"/>
          </a:xfrm>
          <a:prstGeom prst="roundRect">
            <a:avLst>
              <a:gd name="adj" fmla="val 11986"/>
            </a:avLst>
          </a:prstGeom>
          <a:solidFill>
            <a:schemeClr val="accent6">
              <a:lumMod val="50000"/>
            </a:schemeClr>
          </a:solidFill>
          <a:ln w="25400">
            <a:noFill/>
            <a:prstDash val="solid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38" name="Oval 4">
            <a:extLst>
              <a:ext uri="{FF2B5EF4-FFF2-40B4-BE49-F238E27FC236}">
                <a16:creationId xmlns:a16="http://schemas.microsoft.com/office/drawing/2014/main" id="{D68B6E0E-D3C7-4493-A31B-8207DAE9C22D}"/>
              </a:ext>
            </a:extLst>
          </p:cNvPr>
          <p:cNvSpPr>
            <a:spLocks noGrp="1"/>
          </p:cNvSpPr>
          <p:nvPr/>
        </p:nvSpPr>
        <p:spPr>
          <a:xfrm>
            <a:off x="6863472" y="1225567"/>
            <a:ext cx="60220" cy="60265"/>
          </a:xfrm>
          <a:prstGeom prst="ellipse">
            <a:avLst/>
          </a:prstGeom>
          <a:solidFill>
            <a:schemeClr val="accent2"/>
          </a:solidFill>
          <a:ln w="25400">
            <a:noFill/>
            <a:prstDash val="solid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39" name="Oval 5">
            <a:extLst>
              <a:ext uri="{FF2B5EF4-FFF2-40B4-BE49-F238E27FC236}">
                <a16:creationId xmlns:a16="http://schemas.microsoft.com/office/drawing/2014/main" id="{AA3A8A3A-E81C-4F16-9EA2-9F11A9775EE0}"/>
              </a:ext>
            </a:extLst>
          </p:cNvPr>
          <p:cNvSpPr>
            <a:spLocks noGrp="1"/>
          </p:cNvSpPr>
          <p:nvPr/>
        </p:nvSpPr>
        <p:spPr>
          <a:xfrm>
            <a:off x="6970137" y="1225567"/>
            <a:ext cx="60220" cy="60265"/>
          </a:xfrm>
          <a:prstGeom prst="ellipse">
            <a:avLst/>
          </a:prstGeom>
          <a:solidFill>
            <a:schemeClr val="accent3"/>
          </a:solidFill>
          <a:ln w="25400">
            <a:noFill/>
            <a:prstDash val="solid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0" name="Oval 6">
            <a:extLst>
              <a:ext uri="{FF2B5EF4-FFF2-40B4-BE49-F238E27FC236}">
                <a16:creationId xmlns:a16="http://schemas.microsoft.com/office/drawing/2014/main" id="{539165D2-E0B0-4B91-BDF2-5FF535A7206B}"/>
              </a:ext>
            </a:extLst>
          </p:cNvPr>
          <p:cNvSpPr>
            <a:spLocks noGrp="1"/>
          </p:cNvSpPr>
          <p:nvPr/>
        </p:nvSpPr>
        <p:spPr>
          <a:xfrm>
            <a:off x="7076801" y="1225567"/>
            <a:ext cx="60220" cy="60265"/>
          </a:xfrm>
          <a:prstGeom prst="ellipse">
            <a:avLst/>
          </a:prstGeom>
          <a:solidFill>
            <a:schemeClr val="accent4"/>
          </a:solidFill>
          <a:ln w="25400">
            <a:noFill/>
            <a:prstDash val="solid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1" name="Rectangle 92">
            <a:extLst>
              <a:ext uri="{FF2B5EF4-FFF2-40B4-BE49-F238E27FC236}">
                <a16:creationId xmlns:a16="http://schemas.microsoft.com/office/drawing/2014/main" id="{B58995FD-774E-443F-8F74-D69C353CA9C0}"/>
              </a:ext>
            </a:extLst>
          </p:cNvPr>
          <p:cNvSpPr>
            <a:spLocks noGrp="1"/>
          </p:cNvSpPr>
          <p:nvPr/>
        </p:nvSpPr>
        <p:spPr>
          <a:xfrm>
            <a:off x="7534161" y="1396846"/>
            <a:ext cx="3205451" cy="126873"/>
          </a:xfrm>
          <a:prstGeom prst="rect">
            <a:avLst/>
          </a:prstGeom>
          <a:solidFill>
            <a:srgbClr val="FFFFFF"/>
          </a:solidFill>
          <a:ln w="25400">
            <a:solidFill>
              <a:srgbClr val="B3B3B3"/>
            </a:solidFill>
            <a:prstDash val="solid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5" name="Freeform 13">
            <a:extLst>
              <a:ext uri="{FF2B5EF4-FFF2-40B4-BE49-F238E27FC236}">
                <a16:creationId xmlns:a16="http://schemas.microsoft.com/office/drawing/2014/main" id="{2EE8F120-DDD5-495E-8097-10825D0A1E6D}"/>
              </a:ext>
            </a:extLst>
          </p:cNvPr>
          <p:cNvSpPr>
            <a:spLocks noGrp="1"/>
          </p:cNvSpPr>
          <p:nvPr/>
        </p:nvSpPr>
        <p:spPr>
          <a:xfrm>
            <a:off x="10855003" y="1203365"/>
            <a:ext cx="24455" cy="24472"/>
          </a:xfrm>
          <a:custGeom>
            <a:avLst/>
            <a:gdLst>
              <a:gd name="T0" fmla="*/ 168 w 193"/>
              <a:gd name="T1" fmla="*/ 0 h 192"/>
              <a:gd name="T2" fmla="*/ 24 w 193"/>
              <a:gd name="T3" fmla="*/ 0 h 192"/>
              <a:gd name="T4" fmla="*/ 0 w 193"/>
              <a:gd name="T5" fmla="*/ 24 h 192"/>
              <a:gd name="T6" fmla="*/ 0 w 193"/>
              <a:gd name="T7" fmla="*/ 168 h 192"/>
              <a:gd name="T8" fmla="*/ 24 w 193"/>
              <a:gd name="T9" fmla="*/ 192 h 192"/>
              <a:gd name="T10" fmla="*/ 168 w 193"/>
              <a:gd name="T11" fmla="*/ 192 h 192"/>
              <a:gd name="T12" fmla="*/ 193 w 193"/>
              <a:gd name="T13" fmla="*/ 168 h 192"/>
              <a:gd name="T14" fmla="*/ 193 w 193"/>
              <a:gd name="T15" fmla="*/ 24 h 192"/>
              <a:gd name="T16" fmla="*/ 168 w 193"/>
              <a:gd name="T17" fmla="*/ 0 h 192"/>
            </a:gdLst>
            <a:ahLst/>
            <a:cxnLst/>
            <a:rect l="0" t="0" r="r" b="b"/>
            <a:pathLst>
              <a:path w="193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2"/>
                  <a:pt x="11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2" y="192"/>
                  <a:pt x="193" y="182"/>
                  <a:pt x="193" y="168"/>
                </a:cubicBezTo>
                <a:cubicBezTo>
                  <a:pt x="193" y="24"/>
                  <a:pt x="193" y="24"/>
                  <a:pt x="193" y="24"/>
                </a:cubicBezTo>
                <a:cubicBezTo>
                  <a:pt x="193" y="11"/>
                  <a:pt x="182" y="0"/>
                  <a:pt x="168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6" name="Freeform 14">
            <a:extLst>
              <a:ext uri="{FF2B5EF4-FFF2-40B4-BE49-F238E27FC236}">
                <a16:creationId xmlns:a16="http://schemas.microsoft.com/office/drawing/2014/main" id="{899F88D3-5C91-4BBA-BE63-9371B4B356C8}"/>
              </a:ext>
            </a:extLst>
          </p:cNvPr>
          <p:cNvSpPr>
            <a:spLocks noGrp="1"/>
          </p:cNvSpPr>
          <p:nvPr/>
        </p:nvSpPr>
        <p:spPr>
          <a:xfrm>
            <a:off x="10855003" y="1240208"/>
            <a:ext cx="24455" cy="24472"/>
          </a:xfrm>
          <a:custGeom>
            <a:avLst/>
            <a:gdLst>
              <a:gd name="T0" fmla="*/ 168 w 193"/>
              <a:gd name="T1" fmla="*/ 0 h 192"/>
              <a:gd name="T2" fmla="*/ 24 w 193"/>
              <a:gd name="T3" fmla="*/ 0 h 192"/>
              <a:gd name="T4" fmla="*/ 0 w 193"/>
              <a:gd name="T5" fmla="*/ 24 h 192"/>
              <a:gd name="T6" fmla="*/ 0 w 193"/>
              <a:gd name="T7" fmla="*/ 168 h 192"/>
              <a:gd name="T8" fmla="*/ 24 w 193"/>
              <a:gd name="T9" fmla="*/ 192 h 192"/>
              <a:gd name="T10" fmla="*/ 168 w 193"/>
              <a:gd name="T11" fmla="*/ 192 h 192"/>
              <a:gd name="T12" fmla="*/ 193 w 193"/>
              <a:gd name="T13" fmla="*/ 168 h 192"/>
              <a:gd name="T14" fmla="*/ 193 w 193"/>
              <a:gd name="T15" fmla="*/ 24 h 192"/>
              <a:gd name="T16" fmla="*/ 168 w 193"/>
              <a:gd name="T17" fmla="*/ 0 h 192"/>
            </a:gdLst>
            <a:ahLst/>
            <a:cxnLst/>
            <a:rect l="0" t="0" r="r" b="b"/>
            <a:pathLst>
              <a:path w="193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1"/>
                  <a:pt x="11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2" y="192"/>
                  <a:pt x="193" y="181"/>
                  <a:pt x="193" y="168"/>
                </a:cubicBezTo>
                <a:cubicBezTo>
                  <a:pt x="193" y="24"/>
                  <a:pt x="193" y="24"/>
                  <a:pt x="193" y="24"/>
                </a:cubicBezTo>
                <a:cubicBezTo>
                  <a:pt x="193" y="11"/>
                  <a:pt x="182" y="0"/>
                  <a:pt x="168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7" name="Freeform 15">
            <a:extLst>
              <a:ext uri="{FF2B5EF4-FFF2-40B4-BE49-F238E27FC236}">
                <a16:creationId xmlns:a16="http://schemas.microsoft.com/office/drawing/2014/main" id="{C1C5DCC2-9B40-4DA3-AB2F-ED9C5D891CE6}"/>
              </a:ext>
            </a:extLst>
          </p:cNvPr>
          <p:cNvSpPr>
            <a:spLocks noGrp="1"/>
          </p:cNvSpPr>
          <p:nvPr/>
        </p:nvSpPr>
        <p:spPr>
          <a:xfrm>
            <a:off x="10855003" y="1276945"/>
            <a:ext cx="24455" cy="24634"/>
          </a:xfrm>
          <a:custGeom>
            <a:avLst/>
            <a:gdLst>
              <a:gd name="T0" fmla="*/ 168 w 193"/>
              <a:gd name="T1" fmla="*/ 0 h 193"/>
              <a:gd name="T2" fmla="*/ 24 w 193"/>
              <a:gd name="T3" fmla="*/ 0 h 193"/>
              <a:gd name="T4" fmla="*/ 0 w 193"/>
              <a:gd name="T5" fmla="*/ 25 h 193"/>
              <a:gd name="T6" fmla="*/ 0 w 193"/>
              <a:gd name="T7" fmla="*/ 169 h 193"/>
              <a:gd name="T8" fmla="*/ 24 w 193"/>
              <a:gd name="T9" fmla="*/ 193 h 193"/>
              <a:gd name="T10" fmla="*/ 168 w 193"/>
              <a:gd name="T11" fmla="*/ 193 h 193"/>
              <a:gd name="T12" fmla="*/ 193 w 193"/>
              <a:gd name="T13" fmla="*/ 169 h 193"/>
              <a:gd name="T14" fmla="*/ 193 w 193"/>
              <a:gd name="T15" fmla="*/ 25 h 193"/>
              <a:gd name="T16" fmla="*/ 168 w 193"/>
              <a:gd name="T17" fmla="*/ 0 h 193"/>
            </a:gdLst>
            <a:ahLst/>
            <a:cxnLst/>
            <a:rect l="0" t="0" r="r" b="b"/>
            <a:pathLst>
              <a:path w="193" h="193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5"/>
                </a:cubicBezTo>
                <a:cubicBezTo>
                  <a:pt x="0" y="169"/>
                  <a:pt x="0" y="169"/>
                  <a:pt x="0" y="169"/>
                </a:cubicBezTo>
                <a:cubicBezTo>
                  <a:pt x="0" y="182"/>
                  <a:pt x="11" y="193"/>
                  <a:pt x="24" y="193"/>
                </a:cubicBezTo>
                <a:cubicBezTo>
                  <a:pt x="168" y="193"/>
                  <a:pt x="168" y="193"/>
                  <a:pt x="168" y="193"/>
                </a:cubicBezTo>
                <a:cubicBezTo>
                  <a:pt x="182" y="193"/>
                  <a:pt x="193" y="182"/>
                  <a:pt x="193" y="169"/>
                </a:cubicBezTo>
                <a:cubicBezTo>
                  <a:pt x="193" y="25"/>
                  <a:pt x="193" y="25"/>
                  <a:pt x="193" y="25"/>
                </a:cubicBezTo>
                <a:cubicBezTo>
                  <a:pt x="193" y="11"/>
                  <a:pt x="182" y="0"/>
                  <a:pt x="168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8" name="Freeform 16">
            <a:extLst>
              <a:ext uri="{FF2B5EF4-FFF2-40B4-BE49-F238E27FC236}">
                <a16:creationId xmlns:a16="http://schemas.microsoft.com/office/drawing/2014/main" id="{0721D991-881C-4DBE-AF30-E47AE304B7B5}"/>
              </a:ext>
            </a:extLst>
          </p:cNvPr>
          <p:cNvSpPr>
            <a:spLocks noGrp="1"/>
          </p:cNvSpPr>
          <p:nvPr/>
        </p:nvSpPr>
        <p:spPr>
          <a:xfrm>
            <a:off x="10891632" y="1203365"/>
            <a:ext cx="24294" cy="24472"/>
          </a:xfrm>
          <a:custGeom>
            <a:avLst/>
            <a:gdLst>
              <a:gd name="T0" fmla="*/ 168 w 192"/>
              <a:gd name="T1" fmla="*/ 0 h 192"/>
              <a:gd name="T2" fmla="*/ 24 w 192"/>
              <a:gd name="T3" fmla="*/ 0 h 192"/>
              <a:gd name="T4" fmla="*/ 0 w 192"/>
              <a:gd name="T5" fmla="*/ 24 h 192"/>
              <a:gd name="T6" fmla="*/ 0 w 192"/>
              <a:gd name="T7" fmla="*/ 168 h 192"/>
              <a:gd name="T8" fmla="*/ 24 w 192"/>
              <a:gd name="T9" fmla="*/ 192 h 192"/>
              <a:gd name="T10" fmla="*/ 168 w 192"/>
              <a:gd name="T11" fmla="*/ 192 h 192"/>
              <a:gd name="T12" fmla="*/ 192 w 192"/>
              <a:gd name="T13" fmla="*/ 168 h 192"/>
              <a:gd name="T14" fmla="*/ 192 w 192"/>
              <a:gd name="T15" fmla="*/ 24 h 192"/>
              <a:gd name="T16" fmla="*/ 168 w 192"/>
              <a:gd name="T17" fmla="*/ 0 h 192"/>
            </a:gdLst>
            <a:ahLst/>
            <a:cxnLst/>
            <a:rect l="0" t="0" r="r" b="b"/>
            <a:pathLst>
              <a:path w="192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2"/>
                  <a:pt x="11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1" y="192"/>
                  <a:pt x="192" y="182"/>
                  <a:pt x="192" y="168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9" name="Freeform 17">
            <a:extLst>
              <a:ext uri="{FF2B5EF4-FFF2-40B4-BE49-F238E27FC236}">
                <a16:creationId xmlns:a16="http://schemas.microsoft.com/office/drawing/2014/main" id="{97111254-2A6F-40F4-8741-1C703E43B986}"/>
              </a:ext>
            </a:extLst>
          </p:cNvPr>
          <p:cNvSpPr>
            <a:spLocks noGrp="1"/>
          </p:cNvSpPr>
          <p:nvPr/>
        </p:nvSpPr>
        <p:spPr>
          <a:xfrm>
            <a:off x="10891632" y="1240208"/>
            <a:ext cx="24294" cy="24472"/>
          </a:xfrm>
          <a:custGeom>
            <a:avLst/>
            <a:gdLst>
              <a:gd name="T0" fmla="*/ 168 w 192"/>
              <a:gd name="T1" fmla="*/ 0 h 192"/>
              <a:gd name="T2" fmla="*/ 24 w 192"/>
              <a:gd name="T3" fmla="*/ 0 h 192"/>
              <a:gd name="T4" fmla="*/ 0 w 192"/>
              <a:gd name="T5" fmla="*/ 24 h 192"/>
              <a:gd name="T6" fmla="*/ 0 w 192"/>
              <a:gd name="T7" fmla="*/ 168 h 192"/>
              <a:gd name="T8" fmla="*/ 24 w 192"/>
              <a:gd name="T9" fmla="*/ 192 h 192"/>
              <a:gd name="T10" fmla="*/ 168 w 192"/>
              <a:gd name="T11" fmla="*/ 192 h 192"/>
              <a:gd name="T12" fmla="*/ 192 w 192"/>
              <a:gd name="T13" fmla="*/ 168 h 192"/>
              <a:gd name="T14" fmla="*/ 192 w 192"/>
              <a:gd name="T15" fmla="*/ 24 h 192"/>
              <a:gd name="T16" fmla="*/ 168 w 192"/>
              <a:gd name="T17" fmla="*/ 0 h 192"/>
            </a:gdLst>
            <a:ahLst/>
            <a:cxnLst/>
            <a:rect l="0" t="0" r="r" b="b"/>
            <a:pathLst>
              <a:path w="192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1"/>
                  <a:pt x="11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1" y="192"/>
                  <a:pt x="192" y="181"/>
                  <a:pt x="192" y="168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50" name="Freeform 18">
            <a:extLst>
              <a:ext uri="{FF2B5EF4-FFF2-40B4-BE49-F238E27FC236}">
                <a16:creationId xmlns:a16="http://schemas.microsoft.com/office/drawing/2014/main" id="{3448ADF5-3363-4495-90EA-D3397EA0A37A}"/>
              </a:ext>
            </a:extLst>
          </p:cNvPr>
          <p:cNvSpPr>
            <a:spLocks noGrp="1"/>
          </p:cNvSpPr>
          <p:nvPr/>
        </p:nvSpPr>
        <p:spPr>
          <a:xfrm>
            <a:off x="10891632" y="1276945"/>
            <a:ext cx="24294" cy="24634"/>
          </a:xfrm>
          <a:custGeom>
            <a:avLst/>
            <a:gdLst>
              <a:gd name="T0" fmla="*/ 168 w 192"/>
              <a:gd name="T1" fmla="*/ 0 h 193"/>
              <a:gd name="T2" fmla="*/ 24 w 192"/>
              <a:gd name="T3" fmla="*/ 0 h 193"/>
              <a:gd name="T4" fmla="*/ 0 w 192"/>
              <a:gd name="T5" fmla="*/ 25 h 193"/>
              <a:gd name="T6" fmla="*/ 0 w 192"/>
              <a:gd name="T7" fmla="*/ 169 h 193"/>
              <a:gd name="T8" fmla="*/ 24 w 192"/>
              <a:gd name="T9" fmla="*/ 193 h 193"/>
              <a:gd name="T10" fmla="*/ 168 w 192"/>
              <a:gd name="T11" fmla="*/ 193 h 193"/>
              <a:gd name="T12" fmla="*/ 192 w 192"/>
              <a:gd name="T13" fmla="*/ 169 h 193"/>
              <a:gd name="T14" fmla="*/ 192 w 192"/>
              <a:gd name="T15" fmla="*/ 25 h 193"/>
              <a:gd name="T16" fmla="*/ 168 w 192"/>
              <a:gd name="T17" fmla="*/ 0 h 193"/>
            </a:gdLst>
            <a:ahLst/>
            <a:cxnLst/>
            <a:rect l="0" t="0" r="r" b="b"/>
            <a:pathLst>
              <a:path w="192" h="193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5"/>
                </a:cubicBezTo>
                <a:cubicBezTo>
                  <a:pt x="0" y="169"/>
                  <a:pt x="0" y="169"/>
                  <a:pt x="0" y="169"/>
                </a:cubicBezTo>
                <a:cubicBezTo>
                  <a:pt x="0" y="182"/>
                  <a:pt x="11" y="193"/>
                  <a:pt x="24" y="193"/>
                </a:cubicBezTo>
                <a:cubicBezTo>
                  <a:pt x="168" y="193"/>
                  <a:pt x="168" y="193"/>
                  <a:pt x="168" y="193"/>
                </a:cubicBezTo>
                <a:cubicBezTo>
                  <a:pt x="181" y="193"/>
                  <a:pt x="192" y="182"/>
                  <a:pt x="192" y="169"/>
                </a:cubicBezTo>
                <a:cubicBezTo>
                  <a:pt x="192" y="25"/>
                  <a:pt x="192" y="25"/>
                  <a:pt x="192" y="25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51" name="Freeform 19">
            <a:extLst>
              <a:ext uri="{FF2B5EF4-FFF2-40B4-BE49-F238E27FC236}">
                <a16:creationId xmlns:a16="http://schemas.microsoft.com/office/drawing/2014/main" id="{A11FFFD8-A688-46DB-9518-83D23CB9AE91}"/>
              </a:ext>
            </a:extLst>
          </p:cNvPr>
          <p:cNvSpPr>
            <a:spLocks noGrp="1"/>
          </p:cNvSpPr>
          <p:nvPr/>
        </p:nvSpPr>
        <p:spPr>
          <a:xfrm>
            <a:off x="10928208" y="1203365"/>
            <a:ext cx="24348" cy="24472"/>
          </a:xfrm>
          <a:custGeom>
            <a:avLst/>
            <a:gdLst>
              <a:gd name="T0" fmla="*/ 168 w 192"/>
              <a:gd name="T1" fmla="*/ 0 h 192"/>
              <a:gd name="T2" fmla="*/ 24 w 192"/>
              <a:gd name="T3" fmla="*/ 0 h 192"/>
              <a:gd name="T4" fmla="*/ 0 w 192"/>
              <a:gd name="T5" fmla="*/ 24 h 192"/>
              <a:gd name="T6" fmla="*/ 0 w 192"/>
              <a:gd name="T7" fmla="*/ 168 h 192"/>
              <a:gd name="T8" fmla="*/ 24 w 192"/>
              <a:gd name="T9" fmla="*/ 192 h 192"/>
              <a:gd name="T10" fmla="*/ 168 w 192"/>
              <a:gd name="T11" fmla="*/ 192 h 192"/>
              <a:gd name="T12" fmla="*/ 192 w 192"/>
              <a:gd name="T13" fmla="*/ 168 h 192"/>
              <a:gd name="T14" fmla="*/ 192 w 192"/>
              <a:gd name="T15" fmla="*/ 24 h 192"/>
              <a:gd name="T16" fmla="*/ 168 w 192"/>
              <a:gd name="T17" fmla="*/ 0 h 192"/>
            </a:gdLst>
            <a:ahLst/>
            <a:cxnLst/>
            <a:rect l="0" t="0" r="r" b="b"/>
            <a:pathLst>
              <a:path w="192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0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2"/>
                  <a:pt x="10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1" y="192"/>
                  <a:pt x="192" y="182"/>
                  <a:pt x="192" y="168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52" name="Freeform 20">
            <a:extLst>
              <a:ext uri="{FF2B5EF4-FFF2-40B4-BE49-F238E27FC236}">
                <a16:creationId xmlns:a16="http://schemas.microsoft.com/office/drawing/2014/main" id="{3B48C2AB-505E-4332-A44A-9D533A650440}"/>
              </a:ext>
            </a:extLst>
          </p:cNvPr>
          <p:cNvSpPr>
            <a:spLocks noGrp="1"/>
          </p:cNvSpPr>
          <p:nvPr/>
        </p:nvSpPr>
        <p:spPr>
          <a:xfrm>
            <a:off x="10928208" y="1240208"/>
            <a:ext cx="24348" cy="24472"/>
          </a:xfrm>
          <a:custGeom>
            <a:avLst/>
            <a:gdLst>
              <a:gd name="T0" fmla="*/ 168 w 192"/>
              <a:gd name="T1" fmla="*/ 0 h 192"/>
              <a:gd name="T2" fmla="*/ 24 w 192"/>
              <a:gd name="T3" fmla="*/ 0 h 192"/>
              <a:gd name="T4" fmla="*/ 0 w 192"/>
              <a:gd name="T5" fmla="*/ 24 h 192"/>
              <a:gd name="T6" fmla="*/ 0 w 192"/>
              <a:gd name="T7" fmla="*/ 168 h 192"/>
              <a:gd name="T8" fmla="*/ 24 w 192"/>
              <a:gd name="T9" fmla="*/ 192 h 192"/>
              <a:gd name="T10" fmla="*/ 168 w 192"/>
              <a:gd name="T11" fmla="*/ 192 h 192"/>
              <a:gd name="T12" fmla="*/ 192 w 192"/>
              <a:gd name="T13" fmla="*/ 168 h 192"/>
              <a:gd name="T14" fmla="*/ 192 w 192"/>
              <a:gd name="T15" fmla="*/ 24 h 192"/>
              <a:gd name="T16" fmla="*/ 168 w 192"/>
              <a:gd name="T17" fmla="*/ 0 h 192"/>
            </a:gdLst>
            <a:ahLst/>
            <a:cxnLst/>
            <a:rect l="0" t="0" r="r" b="b"/>
            <a:pathLst>
              <a:path w="192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0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1"/>
                  <a:pt x="10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1" y="192"/>
                  <a:pt x="192" y="181"/>
                  <a:pt x="192" y="168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53" name="Freeform 21">
            <a:extLst>
              <a:ext uri="{FF2B5EF4-FFF2-40B4-BE49-F238E27FC236}">
                <a16:creationId xmlns:a16="http://schemas.microsoft.com/office/drawing/2014/main" id="{EBFBAB80-64C2-4E27-A1CC-A218E6C35627}"/>
              </a:ext>
            </a:extLst>
          </p:cNvPr>
          <p:cNvSpPr>
            <a:spLocks noGrp="1"/>
          </p:cNvSpPr>
          <p:nvPr/>
        </p:nvSpPr>
        <p:spPr>
          <a:xfrm>
            <a:off x="10928208" y="1276945"/>
            <a:ext cx="24348" cy="24634"/>
          </a:xfrm>
          <a:custGeom>
            <a:avLst/>
            <a:gdLst>
              <a:gd name="T0" fmla="*/ 168 w 192"/>
              <a:gd name="T1" fmla="*/ 0 h 193"/>
              <a:gd name="T2" fmla="*/ 24 w 192"/>
              <a:gd name="T3" fmla="*/ 0 h 193"/>
              <a:gd name="T4" fmla="*/ 0 w 192"/>
              <a:gd name="T5" fmla="*/ 25 h 193"/>
              <a:gd name="T6" fmla="*/ 0 w 192"/>
              <a:gd name="T7" fmla="*/ 169 h 193"/>
              <a:gd name="T8" fmla="*/ 24 w 192"/>
              <a:gd name="T9" fmla="*/ 193 h 193"/>
              <a:gd name="T10" fmla="*/ 168 w 192"/>
              <a:gd name="T11" fmla="*/ 193 h 193"/>
              <a:gd name="T12" fmla="*/ 192 w 192"/>
              <a:gd name="T13" fmla="*/ 169 h 193"/>
              <a:gd name="T14" fmla="*/ 192 w 192"/>
              <a:gd name="T15" fmla="*/ 25 h 193"/>
              <a:gd name="T16" fmla="*/ 168 w 192"/>
              <a:gd name="T17" fmla="*/ 0 h 193"/>
            </a:gdLst>
            <a:ahLst/>
            <a:cxnLst/>
            <a:rect l="0" t="0" r="r" b="b"/>
            <a:pathLst>
              <a:path w="192" h="193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0" y="0"/>
                  <a:pt x="0" y="11"/>
                  <a:pt x="0" y="25"/>
                </a:cubicBezTo>
                <a:cubicBezTo>
                  <a:pt x="0" y="169"/>
                  <a:pt x="0" y="169"/>
                  <a:pt x="0" y="169"/>
                </a:cubicBezTo>
                <a:cubicBezTo>
                  <a:pt x="0" y="182"/>
                  <a:pt x="10" y="193"/>
                  <a:pt x="24" y="193"/>
                </a:cubicBezTo>
                <a:cubicBezTo>
                  <a:pt x="168" y="193"/>
                  <a:pt x="168" y="193"/>
                  <a:pt x="168" y="193"/>
                </a:cubicBezTo>
                <a:cubicBezTo>
                  <a:pt x="181" y="193"/>
                  <a:pt x="192" y="182"/>
                  <a:pt x="192" y="169"/>
                </a:cubicBezTo>
                <a:cubicBezTo>
                  <a:pt x="192" y="25"/>
                  <a:pt x="192" y="25"/>
                  <a:pt x="192" y="25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3" name="Freeform 25">
            <a:extLst>
              <a:ext uri="{FF2B5EF4-FFF2-40B4-BE49-F238E27FC236}">
                <a16:creationId xmlns:a16="http://schemas.microsoft.com/office/drawing/2014/main" id="{27106E3B-5EE5-442B-87E5-0B8163B99979}"/>
              </a:ext>
            </a:extLst>
          </p:cNvPr>
          <p:cNvSpPr>
            <a:spLocks noGrp="1"/>
          </p:cNvSpPr>
          <p:nvPr/>
        </p:nvSpPr>
        <p:spPr>
          <a:xfrm rot="5400000">
            <a:off x="10856706" y="1416310"/>
            <a:ext cx="92256" cy="81375"/>
          </a:xfrm>
          <a:custGeom>
            <a:avLst/>
            <a:gdLst>
              <a:gd name="T0" fmla="*/ 504 w 896"/>
              <a:gd name="T1" fmla="*/ 0 h 784"/>
              <a:gd name="T2" fmla="*/ 116 w 896"/>
              <a:gd name="T3" fmla="*/ 336 h 784"/>
              <a:gd name="T4" fmla="*/ 0 w 896"/>
              <a:gd name="T5" fmla="*/ 336 h 784"/>
              <a:gd name="T6" fmla="*/ 168 w 896"/>
              <a:gd name="T7" fmla="*/ 560 h 784"/>
              <a:gd name="T8" fmla="*/ 336 w 896"/>
              <a:gd name="T9" fmla="*/ 336 h 784"/>
              <a:gd name="T10" fmla="*/ 230 w 896"/>
              <a:gd name="T11" fmla="*/ 336 h 784"/>
              <a:gd name="T12" fmla="*/ 504 w 896"/>
              <a:gd name="T13" fmla="*/ 112 h 784"/>
              <a:gd name="T14" fmla="*/ 784 w 896"/>
              <a:gd name="T15" fmla="*/ 392 h 784"/>
              <a:gd name="T16" fmla="*/ 504 w 896"/>
              <a:gd name="T17" fmla="*/ 672 h 784"/>
              <a:gd name="T18" fmla="*/ 504 w 896"/>
              <a:gd name="T19" fmla="*/ 784 h 784"/>
              <a:gd name="T20" fmla="*/ 896 w 896"/>
              <a:gd name="T21" fmla="*/ 392 h 784"/>
              <a:gd name="T22" fmla="*/ 504 w 896"/>
              <a:gd name="T23" fmla="*/ 0 h 784"/>
            </a:gdLst>
            <a:ahLst/>
            <a:cxnLst/>
            <a:rect l="0" t="0" r="r" b="b"/>
            <a:pathLst>
              <a:path w="896" h="784">
                <a:moveTo>
                  <a:pt x="504" y="0"/>
                </a:moveTo>
                <a:cubicBezTo>
                  <a:pt x="307" y="0"/>
                  <a:pt x="144" y="146"/>
                  <a:pt x="116" y="336"/>
                </a:cubicBezTo>
                <a:cubicBezTo>
                  <a:pt x="0" y="336"/>
                  <a:pt x="0" y="336"/>
                  <a:pt x="0" y="336"/>
                </a:cubicBezTo>
                <a:cubicBezTo>
                  <a:pt x="168" y="560"/>
                  <a:pt x="168" y="560"/>
                  <a:pt x="168" y="560"/>
                </a:cubicBezTo>
                <a:cubicBezTo>
                  <a:pt x="336" y="336"/>
                  <a:pt x="336" y="336"/>
                  <a:pt x="336" y="336"/>
                </a:cubicBezTo>
                <a:cubicBezTo>
                  <a:pt x="230" y="336"/>
                  <a:pt x="230" y="336"/>
                  <a:pt x="230" y="336"/>
                </a:cubicBezTo>
                <a:cubicBezTo>
                  <a:pt x="256" y="208"/>
                  <a:pt x="369" y="112"/>
                  <a:pt x="504" y="112"/>
                </a:cubicBezTo>
                <a:cubicBezTo>
                  <a:pt x="658" y="112"/>
                  <a:pt x="784" y="238"/>
                  <a:pt x="784" y="392"/>
                </a:cubicBezTo>
                <a:cubicBezTo>
                  <a:pt x="784" y="546"/>
                  <a:pt x="658" y="672"/>
                  <a:pt x="504" y="672"/>
                </a:cubicBezTo>
                <a:cubicBezTo>
                  <a:pt x="504" y="784"/>
                  <a:pt x="504" y="784"/>
                  <a:pt x="504" y="784"/>
                </a:cubicBezTo>
                <a:cubicBezTo>
                  <a:pt x="721" y="784"/>
                  <a:pt x="896" y="609"/>
                  <a:pt x="896" y="392"/>
                </a:cubicBezTo>
                <a:cubicBezTo>
                  <a:pt x="896" y="175"/>
                  <a:pt x="721" y="0"/>
                  <a:pt x="504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4" name="Oval 6">
            <a:extLst>
              <a:ext uri="{FF2B5EF4-FFF2-40B4-BE49-F238E27FC236}">
                <a16:creationId xmlns:a16="http://schemas.microsoft.com/office/drawing/2014/main" id="{AFFAA0AD-114A-4831-ACE3-B8C4258E3CB5}"/>
              </a:ext>
            </a:extLst>
          </p:cNvPr>
          <p:cNvSpPr>
            <a:spLocks noGrp="1"/>
          </p:cNvSpPr>
          <p:nvPr/>
        </p:nvSpPr>
        <p:spPr>
          <a:xfrm>
            <a:off x="7188667" y="1225567"/>
            <a:ext cx="60220" cy="60265"/>
          </a:xfrm>
          <a:prstGeom prst="ellipse">
            <a:avLst/>
          </a:prstGeom>
          <a:solidFill>
            <a:schemeClr val="accent5"/>
          </a:solidFill>
          <a:ln w="25400">
            <a:noFill/>
            <a:prstDash val="solid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4BEAEF8-91EF-49C8-A667-2BC7D51C2397}"/>
              </a:ext>
            </a:extLst>
          </p:cNvPr>
          <p:cNvSpPr>
            <a:spLocks noGrp="1"/>
          </p:cNvSpPr>
          <p:nvPr/>
        </p:nvSpPr>
        <p:spPr>
          <a:xfrm>
            <a:off x="7650494" y="1340551"/>
            <a:ext cx="1000920" cy="2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chemeClr val="tx1"/>
                </a:solidFill>
                <a:latin typeface="Poppins Light"/>
                <a:ea typeface="Poppins Light"/>
                <a:cs typeface="Poppins Light"/>
              </a:rPr>
              <a:t>www.lider.com</a:t>
            </a:r>
          </a:p>
        </p:txBody>
      </p:sp>
      <p:sp>
        <p:nvSpPr>
          <p:cNvPr id="34" name="Freeform 29">
            <a:extLst>
              <a:ext uri="{FF2B5EF4-FFF2-40B4-BE49-F238E27FC236}">
                <a16:creationId xmlns:a16="http://schemas.microsoft.com/office/drawing/2014/main" id="{1C88632E-4E09-404A-9868-C0997FA11EAD}"/>
              </a:ext>
            </a:extLst>
          </p:cNvPr>
          <p:cNvSpPr>
            <a:spLocks noGrp="1"/>
          </p:cNvSpPr>
          <p:nvPr/>
        </p:nvSpPr>
        <p:spPr>
          <a:xfrm>
            <a:off x="7574411" y="1425286"/>
            <a:ext cx="72445" cy="73024"/>
          </a:xfrm>
          <a:custGeom>
            <a:avLst/>
            <a:gdLst>
              <a:gd name="T0" fmla="*/ 0 w 636"/>
              <a:gd name="T1" fmla="*/ 318 h 636"/>
              <a:gd name="T2" fmla="*/ 636 w 636"/>
              <a:gd name="T3" fmla="*/ 318 h 636"/>
              <a:gd name="T4" fmla="*/ 594 w 636"/>
              <a:gd name="T5" fmla="*/ 308 h 636"/>
              <a:gd name="T6" fmla="*/ 448 w 636"/>
              <a:gd name="T7" fmla="*/ 179 h 636"/>
              <a:gd name="T8" fmla="*/ 594 w 636"/>
              <a:gd name="T9" fmla="*/ 308 h 636"/>
              <a:gd name="T10" fmla="*/ 223 w 636"/>
              <a:gd name="T11" fmla="*/ 486 h 636"/>
              <a:gd name="T12" fmla="*/ 308 w 636"/>
              <a:gd name="T13" fmla="*/ 594 h 636"/>
              <a:gd name="T14" fmla="*/ 329 w 636"/>
              <a:gd name="T15" fmla="*/ 42 h 636"/>
              <a:gd name="T16" fmla="*/ 328 w 636"/>
              <a:gd name="T17" fmla="*/ 184 h 636"/>
              <a:gd name="T18" fmla="*/ 329 w 636"/>
              <a:gd name="T19" fmla="*/ 42 h 636"/>
              <a:gd name="T20" fmla="*/ 510 w 636"/>
              <a:gd name="T21" fmla="*/ 119 h 636"/>
              <a:gd name="T22" fmla="*/ 363 w 636"/>
              <a:gd name="T23" fmla="*/ 45 h 636"/>
              <a:gd name="T24" fmla="*/ 308 w 636"/>
              <a:gd name="T25" fmla="*/ 184 h 636"/>
              <a:gd name="T26" fmla="*/ 307 w 636"/>
              <a:gd name="T27" fmla="*/ 42 h 636"/>
              <a:gd name="T28" fmla="*/ 196 w 636"/>
              <a:gd name="T29" fmla="*/ 160 h 636"/>
              <a:gd name="T30" fmla="*/ 273 w 636"/>
              <a:gd name="T31" fmla="*/ 45 h 636"/>
              <a:gd name="T32" fmla="*/ 207 w 636"/>
              <a:gd name="T33" fmla="*/ 186 h 636"/>
              <a:gd name="T34" fmla="*/ 308 w 636"/>
              <a:gd name="T35" fmla="*/ 308 h 636"/>
              <a:gd name="T36" fmla="*/ 207 w 636"/>
              <a:gd name="T37" fmla="*/ 186 h 636"/>
              <a:gd name="T38" fmla="*/ 308 w 636"/>
              <a:gd name="T39" fmla="*/ 452 h 636"/>
              <a:gd name="T40" fmla="*/ 185 w 636"/>
              <a:gd name="T41" fmla="*/ 328 h 636"/>
              <a:gd name="T42" fmla="*/ 273 w 636"/>
              <a:gd name="T43" fmla="*/ 591 h 636"/>
              <a:gd name="T44" fmla="*/ 204 w 636"/>
              <a:gd name="T45" fmla="*/ 493 h 636"/>
              <a:gd name="T46" fmla="*/ 328 w 636"/>
              <a:gd name="T47" fmla="*/ 594 h 636"/>
              <a:gd name="T48" fmla="*/ 413 w 636"/>
              <a:gd name="T49" fmla="*/ 486 h 636"/>
              <a:gd name="T50" fmla="*/ 328 w 636"/>
              <a:gd name="T51" fmla="*/ 594 h 636"/>
              <a:gd name="T52" fmla="*/ 498 w 636"/>
              <a:gd name="T53" fmla="*/ 528 h 636"/>
              <a:gd name="T54" fmla="*/ 432 w 636"/>
              <a:gd name="T55" fmla="*/ 493 h 636"/>
              <a:gd name="T56" fmla="*/ 328 w 636"/>
              <a:gd name="T57" fmla="*/ 452 h 636"/>
              <a:gd name="T58" fmla="*/ 451 w 636"/>
              <a:gd name="T59" fmla="*/ 328 h 636"/>
              <a:gd name="T60" fmla="*/ 328 w 636"/>
              <a:gd name="T61" fmla="*/ 308 h 636"/>
              <a:gd name="T62" fmla="*/ 429 w 636"/>
              <a:gd name="T63" fmla="*/ 186 h 636"/>
              <a:gd name="T64" fmla="*/ 328 w 636"/>
              <a:gd name="T65" fmla="*/ 308 h 636"/>
              <a:gd name="T66" fmla="*/ 188 w 636"/>
              <a:gd name="T67" fmla="*/ 179 h 636"/>
              <a:gd name="T68" fmla="*/ 42 w 636"/>
              <a:gd name="T69" fmla="*/ 308 h 636"/>
              <a:gd name="T70" fmla="*/ 42 w 636"/>
              <a:gd name="T71" fmla="*/ 328 h 636"/>
              <a:gd name="T72" fmla="*/ 195 w 636"/>
              <a:gd name="T73" fmla="*/ 475 h 636"/>
              <a:gd name="T74" fmla="*/ 42 w 636"/>
              <a:gd name="T75" fmla="*/ 328 h 636"/>
              <a:gd name="T76" fmla="*/ 441 w 636"/>
              <a:gd name="T77" fmla="*/ 475 h 636"/>
              <a:gd name="T78" fmla="*/ 594 w 636"/>
              <a:gd name="T79" fmla="*/ 328 h 636"/>
            </a:gdLst>
            <a:ahLst/>
            <a:cxnLst/>
            <a:rect l="0" t="0" r="r" b="b"/>
            <a:pathLst>
              <a:path w="636" h="636">
                <a:moveTo>
                  <a:pt x="318" y="0"/>
                </a:moveTo>
                <a:cubicBezTo>
                  <a:pt x="142" y="0"/>
                  <a:pt x="0" y="142"/>
                  <a:pt x="0" y="318"/>
                </a:cubicBezTo>
                <a:cubicBezTo>
                  <a:pt x="0" y="494"/>
                  <a:pt x="142" y="636"/>
                  <a:pt x="318" y="636"/>
                </a:cubicBezTo>
                <a:cubicBezTo>
                  <a:pt x="494" y="636"/>
                  <a:pt x="636" y="494"/>
                  <a:pt x="636" y="318"/>
                </a:cubicBezTo>
                <a:cubicBezTo>
                  <a:pt x="636" y="142"/>
                  <a:pt x="494" y="0"/>
                  <a:pt x="318" y="0"/>
                </a:cubicBezTo>
                <a:close/>
                <a:moveTo>
                  <a:pt x="594" y="308"/>
                </a:moveTo>
                <a:cubicBezTo>
                  <a:pt x="471" y="308"/>
                  <a:pt x="471" y="308"/>
                  <a:pt x="471" y="308"/>
                </a:cubicBezTo>
                <a:cubicBezTo>
                  <a:pt x="470" y="262"/>
                  <a:pt x="462" y="219"/>
                  <a:pt x="448" y="179"/>
                </a:cubicBezTo>
                <a:cubicBezTo>
                  <a:pt x="476" y="168"/>
                  <a:pt x="501" y="152"/>
                  <a:pt x="525" y="134"/>
                </a:cubicBezTo>
                <a:cubicBezTo>
                  <a:pt x="566" y="181"/>
                  <a:pt x="592" y="241"/>
                  <a:pt x="594" y="308"/>
                </a:cubicBezTo>
                <a:close/>
                <a:moveTo>
                  <a:pt x="307" y="594"/>
                </a:moveTo>
                <a:cubicBezTo>
                  <a:pt x="273" y="566"/>
                  <a:pt x="244" y="529"/>
                  <a:pt x="223" y="486"/>
                </a:cubicBezTo>
                <a:cubicBezTo>
                  <a:pt x="250" y="478"/>
                  <a:pt x="278" y="473"/>
                  <a:pt x="308" y="472"/>
                </a:cubicBezTo>
                <a:cubicBezTo>
                  <a:pt x="308" y="594"/>
                  <a:pt x="308" y="594"/>
                  <a:pt x="308" y="594"/>
                </a:cubicBezTo>
                <a:cubicBezTo>
                  <a:pt x="307" y="594"/>
                  <a:pt x="307" y="594"/>
                  <a:pt x="307" y="594"/>
                </a:cubicBezTo>
                <a:close/>
                <a:moveTo>
                  <a:pt x="329" y="42"/>
                </a:moveTo>
                <a:cubicBezTo>
                  <a:pt x="368" y="74"/>
                  <a:pt x="400" y="117"/>
                  <a:pt x="421" y="167"/>
                </a:cubicBezTo>
                <a:cubicBezTo>
                  <a:pt x="392" y="177"/>
                  <a:pt x="361" y="183"/>
                  <a:pt x="328" y="184"/>
                </a:cubicBezTo>
                <a:cubicBezTo>
                  <a:pt x="328" y="42"/>
                  <a:pt x="328" y="42"/>
                  <a:pt x="328" y="42"/>
                </a:cubicBezTo>
                <a:cubicBezTo>
                  <a:pt x="329" y="42"/>
                  <a:pt x="329" y="42"/>
                  <a:pt x="329" y="42"/>
                </a:cubicBezTo>
                <a:close/>
                <a:moveTo>
                  <a:pt x="363" y="45"/>
                </a:moveTo>
                <a:cubicBezTo>
                  <a:pt x="420" y="55"/>
                  <a:pt x="471" y="81"/>
                  <a:pt x="510" y="119"/>
                </a:cubicBezTo>
                <a:cubicBezTo>
                  <a:pt x="489" y="136"/>
                  <a:pt x="466" y="150"/>
                  <a:pt x="440" y="160"/>
                </a:cubicBezTo>
                <a:cubicBezTo>
                  <a:pt x="421" y="116"/>
                  <a:pt x="395" y="77"/>
                  <a:pt x="363" y="45"/>
                </a:cubicBezTo>
                <a:close/>
                <a:moveTo>
                  <a:pt x="308" y="42"/>
                </a:moveTo>
                <a:cubicBezTo>
                  <a:pt x="308" y="184"/>
                  <a:pt x="308" y="184"/>
                  <a:pt x="308" y="184"/>
                </a:cubicBezTo>
                <a:cubicBezTo>
                  <a:pt x="275" y="183"/>
                  <a:pt x="244" y="177"/>
                  <a:pt x="215" y="167"/>
                </a:cubicBezTo>
                <a:cubicBezTo>
                  <a:pt x="236" y="117"/>
                  <a:pt x="268" y="74"/>
                  <a:pt x="307" y="42"/>
                </a:cubicBezTo>
                <a:cubicBezTo>
                  <a:pt x="307" y="42"/>
                  <a:pt x="307" y="42"/>
                  <a:pt x="308" y="42"/>
                </a:cubicBezTo>
                <a:close/>
                <a:moveTo>
                  <a:pt x="196" y="160"/>
                </a:moveTo>
                <a:cubicBezTo>
                  <a:pt x="171" y="150"/>
                  <a:pt x="147" y="136"/>
                  <a:pt x="126" y="119"/>
                </a:cubicBezTo>
                <a:cubicBezTo>
                  <a:pt x="165" y="81"/>
                  <a:pt x="216" y="55"/>
                  <a:pt x="273" y="45"/>
                </a:cubicBezTo>
                <a:cubicBezTo>
                  <a:pt x="241" y="77"/>
                  <a:pt x="215" y="116"/>
                  <a:pt x="196" y="160"/>
                </a:cubicBezTo>
                <a:close/>
                <a:moveTo>
                  <a:pt x="207" y="186"/>
                </a:moveTo>
                <a:cubicBezTo>
                  <a:pt x="239" y="197"/>
                  <a:pt x="273" y="204"/>
                  <a:pt x="308" y="205"/>
                </a:cubicBezTo>
                <a:cubicBezTo>
                  <a:pt x="308" y="308"/>
                  <a:pt x="308" y="308"/>
                  <a:pt x="308" y="308"/>
                </a:cubicBezTo>
                <a:cubicBezTo>
                  <a:pt x="185" y="308"/>
                  <a:pt x="185" y="308"/>
                  <a:pt x="185" y="308"/>
                </a:cubicBezTo>
                <a:cubicBezTo>
                  <a:pt x="186" y="265"/>
                  <a:pt x="194" y="224"/>
                  <a:pt x="207" y="186"/>
                </a:cubicBezTo>
                <a:close/>
                <a:moveTo>
                  <a:pt x="308" y="328"/>
                </a:moveTo>
                <a:cubicBezTo>
                  <a:pt x="308" y="452"/>
                  <a:pt x="308" y="452"/>
                  <a:pt x="308" y="452"/>
                </a:cubicBezTo>
                <a:cubicBezTo>
                  <a:pt x="275" y="453"/>
                  <a:pt x="244" y="458"/>
                  <a:pt x="215" y="468"/>
                </a:cubicBezTo>
                <a:cubicBezTo>
                  <a:pt x="197" y="425"/>
                  <a:pt x="186" y="378"/>
                  <a:pt x="185" y="328"/>
                </a:cubicBezTo>
                <a:lnTo>
                  <a:pt x="308" y="328"/>
                </a:lnTo>
                <a:close/>
                <a:moveTo>
                  <a:pt x="273" y="591"/>
                </a:moveTo>
                <a:cubicBezTo>
                  <a:pt x="222" y="582"/>
                  <a:pt x="176" y="560"/>
                  <a:pt x="138" y="528"/>
                </a:cubicBezTo>
                <a:cubicBezTo>
                  <a:pt x="158" y="514"/>
                  <a:pt x="180" y="502"/>
                  <a:pt x="204" y="493"/>
                </a:cubicBezTo>
                <a:cubicBezTo>
                  <a:pt x="222" y="531"/>
                  <a:pt x="245" y="563"/>
                  <a:pt x="273" y="591"/>
                </a:cubicBezTo>
                <a:close/>
                <a:moveTo>
                  <a:pt x="328" y="594"/>
                </a:moveTo>
                <a:cubicBezTo>
                  <a:pt x="328" y="472"/>
                  <a:pt x="328" y="472"/>
                  <a:pt x="328" y="472"/>
                </a:cubicBezTo>
                <a:cubicBezTo>
                  <a:pt x="358" y="473"/>
                  <a:pt x="386" y="478"/>
                  <a:pt x="413" y="486"/>
                </a:cubicBezTo>
                <a:cubicBezTo>
                  <a:pt x="392" y="529"/>
                  <a:pt x="363" y="566"/>
                  <a:pt x="329" y="594"/>
                </a:cubicBezTo>
                <a:cubicBezTo>
                  <a:pt x="329" y="594"/>
                  <a:pt x="329" y="594"/>
                  <a:pt x="328" y="594"/>
                </a:cubicBezTo>
                <a:close/>
                <a:moveTo>
                  <a:pt x="432" y="493"/>
                </a:moveTo>
                <a:cubicBezTo>
                  <a:pt x="456" y="502"/>
                  <a:pt x="478" y="514"/>
                  <a:pt x="498" y="528"/>
                </a:cubicBezTo>
                <a:cubicBezTo>
                  <a:pt x="460" y="560"/>
                  <a:pt x="414" y="582"/>
                  <a:pt x="363" y="591"/>
                </a:cubicBezTo>
                <a:cubicBezTo>
                  <a:pt x="391" y="563"/>
                  <a:pt x="414" y="531"/>
                  <a:pt x="432" y="493"/>
                </a:cubicBezTo>
                <a:close/>
                <a:moveTo>
                  <a:pt x="421" y="468"/>
                </a:moveTo>
                <a:cubicBezTo>
                  <a:pt x="392" y="458"/>
                  <a:pt x="361" y="453"/>
                  <a:pt x="328" y="452"/>
                </a:cubicBezTo>
                <a:cubicBezTo>
                  <a:pt x="328" y="328"/>
                  <a:pt x="328" y="328"/>
                  <a:pt x="328" y="328"/>
                </a:cubicBezTo>
                <a:cubicBezTo>
                  <a:pt x="451" y="328"/>
                  <a:pt x="451" y="328"/>
                  <a:pt x="451" y="328"/>
                </a:cubicBezTo>
                <a:cubicBezTo>
                  <a:pt x="450" y="378"/>
                  <a:pt x="439" y="425"/>
                  <a:pt x="421" y="468"/>
                </a:cubicBezTo>
                <a:close/>
                <a:moveTo>
                  <a:pt x="328" y="308"/>
                </a:moveTo>
                <a:cubicBezTo>
                  <a:pt x="328" y="205"/>
                  <a:pt x="328" y="205"/>
                  <a:pt x="328" y="205"/>
                </a:cubicBezTo>
                <a:cubicBezTo>
                  <a:pt x="363" y="204"/>
                  <a:pt x="397" y="197"/>
                  <a:pt x="429" y="186"/>
                </a:cubicBezTo>
                <a:cubicBezTo>
                  <a:pt x="442" y="224"/>
                  <a:pt x="450" y="265"/>
                  <a:pt x="451" y="308"/>
                </a:cubicBezTo>
                <a:lnTo>
                  <a:pt x="328" y="308"/>
                </a:lnTo>
                <a:close/>
                <a:moveTo>
                  <a:pt x="111" y="134"/>
                </a:moveTo>
                <a:cubicBezTo>
                  <a:pt x="135" y="152"/>
                  <a:pt x="160" y="168"/>
                  <a:pt x="188" y="179"/>
                </a:cubicBezTo>
                <a:cubicBezTo>
                  <a:pt x="174" y="219"/>
                  <a:pt x="166" y="262"/>
                  <a:pt x="165" y="308"/>
                </a:cubicBezTo>
                <a:cubicBezTo>
                  <a:pt x="42" y="308"/>
                  <a:pt x="42" y="308"/>
                  <a:pt x="42" y="308"/>
                </a:cubicBezTo>
                <a:cubicBezTo>
                  <a:pt x="44" y="241"/>
                  <a:pt x="70" y="181"/>
                  <a:pt x="111" y="134"/>
                </a:cubicBezTo>
                <a:close/>
                <a:moveTo>
                  <a:pt x="42" y="328"/>
                </a:moveTo>
                <a:cubicBezTo>
                  <a:pt x="165" y="328"/>
                  <a:pt x="165" y="328"/>
                  <a:pt x="165" y="328"/>
                </a:cubicBezTo>
                <a:cubicBezTo>
                  <a:pt x="166" y="381"/>
                  <a:pt x="177" y="430"/>
                  <a:pt x="195" y="475"/>
                </a:cubicBezTo>
                <a:cubicBezTo>
                  <a:pt x="169" y="485"/>
                  <a:pt x="145" y="498"/>
                  <a:pt x="123" y="514"/>
                </a:cubicBezTo>
                <a:cubicBezTo>
                  <a:pt x="75" y="466"/>
                  <a:pt x="44" y="401"/>
                  <a:pt x="42" y="328"/>
                </a:cubicBezTo>
                <a:close/>
                <a:moveTo>
                  <a:pt x="513" y="514"/>
                </a:moveTo>
                <a:cubicBezTo>
                  <a:pt x="491" y="498"/>
                  <a:pt x="467" y="485"/>
                  <a:pt x="441" y="475"/>
                </a:cubicBezTo>
                <a:cubicBezTo>
                  <a:pt x="459" y="430"/>
                  <a:pt x="470" y="381"/>
                  <a:pt x="471" y="328"/>
                </a:cubicBezTo>
                <a:cubicBezTo>
                  <a:pt x="594" y="328"/>
                  <a:pt x="594" y="328"/>
                  <a:pt x="594" y="328"/>
                </a:cubicBezTo>
                <a:cubicBezTo>
                  <a:pt x="592" y="401"/>
                  <a:pt x="561" y="466"/>
                  <a:pt x="513" y="514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08EBDD-D3B1-49F6-BC92-38ED9C834091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52DCC5B9-D646-4B76-891F-6FF4E74E9CB4}" type="slidenum">
              <a:rPr>
                <a:solidFill>
                  <a:schemeClr val="accent5"/>
                </a:solidFill>
              </a:rPr>
              <a:t>14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71A900A-8BF5-4238-B577-5FBBE4A75C43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35CE154-6330-485C-8E80-D5D601B2BAD6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B81528B6-CA31-41D3-86C3-327E28EF020F}"/>
              </a:ext>
            </a:extLst>
          </p:cNvPr>
          <p:cNvSpPr>
            <a:spLocks noGrp="1"/>
          </p:cNvSpPr>
          <p:nvPr>
            <p:ph type="pic" idx="14"/>
          </p:nvPr>
        </p:nvSpPr>
        <p:spPr/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7B188587-A119-4DCD-9E44-87DD8E11DB77}"/>
              </a:ext>
            </a:extLst>
          </p:cNvPr>
          <p:cNvSpPr>
            <a:spLocks noGrp="1"/>
          </p:cNvSpPr>
          <p:nvPr>
            <p:ph type="pic" idx="18"/>
          </p:nvPr>
        </p:nvSpPr>
        <p:spPr/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64A63084-1C07-498F-8ABA-7542F89DAC64}"/>
              </a:ext>
            </a:extLst>
          </p:cNvPr>
          <p:cNvSpPr>
            <a:spLocks noGrp="1"/>
          </p:cNvSpPr>
          <p:nvPr/>
        </p:nvSpPr>
        <p:spPr>
          <a:xfrm>
            <a:off x="523875" y="400079"/>
            <a:ext cx="3143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ПРЕИМУЩЕСТВА РЕШЕНИЯ</a:t>
            </a:r>
          </a:p>
        </p:txBody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AEBBB399-8ED5-4D5C-9A30-E080AAA8ED6E}"/>
              </a:ext>
            </a:extLst>
          </p:cNvPr>
          <p:cNvSpPr>
            <a:spLocks noGrp="1"/>
          </p:cNvSpPr>
          <p:nvPr/>
        </p:nvSpPr>
        <p:spPr>
          <a:xfrm>
            <a:off x="190500" y="1095375"/>
            <a:ext cx="11811000" cy="51435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58" name="Прямоугольник: скругленные углы 57">
            <a:extLst>
              <a:ext uri="{FF2B5EF4-FFF2-40B4-BE49-F238E27FC236}">
                <a16:creationId xmlns:a16="http://schemas.microsoft.com/office/drawing/2014/main" id="{7D762C35-59FF-4653-8BA9-B2F4A3745A40}"/>
              </a:ext>
            </a:extLst>
          </p:cNvPr>
          <p:cNvSpPr>
            <a:spLocks noGrp="1"/>
          </p:cNvSpPr>
          <p:nvPr/>
        </p:nvSpPr>
        <p:spPr>
          <a:xfrm>
            <a:off x="523875" y="1476375"/>
            <a:ext cx="3381375" cy="4524375"/>
          </a:xfrm>
          <a:prstGeom prst="roundRect">
            <a:avLst>
              <a:gd name="adj" fmla="val 5070"/>
            </a:avLst>
          </a:prstGeom>
          <a:solidFill>
            <a:srgbClr val="F8F5FA"/>
          </a:solidFill>
          <a:ln w="9525">
            <a:solidFill>
              <a:srgbClr val="FFD6E4"/>
            </a:solidFill>
            <a:prstDash val="solid"/>
          </a:ln>
        </p:spPr>
      </p:sp>
      <p:sp>
        <p:nvSpPr>
          <p:cNvPr id="59" name="Прямоугольник: скругленные углы 58">
            <a:extLst>
              <a:ext uri="{FF2B5EF4-FFF2-40B4-BE49-F238E27FC236}">
                <a16:creationId xmlns:a16="http://schemas.microsoft.com/office/drawing/2014/main" id="{678989DE-478B-42ED-9B3F-4497D47F4B0B}"/>
              </a:ext>
            </a:extLst>
          </p:cNvPr>
          <p:cNvSpPr>
            <a:spLocks noGrp="1"/>
          </p:cNvSpPr>
          <p:nvPr/>
        </p:nvSpPr>
        <p:spPr>
          <a:xfrm>
            <a:off x="4333875" y="1476375"/>
            <a:ext cx="3524250" cy="4524375"/>
          </a:xfrm>
          <a:prstGeom prst="roundRect">
            <a:avLst>
              <a:gd name="adj" fmla="val 4865"/>
            </a:avLst>
          </a:prstGeom>
          <a:solidFill>
            <a:srgbClr val="F8F5FA"/>
          </a:solidFill>
          <a:ln w="9525">
            <a:solidFill>
              <a:srgbClr val="FFD6E4"/>
            </a:solidFill>
            <a:prstDash val="solid"/>
          </a:ln>
        </p:spPr>
      </p:sp>
      <p:sp>
        <p:nvSpPr>
          <p:cNvPr id="60" name="Прямоугольник: скругленные углы 59">
            <a:extLst>
              <a:ext uri="{FF2B5EF4-FFF2-40B4-BE49-F238E27FC236}">
                <a16:creationId xmlns:a16="http://schemas.microsoft.com/office/drawing/2014/main" id="{9AE2C542-8BCA-46DF-9DF7-E23556B973E1}"/>
              </a:ext>
            </a:extLst>
          </p:cNvPr>
          <p:cNvSpPr>
            <a:spLocks noGrp="1"/>
          </p:cNvSpPr>
          <p:nvPr/>
        </p:nvSpPr>
        <p:spPr>
          <a:xfrm>
            <a:off x="8239125" y="1476375"/>
            <a:ext cx="3429000" cy="4524375"/>
          </a:xfrm>
          <a:prstGeom prst="roundRect">
            <a:avLst>
              <a:gd name="adj" fmla="val 5000"/>
            </a:avLst>
          </a:prstGeom>
          <a:solidFill>
            <a:srgbClr val="F8F5FA"/>
          </a:solidFill>
          <a:ln w="9525">
            <a:solidFill>
              <a:srgbClr val="FFD6E4"/>
            </a:solidFill>
            <a:prstDash val="solid"/>
          </a:ln>
        </p:spPr>
      </p:sp>
      <p:sp>
        <p:nvSpPr>
          <p:cNvPr id="61" name="Прямоугольник 60">
            <a:extLst>
              <a:ext uri="{FF2B5EF4-FFF2-40B4-BE49-F238E27FC236}">
                <a16:creationId xmlns:a16="http://schemas.microsoft.com/office/drawing/2014/main" id="{699BF430-9049-4794-B0B5-308FFF2CFA69}"/>
              </a:ext>
            </a:extLst>
          </p:cNvPr>
          <p:cNvSpPr>
            <a:spLocks noGrp="1"/>
          </p:cNvSpPr>
          <p:nvPr/>
        </p:nvSpPr>
        <p:spPr>
          <a:xfrm>
            <a:off x="781050" y="1743075"/>
            <a:ext cx="666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95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95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2" name="Прямоугольник 61">
            <a:extLst>
              <a:ext uri="{FF2B5EF4-FFF2-40B4-BE49-F238E27FC236}">
                <a16:creationId xmlns:a16="http://schemas.microsoft.com/office/drawing/2014/main" id="{C74BA895-6FDE-4CF5-A665-83B28BD8197D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9527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Скорость работы</a:t>
            </a:r>
          </a:p>
        </p:txBody>
      </p:sp>
      <p:sp>
        <p:nvSpPr>
          <p:cNvPr id="63" name="Прямоугольник 62">
            <a:extLst>
              <a:ext uri="{FF2B5EF4-FFF2-40B4-BE49-F238E27FC236}">
                <a16:creationId xmlns:a16="http://schemas.microsoft.com/office/drawing/2014/main" id="{D0F37E2B-49DC-42C7-9987-FE93E215648B}"/>
              </a:ext>
            </a:extLst>
          </p:cNvPr>
          <p:cNvSpPr>
            <a:spLocks noGrp="1"/>
          </p:cNvSpPr>
          <p:nvPr/>
        </p:nvSpPr>
        <p:spPr>
          <a:xfrm>
            <a:off x="781050" y="3143250"/>
            <a:ext cx="2952750" cy="2724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19050" bIns="0" anchor="t">
            <a:normAutofit/>
          </a:bodyPr>
          <a:lstStyle/>
          <a:p>
            <a:pPr marL="215900" indent="-101600" algn="l">
              <a:lnSpc>
                <a:spcPct val="108000"/>
              </a:lnSpc>
              <a:spcAft>
                <a:spcPts val="1000"/>
              </a:spcAft>
              <a:buNone/>
              <a:defRPr sz="1275" b="0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Параллельный ingest, кэш эмбеддингов и инкрементальный пересчёт сокращают полный цикл.</a:t>
            </a:r>
          </a:p>
          <a:p>
            <a:pPr marL="215900" indent="-101600" algn="l">
              <a:lnSpc>
                <a:spcPct val="108000"/>
              </a:lnSpc>
              <a:spcAft>
                <a:spcPts val="1000"/>
              </a:spcAft>
              <a:buNone/>
              <a:defRPr sz="1275" b="0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endParaRPr sz="1275" b="0">
              <a:solidFill>
                <a:srgbClr val="310F53"/>
              </a:solidFill>
              <a:latin typeface="Montserrat"/>
              <a:ea typeface="Montserrat"/>
              <a:cs typeface="Montserrat"/>
            </a:endParaRPr>
          </a:p>
          <a:p>
            <a:pPr marL="215900" indent="-101600" algn="l">
              <a:lnSpc>
                <a:spcPct val="108000"/>
              </a:lnSpc>
              <a:spcAft>
                <a:spcPts val="1000"/>
              </a:spcAft>
              <a:buNone/>
              <a:defRPr sz="1275" b="0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Повторный запуск обрабатывает только новые документы и затронутые технологии.</a:t>
            </a:r>
          </a:p>
        </p:txBody>
      </p:sp>
      <p:sp>
        <p:nvSpPr>
          <p:cNvPr id="64" name="Прямоугольник 63">
            <a:extLst>
              <a:ext uri="{FF2B5EF4-FFF2-40B4-BE49-F238E27FC236}">
                <a16:creationId xmlns:a16="http://schemas.microsoft.com/office/drawing/2014/main" id="{5E5EB107-0CC8-4397-8D09-19F9E697944F}"/>
              </a:ext>
            </a:extLst>
          </p:cNvPr>
          <p:cNvSpPr>
            <a:spLocks noGrp="1"/>
          </p:cNvSpPr>
          <p:nvPr/>
        </p:nvSpPr>
        <p:spPr>
          <a:xfrm>
            <a:off x="4619625" y="1743075"/>
            <a:ext cx="666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95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95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65" name="Прямоугольник 64">
            <a:extLst>
              <a:ext uri="{FF2B5EF4-FFF2-40B4-BE49-F238E27FC236}">
                <a16:creationId xmlns:a16="http://schemas.microsoft.com/office/drawing/2014/main" id="{AF623A34-BE06-463F-858A-B634E89B4B09}"/>
              </a:ext>
            </a:extLst>
          </p:cNvPr>
          <p:cNvSpPr>
            <a:spLocks noGrp="1"/>
          </p:cNvSpPr>
          <p:nvPr/>
        </p:nvSpPr>
        <p:spPr>
          <a:xfrm>
            <a:off x="4619625" y="2428875"/>
            <a:ext cx="29527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Интерпретируемость</a:t>
            </a:r>
          </a:p>
        </p:txBody>
      </p:sp>
      <p:sp>
        <p:nvSpPr>
          <p:cNvPr id="66" name="Прямоугольник 65">
            <a:extLst>
              <a:ext uri="{FF2B5EF4-FFF2-40B4-BE49-F238E27FC236}">
                <a16:creationId xmlns:a16="http://schemas.microsoft.com/office/drawing/2014/main" id="{EB69814B-E0DA-4034-8987-BC6B8A0C519A}"/>
              </a:ext>
            </a:extLst>
          </p:cNvPr>
          <p:cNvSpPr>
            <a:spLocks noGrp="1"/>
          </p:cNvSpPr>
          <p:nvPr/>
        </p:nvSpPr>
        <p:spPr>
          <a:xfrm>
            <a:off x="4619625" y="3143250"/>
            <a:ext cx="2952750" cy="2724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19050" bIns="0" anchor="t">
            <a:normAutofit/>
          </a:bodyPr>
          <a:lstStyle/>
          <a:p>
            <a:pPr marL="215900" indent="-101600" algn="l">
              <a:lnSpc>
                <a:spcPct val="108000"/>
              </a:lnSpc>
              <a:spcAft>
                <a:spcPts val="1000"/>
              </a:spcAft>
              <a:buNone/>
              <a:defRPr sz="1275" b="0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Карточка показывает признаки, их вклад и причины исключения.</a:t>
            </a:r>
          </a:p>
          <a:p>
            <a:pPr marL="215900" indent="-101600" algn="l">
              <a:lnSpc>
                <a:spcPct val="108000"/>
              </a:lnSpc>
              <a:spcAft>
                <a:spcPts val="1000"/>
              </a:spcAft>
              <a:buNone/>
              <a:defRPr sz="1275" b="0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endParaRPr sz="1275" b="0">
              <a:solidFill>
                <a:srgbClr val="310F53"/>
              </a:solidFill>
              <a:latin typeface="Montserrat"/>
              <a:ea typeface="Montserrat"/>
              <a:cs typeface="Montserrat"/>
            </a:endParaRPr>
          </a:p>
          <a:p>
            <a:pPr marL="215900" indent="-101600" algn="l">
              <a:lnSpc>
                <a:spcPct val="108000"/>
              </a:lnSpc>
              <a:spcAft>
                <a:spcPts val="1000"/>
              </a:spcAft>
              <a:buNone/>
              <a:defRPr sz="1275" b="0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Каждый вывод связан с цитатой и исходным документом, поэтому эксперт может проверить доказательство.</a:t>
            </a:r>
          </a:p>
        </p:txBody>
      </p:sp>
      <p:sp>
        <p:nvSpPr>
          <p:cNvPr id="67" name="Прямоугольник 66">
            <a:extLst>
              <a:ext uri="{FF2B5EF4-FFF2-40B4-BE49-F238E27FC236}">
                <a16:creationId xmlns:a16="http://schemas.microsoft.com/office/drawing/2014/main" id="{697910CF-3A01-40B3-8FCB-760D4A366E8B}"/>
              </a:ext>
            </a:extLst>
          </p:cNvPr>
          <p:cNvSpPr>
            <a:spLocks noGrp="1"/>
          </p:cNvSpPr>
          <p:nvPr/>
        </p:nvSpPr>
        <p:spPr>
          <a:xfrm>
            <a:off x="8543925" y="1743075"/>
            <a:ext cx="666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95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95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68" name="Прямоугольник 67">
            <a:extLst>
              <a:ext uri="{FF2B5EF4-FFF2-40B4-BE49-F238E27FC236}">
                <a16:creationId xmlns:a16="http://schemas.microsoft.com/office/drawing/2014/main" id="{45997EBB-4CA7-471A-AC25-76D2D08B1F9D}"/>
              </a:ext>
            </a:extLst>
          </p:cNvPr>
          <p:cNvSpPr>
            <a:spLocks noGrp="1"/>
          </p:cNvSpPr>
          <p:nvPr/>
        </p:nvSpPr>
        <p:spPr>
          <a:xfrm>
            <a:off x="8543925" y="2428875"/>
            <a:ext cx="29527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Масштабируемость</a:t>
            </a:r>
          </a:p>
        </p:txBody>
      </p:sp>
      <p:sp>
        <p:nvSpPr>
          <p:cNvPr id="69" name="Прямоугольник 68">
            <a:extLst>
              <a:ext uri="{FF2B5EF4-FFF2-40B4-BE49-F238E27FC236}">
                <a16:creationId xmlns:a16="http://schemas.microsoft.com/office/drawing/2014/main" id="{A52FD6FD-CDB7-4415-8593-5B9058BE2768}"/>
              </a:ext>
            </a:extLst>
          </p:cNvPr>
          <p:cNvSpPr>
            <a:spLocks noGrp="1"/>
          </p:cNvSpPr>
          <p:nvPr/>
        </p:nvSpPr>
        <p:spPr>
          <a:xfrm>
            <a:off x="8543925" y="3143250"/>
            <a:ext cx="2952750" cy="2724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19050" bIns="0" anchor="t">
            <a:normAutofit/>
          </a:bodyPr>
          <a:lstStyle/>
          <a:p>
            <a:pPr marL="215900" indent="-101600" algn="l">
              <a:lnSpc>
                <a:spcPct val="108000"/>
              </a:lnSpc>
              <a:spcAft>
                <a:spcPts val="1000"/>
              </a:spcAft>
              <a:buNone/>
              <a:defRPr sz="1275" b="0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Новые источники подключаются отдельными адаптерами.</a:t>
            </a:r>
          </a:p>
          <a:p>
            <a:pPr marL="215900" indent="-101600" algn="l">
              <a:lnSpc>
                <a:spcPct val="108000"/>
              </a:lnSpc>
              <a:spcAft>
                <a:spcPts val="1000"/>
              </a:spcAft>
              <a:buNone/>
              <a:defRPr sz="1275" b="0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endParaRPr sz="1275" b="0">
              <a:solidFill>
                <a:srgbClr val="310F53"/>
              </a:solidFill>
              <a:latin typeface="Montserrat"/>
              <a:ea typeface="Montserrat"/>
              <a:cs typeface="Montserrat"/>
            </a:endParaRPr>
          </a:p>
          <a:p>
            <a:pPr marL="215900" indent="-101600" algn="l">
              <a:lnSpc>
                <a:spcPct val="108000"/>
              </a:lnSpc>
              <a:spcAft>
                <a:spcPts val="1000"/>
              </a:spcAft>
              <a:buNone/>
              <a:defRPr sz="1275" b="0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Очереди, временной граф Neo4j и API позволяют расширять покрытие и нагрузку без перестройки системы.</a:t>
            </a:r>
          </a:p>
        </p:txBody>
      </p:sp>
    </p:spTree>
    <p:extLst>
      <p:ext uri="{BB962C8B-B14F-4D97-AF65-F5344CB8AC3E}">
        <p14:creationId xmlns:p14="http://schemas.microsoft.com/office/powerpoint/2010/main" val="1163964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E0C4469B-8AAE-7B13-015A-FD424E4F9A97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42900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294820D9-0FE7-A2CD-6EC6-B191A0CD90DC}"/>
              </a:ext>
            </a:extLst>
          </p:cNvPr>
          <p:cNvSpPr>
            <a:spLocks noGrp="1"/>
          </p:cNvSpPr>
          <p:nvPr/>
        </p:nvSpPr>
        <p:spPr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7AE51F4F-C2FB-09FC-6139-35E790E33BDF}"/>
              </a:ext>
            </a:extLst>
          </p:cNvPr>
          <p:cNvSpPr>
            <a:spLocks noGrp="1"/>
          </p:cNvSpPr>
          <p:nvPr/>
        </p:nvSpPr>
        <p:spPr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34B52819-C376-FDAF-2B5B-09C492119CCF}"/>
              </a:ext>
            </a:extLst>
          </p:cNvPr>
          <p:cNvSpPr>
            <a:spLocks noGrp="1"/>
          </p:cNvSpPr>
          <p:nvPr/>
        </p:nvSpPr>
        <p:spPr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6CDADF58-3FDE-0896-F558-2E50261FFD44}"/>
              </a:ext>
            </a:extLst>
          </p:cNvPr>
          <p:cNvSpPr>
            <a:spLocks noGrp="1"/>
          </p:cNvSpPr>
          <p:nvPr/>
        </p:nvSpPr>
        <p:spPr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CD942BE0-7170-CE73-83AB-4505964EB89D}"/>
              </a:ext>
            </a:extLst>
          </p:cNvPr>
          <p:cNvSpPr>
            <a:spLocks noGrp="1"/>
          </p:cNvSpPr>
          <p:nvPr/>
        </p:nvSpPr>
        <p:spPr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BF0860DA-9B9B-19E2-49DF-A8EDAA7C2B5F}"/>
              </a:ext>
            </a:extLst>
          </p:cNvPr>
          <p:cNvSpPr>
            <a:spLocks noGrp="1"/>
          </p:cNvSpPr>
          <p:nvPr/>
        </p:nvSpPr>
        <p:spPr>
          <a:xfrm>
            <a:off x="346076" y="1366423"/>
            <a:ext cx="5389562" cy="4834352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3F7DC2-0D9C-407C-98AC-5F3AD231C5C8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23887" y="1732103"/>
            <a:ext cx="4734175" cy="4139307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algn="l">
              <a:buNone/>
            </a:pPr>
            <a:endParaRPr sz="3600" b="1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A2E8600-6DC7-42A4-BAB0-32ECA492CE0A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172730" y="1445505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517FCEF-DEC9-4794-B46E-21961558A7C8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6172730" y="247287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36B8339-2490-447D-B543-1CC15487D82C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6172730" y="348592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240FC05B-8F07-40FA-BE0D-2235F9DDDAB2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172730" y="4496593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D049C016-4655-4C58-B392-FD255E0A768B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172730" y="5516924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366E9534-A66A-4DF6-B8DA-1E6D8E4438FA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633200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>
                <a:solidFill>
                  <a:schemeClr val="accent5"/>
                </a:solidFill>
              </a:rPr>
              <a:t>15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9AEDC8E7-5D0F-4859-B7F1-8184B06634D4}"/>
              </a:ext>
            </a:extLst>
          </p:cNvPr>
          <p:cNvSpPr>
            <a:spLocks noGrp="1"/>
          </p:cNvSpPr>
          <p:nvPr/>
        </p:nvSpPr>
        <p:spPr>
          <a:xfrm>
            <a:off x="190500" y="866775"/>
            <a:ext cx="11811000" cy="56197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6" name="content-title">
            <a:extLst>
              <a:ext uri="{FF2B5EF4-FFF2-40B4-BE49-F238E27FC236}">
                <a16:creationId xmlns:a16="http://schemas.microsoft.com/office/drawing/2014/main" id="{D8758FD5-738D-4287-8952-45A870844FD4}"/>
              </a:ext>
            </a:extLst>
          </p:cNvPr>
          <p:cNvSpPr>
            <a:spLocks noGrp="1"/>
          </p:cNvSpPr>
          <p:nvPr/>
        </p:nvSpPr>
        <p:spPr>
          <a:xfrm>
            <a:off x="523875" y="390525"/>
            <a:ext cx="34290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89015"/>
          </a:bodyPr>
          <a:lstStyle/>
          <a:p>
            <a:pPr algn="l">
              <a:buNone/>
              <a:def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МАСШТАБИРОВАНИЕ И ВНЕДРЕНИЕ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2E6729C6-3377-482A-B789-5B7A68B241AB}"/>
              </a:ext>
            </a:extLst>
          </p:cNvPr>
          <p:cNvSpPr>
            <a:spLocks noGrp="1"/>
          </p:cNvSpPr>
          <p:nvPr/>
        </p:nvSpPr>
        <p:spPr>
          <a:xfrm>
            <a:off x="523875" y="10001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E6476"/>
                </a:solidFill>
                <a:latin typeface="Montserrat"/>
                <a:ea typeface="Montserrat"/>
                <a:cs typeface="Montserrat"/>
              </a:defRPr>
            </a:pPr>
            <a:r>
              <a:rPr sz="1350" b="0" dirty="0" err="1">
                <a:solidFill>
                  <a:srgbClr val="6E6476"/>
                </a:solidFill>
                <a:latin typeface="Montserrat"/>
                <a:ea typeface="Montserrat"/>
                <a:cs typeface="Montserrat"/>
              </a:rPr>
              <a:t>Пять</a:t>
            </a:r>
            <a:r>
              <a:rPr sz="1350" b="0" dirty="0">
                <a:solidFill>
                  <a:srgbClr val="6E6476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350" b="0" dirty="0" err="1">
                <a:solidFill>
                  <a:srgbClr val="6E6476"/>
                </a:solidFill>
                <a:latin typeface="Montserrat"/>
                <a:ea typeface="Montserrat"/>
                <a:cs typeface="Montserrat"/>
              </a:rPr>
              <a:t>этапов</a:t>
            </a:r>
            <a:r>
              <a:rPr sz="1350" b="0" dirty="0">
                <a:solidFill>
                  <a:srgbClr val="6E6476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350" b="0" dirty="0" err="1">
                <a:solidFill>
                  <a:srgbClr val="6E6476"/>
                </a:solidFill>
                <a:latin typeface="Montserrat"/>
                <a:ea typeface="Montserrat"/>
                <a:cs typeface="Montserrat"/>
              </a:rPr>
              <a:t>развития</a:t>
            </a:r>
            <a:r>
              <a:rPr sz="1350" b="0" dirty="0">
                <a:solidFill>
                  <a:srgbClr val="6E6476"/>
                </a:solidFill>
                <a:latin typeface="Montserrat"/>
                <a:ea typeface="Montserrat"/>
                <a:cs typeface="Montserrat"/>
              </a:rPr>
              <a:t>: </a:t>
            </a:r>
            <a:r>
              <a:rPr sz="1350" b="0" dirty="0" err="1">
                <a:solidFill>
                  <a:srgbClr val="6E6476"/>
                </a:solidFill>
                <a:latin typeface="Montserrat"/>
                <a:ea typeface="Montserrat"/>
                <a:cs typeface="Montserrat"/>
              </a:rPr>
              <a:t>от</a:t>
            </a:r>
            <a:r>
              <a:rPr sz="1350" b="0" dirty="0">
                <a:solidFill>
                  <a:srgbClr val="6E6476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350" b="0" dirty="0" err="1">
                <a:solidFill>
                  <a:srgbClr val="6E6476"/>
                </a:solidFill>
                <a:latin typeface="Montserrat"/>
                <a:ea typeface="Montserrat"/>
                <a:cs typeface="Montserrat"/>
              </a:rPr>
              <a:t>расширения</a:t>
            </a:r>
            <a:r>
              <a:rPr sz="1350" b="0" dirty="0">
                <a:solidFill>
                  <a:srgbClr val="6E6476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350" b="0" dirty="0" err="1">
                <a:solidFill>
                  <a:srgbClr val="6E6476"/>
                </a:solidFill>
                <a:latin typeface="Montserrat"/>
                <a:ea typeface="Montserrat"/>
                <a:cs typeface="Montserrat"/>
              </a:rPr>
              <a:t>данных</a:t>
            </a:r>
            <a:r>
              <a:rPr sz="1350" b="0" dirty="0">
                <a:solidFill>
                  <a:srgbClr val="6E6476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350" b="0" dirty="0" err="1">
                <a:solidFill>
                  <a:srgbClr val="6E6476"/>
                </a:solidFill>
                <a:latin typeface="Montserrat"/>
                <a:ea typeface="Montserrat"/>
                <a:cs typeface="Montserrat"/>
              </a:rPr>
              <a:t>до</a:t>
            </a:r>
            <a:r>
              <a:rPr sz="1350" b="0" dirty="0">
                <a:solidFill>
                  <a:srgbClr val="6E6476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350" b="0" dirty="0" err="1">
                <a:solidFill>
                  <a:srgbClr val="6E6476"/>
                </a:solidFill>
                <a:latin typeface="Montserrat"/>
                <a:ea typeface="Montserrat"/>
                <a:cs typeface="Montserrat"/>
              </a:rPr>
              <a:t>эксплуатации</a:t>
            </a:r>
            <a:r>
              <a:rPr sz="1350" b="0" dirty="0">
                <a:solidFill>
                  <a:srgbClr val="6E6476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350" b="0" dirty="0" err="1">
                <a:solidFill>
                  <a:srgbClr val="6E6476"/>
                </a:solidFill>
                <a:latin typeface="Montserrat"/>
                <a:ea typeface="Montserrat"/>
                <a:cs typeface="Montserrat"/>
              </a:rPr>
              <a:t>во</a:t>
            </a:r>
            <a:r>
              <a:rPr sz="1350" b="0" dirty="0">
                <a:solidFill>
                  <a:srgbClr val="6E6476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350" b="0" dirty="0" err="1">
                <a:solidFill>
                  <a:srgbClr val="6E6476"/>
                </a:solidFill>
                <a:latin typeface="Montserrat"/>
                <a:ea typeface="Montserrat"/>
                <a:cs typeface="Montserrat"/>
              </a:rPr>
              <a:t>внутреннем</a:t>
            </a:r>
            <a:r>
              <a:rPr sz="1350" b="0" dirty="0">
                <a:solidFill>
                  <a:srgbClr val="6E6476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350" b="0" dirty="0" err="1">
                <a:solidFill>
                  <a:srgbClr val="6E6476"/>
                </a:solidFill>
                <a:latin typeface="Montserrat"/>
                <a:ea typeface="Montserrat"/>
                <a:cs typeface="Montserrat"/>
              </a:rPr>
              <a:t>контуре</a:t>
            </a:r>
            <a:r>
              <a:rPr sz="1350" b="0" dirty="0">
                <a:solidFill>
                  <a:srgbClr val="6E6476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350" b="0" dirty="0" err="1">
                <a:solidFill>
                  <a:srgbClr val="6E6476"/>
                </a:solidFill>
                <a:latin typeface="Montserrat"/>
                <a:ea typeface="Montserrat"/>
                <a:cs typeface="Montserrat"/>
              </a:rPr>
              <a:t>Газпромбанка</a:t>
            </a:r>
            <a:endParaRPr sz="1350" b="0" dirty="0">
              <a:solidFill>
                <a:srgbClr val="6E6476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8965E234-2024-40C1-B58C-3297B218CC00}"/>
              </a:ext>
            </a:extLst>
          </p:cNvPr>
          <p:cNvSpPr>
            <a:spLocks noGrp="1"/>
          </p:cNvSpPr>
          <p:nvPr/>
        </p:nvSpPr>
        <p:spPr>
          <a:xfrm>
            <a:off x="428625" y="1924050"/>
            <a:ext cx="2095500" cy="3238500"/>
          </a:xfrm>
          <a:prstGeom prst="roundRect">
            <a:avLst>
              <a:gd name="adj" fmla="val 7273"/>
            </a:avLst>
          </a:prstGeom>
          <a:solidFill>
            <a:srgbClr val="F8F5FA"/>
          </a:solidFill>
          <a:ln w="9525">
            <a:solidFill>
              <a:srgbClr val="8A83D1"/>
            </a:solidFill>
            <a:prstDash val="solid"/>
          </a:ln>
        </p:spPr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CDC83284-8E41-4E87-BC75-077744BDC3F5}"/>
              </a:ext>
            </a:extLst>
          </p:cNvPr>
          <p:cNvSpPr>
            <a:spLocks noGrp="1"/>
          </p:cNvSpPr>
          <p:nvPr/>
        </p:nvSpPr>
        <p:spPr>
          <a:xfrm>
            <a:off x="600075" y="2143125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00A7A5E8-423F-4995-827D-381BF3AAF256}"/>
              </a:ext>
            </a:extLst>
          </p:cNvPr>
          <p:cNvSpPr>
            <a:spLocks noGrp="1"/>
          </p:cNvSpPr>
          <p:nvPr/>
        </p:nvSpPr>
        <p:spPr>
          <a:xfrm>
            <a:off x="600075" y="2628900"/>
            <a:ext cx="17526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135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Расширение источников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6CAF32ED-F139-4152-B3E2-5D8028D0166C}"/>
              </a:ext>
            </a:extLst>
          </p:cNvPr>
          <p:cNvSpPr>
            <a:spLocks noGrp="1"/>
          </p:cNvSpPr>
          <p:nvPr/>
        </p:nvSpPr>
        <p:spPr>
          <a:xfrm>
            <a:off x="427037" y="3387765"/>
            <a:ext cx="2097088" cy="170894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0" rIns="19050" bIns="0" anchor="t">
            <a:normAutofit lnSpcReduction="10000"/>
          </a:bodyPr>
          <a:lstStyle/>
          <a:p>
            <a:pPr algn="ctr">
              <a:lnSpc>
                <a:spcPct val="104000"/>
              </a:lnSpc>
              <a:buNone/>
              <a:defRPr sz="1050" b="0">
                <a:solidFill>
                  <a:srgbClr val="6E6476"/>
                </a:solidFill>
                <a:latin typeface="Montserrat"/>
                <a:ea typeface="Montserrat"/>
                <a:cs typeface="Montserrat"/>
              </a:defRPr>
            </a:pPr>
            <a:r>
              <a:rPr lang="ru-RU" dirty="0"/>
              <a:t>Подключить патенты, отраслевые стандарты, регуляторные документы, корпоративную отчётность и профильные СМИ. Это повысит полноту поиска и позволит раньше находить переход технологии от исследований к практическому применению.</a:t>
            </a:r>
            <a:endParaRPr sz="1050" b="0" dirty="0">
              <a:solidFill>
                <a:srgbClr val="6E6476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EB6395CA-0F4B-4D0E-A254-7FA15973488E}"/>
              </a:ext>
            </a:extLst>
          </p:cNvPr>
          <p:cNvSpPr>
            <a:spLocks noGrp="1"/>
          </p:cNvSpPr>
          <p:nvPr/>
        </p:nvSpPr>
        <p:spPr>
          <a:xfrm>
            <a:off x="2762250" y="1924050"/>
            <a:ext cx="2095500" cy="3238500"/>
          </a:xfrm>
          <a:prstGeom prst="roundRect">
            <a:avLst>
              <a:gd name="adj" fmla="val 7273"/>
            </a:avLst>
          </a:prstGeom>
          <a:solidFill>
            <a:srgbClr val="F8F5FA"/>
          </a:solidFill>
          <a:ln w="9525">
            <a:solidFill>
              <a:srgbClr val="8A83D1"/>
            </a:solidFill>
            <a:prstDash val="solid"/>
          </a:ln>
        </p:spPr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0871EFC8-DD41-43A2-899C-BDE195A6D08C}"/>
              </a:ext>
            </a:extLst>
          </p:cNvPr>
          <p:cNvSpPr>
            <a:spLocks noGrp="1"/>
          </p:cNvSpPr>
          <p:nvPr/>
        </p:nvSpPr>
        <p:spPr>
          <a:xfrm>
            <a:off x="2933700" y="2143125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845495B0-DC88-4622-80A2-78F476A1E8EE}"/>
              </a:ext>
            </a:extLst>
          </p:cNvPr>
          <p:cNvSpPr>
            <a:spLocks noGrp="1"/>
          </p:cNvSpPr>
          <p:nvPr/>
        </p:nvSpPr>
        <p:spPr>
          <a:xfrm>
            <a:off x="2933700" y="2628900"/>
            <a:ext cx="17526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135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lang="ru-RU" dirty="0"/>
              <a:t>Отраслевые профили</a:t>
            </a:r>
            <a:endParaRPr sz="1350" b="1" dirty="0">
              <a:solidFill>
                <a:srgbClr val="310F53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0A8C4069-D19D-4CD1-8B80-0A6900A095D2}"/>
              </a:ext>
            </a:extLst>
          </p:cNvPr>
          <p:cNvSpPr>
            <a:spLocks noGrp="1"/>
          </p:cNvSpPr>
          <p:nvPr/>
        </p:nvSpPr>
        <p:spPr>
          <a:xfrm>
            <a:off x="2760662" y="3457575"/>
            <a:ext cx="2095500" cy="163913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0" rIns="19050" bIns="0" anchor="t">
            <a:normAutofit lnSpcReduction="10000"/>
          </a:bodyPr>
          <a:lstStyle/>
          <a:p>
            <a:pPr algn="ctr">
              <a:lnSpc>
                <a:spcPct val="104000"/>
              </a:lnSpc>
              <a:buNone/>
              <a:defRPr sz="1050" b="0">
                <a:solidFill>
                  <a:srgbClr val="6E6476"/>
                </a:solidFill>
                <a:latin typeface="Montserrat"/>
                <a:ea typeface="Montserrat"/>
                <a:cs typeface="Montserrat"/>
              </a:defRPr>
            </a:pPr>
            <a:r>
              <a:rPr lang="ru-RU" dirty="0"/>
              <a:t>Настроить отдельные наборы признаков и правил для финансов, промышленности, энергетики, кибербезопасности и других направлений. Одна технология может иметь разную зрелость и ценность в зависимости от отрасли.</a:t>
            </a:r>
            <a:endParaRPr sz="1050" b="0" dirty="0">
              <a:solidFill>
                <a:srgbClr val="6E6476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32234F1-D436-4A47-B622-EF914C52B8C6}"/>
              </a:ext>
            </a:extLst>
          </p:cNvPr>
          <p:cNvSpPr>
            <a:spLocks noGrp="1"/>
          </p:cNvSpPr>
          <p:nvPr/>
        </p:nvSpPr>
        <p:spPr>
          <a:xfrm>
            <a:off x="5095875" y="1924050"/>
            <a:ext cx="2095500" cy="3238500"/>
          </a:xfrm>
          <a:prstGeom prst="roundRect">
            <a:avLst>
              <a:gd name="adj" fmla="val 7273"/>
            </a:avLst>
          </a:prstGeom>
          <a:solidFill>
            <a:srgbClr val="FFD6E4"/>
          </a:solidFill>
          <a:ln w="9525">
            <a:solidFill>
              <a:srgbClr val="FC3777"/>
            </a:solidFill>
            <a:prstDash val="solid"/>
          </a:ln>
        </p:spPr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1A6E33A3-E2B0-4C8C-BBB5-66778AC83A05}"/>
              </a:ext>
            </a:extLst>
          </p:cNvPr>
          <p:cNvSpPr>
            <a:spLocks noGrp="1"/>
          </p:cNvSpPr>
          <p:nvPr/>
        </p:nvSpPr>
        <p:spPr>
          <a:xfrm>
            <a:off x="5267325" y="2143125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AF8B2FB3-5D39-41B3-AE45-2BE925175EF5}"/>
              </a:ext>
            </a:extLst>
          </p:cNvPr>
          <p:cNvSpPr>
            <a:spLocks noGrp="1"/>
          </p:cNvSpPr>
          <p:nvPr/>
        </p:nvSpPr>
        <p:spPr>
          <a:xfrm>
            <a:off x="5267325" y="2628900"/>
            <a:ext cx="17526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135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lang="ru-RU" dirty="0"/>
              <a:t>Экспертная обратная связь</a:t>
            </a:r>
            <a:endParaRPr sz="1350" b="1" dirty="0">
              <a:solidFill>
                <a:srgbClr val="310F53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BA06DC88-B650-4F3F-B3BF-62018647C790}"/>
              </a:ext>
            </a:extLst>
          </p:cNvPr>
          <p:cNvSpPr>
            <a:spLocks noGrp="1"/>
          </p:cNvSpPr>
          <p:nvPr/>
        </p:nvSpPr>
        <p:spPr>
          <a:xfrm>
            <a:off x="5078736" y="3457575"/>
            <a:ext cx="2095500" cy="1665782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0" rIns="19050" bIns="0" anchor="t">
            <a:normAutofit/>
          </a:bodyPr>
          <a:lstStyle/>
          <a:p>
            <a:pPr algn="ctr">
              <a:lnSpc>
                <a:spcPct val="104000"/>
              </a:lnSpc>
              <a:buNone/>
              <a:defRPr sz="1050" b="0">
                <a:solidFill>
                  <a:srgbClr val="6E6476"/>
                </a:solidFill>
                <a:latin typeface="Montserrat"/>
                <a:ea typeface="Montserrat"/>
                <a:cs typeface="Montserrat"/>
              </a:defRPr>
            </a:pPr>
            <a:r>
              <a:rPr lang="ru-RU" dirty="0"/>
              <a:t>Добавить возможность подтверждать, отклонять и комментировать найденные сигналы. Эти оценки можно использовать для обучения модели и адаптации ранжирования под задачи конкретных подразделений.</a:t>
            </a:r>
            <a:endParaRPr sz="1050" b="0" dirty="0">
              <a:solidFill>
                <a:srgbClr val="6E6476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EAD3587E-4138-4B71-AF88-008F416FF77D}"/>
              </a:ext>
            </a:extLst>
          </p:cNvPr>
          <p:cNvSpPr>
            <a:spLocks noGrp="1"/>
          </p:cNvSpPr>
          <p:nvPr/>
        </p:nvSpPr>
        <p:spPr>
          <a:xfrm>
            <a:off x="7429500" y="1924050"/>
            <a:ext cx="2095500" cy="3238500"/>
          </a:xfrm>
          <a:prstGeom prst="roundRect">
            <a:avLst>
              <a:gd name="adj" fmla="val 7273"/>
            </a:avLst>
          </a:prstGeom>
          <a:solidFill>
            <a:srgbClr val="F8F5FA"/>
          </a:solidFill>
          <a:ln w="9525">
            <a:solidFill>
              <a:srgbClr val="8A83D1"/>
            </a:solidFill>
            <a:prstDash val="solid"/>
          </a:ln>
        </p:spPr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65D50F69-031C-441F-BF69-CBD0127433ED}"/>
              </a:ext>
            </a:extLst>
          </p:cNvPr>
          <p:cNvSpPr>
            <a:spLocks noGrp="1"/>
          </p:cNvSpPr>
          <p:nvPr/>
        </p:nvSpPr>
        <p:spPr>
          <a:xfrm>
            <a:off x="7600950" y="2143125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7A0E841C-517B-47FD-A432-2FC6DC51001F}"/>
              </a:ext>
            </a:extLst>
          </p:cNvPr>
          <p:cNvSpPr>
            <a:spLocks noGrp="1"/>
          </p:cNvSpPr>
          <p:nvPr/>
        </p:nvSpPr>
        <p:spPr>
          <a:xfrm>
            <a:off x="7600950" y="2628900"/>
            <a:ext cx="17526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135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lang="ru-RU" dirty="0"/>
              <a:t>Мониторинг качества</a:t>
            </a:r>
            <a:endParaRPr lang="ru-RU" sz="1350" b="1" dirty="0">
              <a:solidFill>
                <a:srgbClr val="310F53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C6C3D7E4-0F34-4AEA-9A24-FA7C4F46060D}"/>
              </a:ext>
            </a:extLst>
          </p:cNvPr>
          <p:cNvSpPr>
            <a:spLocks noGrp="1"/>
          </p:cNvSpPr>
          <p:nvPr/>
        </p:nvSpPr>
        <p:spPr>
          <a:xfrm>
            <a:off x="7429500" y="3457575"/>
            <a:ext cx="2095500" cy="163913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0" rIns="19050" bIns="0" anchor="t">
            <a:normAutofit/>
          </a:bodyPr>
          <a:lstStyle/>
          <a:p>
            <a:pPr algn="ctr">
              <a:lnSpc>
                <a:spcPct val="104000"/>
              </a:lnSpc>
              <a:buNone/>
              <a:defRPr sz="1050" b="0">
                <a:solidFill>
                  <a:srgbClr val="6E6476"/>
                </a:solidFill>
                <a:latin typeface="Montserrat"/>
                <a:ea typeface="Montserrat"/>
                <a:cs typeface="Montserrat"/>
              </a:defRPr>
            </a:pPr>
            <a:r>
              <a:rPr lang="ru-RU" dirty="0"/>
              <a:t>Контролировать свежесть данных, доступность источников, изменение распределения признаков и качество TOP-15. Это позволит быстро обнаруживать деградацию модели или неполноту сбора данных.</a:t>
            </a:r>
            <a:endParaRPr sz="1050" b="0" dirty="0">
              <a:solidFill>
                <a:srgbClr val="6E6476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44" name="Прямоугольник: скругленные углы 43">
            <a:extLst>
              <a:ext uri="{FF2B5EF4-FFF2-40B4-BE49-F238E27FC236}">
                <a16:creationId xmlns:a16="http://schemas.microsoft.com/office/drawing/2014/main" id="{BB033416-DC74-438C-AE72-35C4813EA13F}"/>
              </a:ext>
            </a:extLst>
          </p:cNvPr>
          <p:cNvSpPr>
            <a:spLocks noGrp="1"/>
          </p:cNvSpPr>
          <p:nvPr/>
        </p:nvSpPr>
        <p:spPr>
          <a:xfrm>
            <a:off x="9763125" y="1924050"/>
            <a:ext cx="2095500" cy="3238500"/>
          </a:xfrm>
          <a:prstGeom prst="roundRect">
            <a:avLst>
              <a:gd name="adj" fmla="val 7273"/>
            </a:avLst>
          </a:prstGeom>
          <a:solidFill>
            <a:srgbClr val="F8F5FA"/>
          </a:solidFill>
          <a:ln w="9525">
            <a:solidFill>
              <a:srgbClr val="8A83D1"/>
            </a:solidFill>
            <a:prstDash val="solid"/>
          </a:ln>
        </p:spPr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FB22B552-4AF7-4961-9DDE-B04C96B05597}"/>
              </a:ext>
            </a:extLst>
          </p:cNvPr>
          <p:cNvSpPr>
            <a:spLocks noGrp="1"/>
          </p:cNvSpPr>
          <p:nvPr/>
        </p:nvSpPr>
        <p:spPr>
          <a:xfrm>
            <a:off x="9934575" y="2143125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05</a:t>
            </a:r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A179D26E-306A-41B9-8F43-A60CC83CB4B4}"/>
              </a:ext>
            </a:extLst>
          </p:cNvPr>
          <p:cNvSpPr>
            <a:spLocks noGrp="1"/>
          </p:cNvSpPr>
          <p:nvPr/>
        </p:nvSpPr>
        <p:spPr>
          <a:xfrm>
            <a:off x="9934575" y="2628900"/>
            <a:ext cx="17526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135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lang="ru-RU" dirty="0"/>
              <a:t>Распределённая обработка</a:t>
            </a:r>
            <a:endParaRPr sz="1350" b="1" dirty="0">
              <a:solidFill>
                <a:srgbClr val="310F53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64438096-8230-4E69-973E-F32159A52C87}"/>
              </a:ext>
            </a:extLst>
          </p:cNvPr>
          <p:cNvSpPr>
            <a:spLocks noGrp="1"/>
          </p:cNvSpPr>
          <p:nvPr/>
        </p:nvSpPr>
        <p:spPr>
          <a:xfrm>
            <a:off x="9775825" y="3457575"/>
            <a:ext cx="2095500" cy="163913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0" rIns="19050" bIns="0" anchor="t">
            <a:normAutofit lnSpcReduction="10000"/>
          </a:bodyPr>
          <a:lstStyle/>
          <a:p>
            <a:pPr algn="ctr">
              <a:lnSpc>
                <a:spcPct val="104000"/>
              </a:lnSpc>
              <a:buNone/>
              <a:defRPr sz="1050" b="0">
                <a:solidFill>
                  <a:srgbClr val="6E6476"/>
                </a:solidFill>
                <a:latin typeface="Montserrat"/>
                <a:ea typeface="Montserrat"/>
                <a:cs typeface="Montserrat"/>
              </a:defRPr>
            </a:pPr>
            <a:r>
              <a:rPr lang="ru-RU" dirty="0"/>
              <a:t>Разделить загрузку документов, извлечение фактов, построение графа и расчёт признаков на независимые очереди задач. Это позволит горизонтально увеличивать вычислительные ресурсы при росте числа источников и запросов.</a:t>
            </a:r>
            <a:endParaRPr sz="1050" b="0" dirty="0">
              <a:solidFill>
                <a:srgbClr val="6E6476"/>
              </a:solidFill>
              <a:latin typeface="Montserrat"/>
              <a:ea typeface="Montserrat"/>
              <a:cs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069895185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2039</Words>
  <Application>Microsoft Office PowerPoint</Application>
  <DocSecurity>0</DocSecurity>
  <PresentationFormat>Широкоэкранный</PresentationFormat>
  <Paragraphs>245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Arial</vt:lpstr>
      <vt:lpstr>Lato Light</vt:lpstr>
      <vt:lpstr>Montserrat</vt:lpstr>
      <vt:lpstr>Poppins Light</vt:lpstr>
      <vt:lpstr>Wingdings</vt:lpstr>
      <vt:lpstr>Для Академия инноваторов 16_9</vt:lpstr>
      <vt:lpstr>Лавандовый Раф</vt:lpstr>
      <vt:lpstr>Команда Лавандовый Раф</vt:lpstr>
      <vt:lpstr>Команда Лавандовый Раф</vt:lpstr>
      <vt:lpstr>Команда Лавандовый Раф</vt:lpstr>
      <vt:lpstr>КОРОТКО О РЕШЕНИИ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Игорь</cp:lastModifiedBy>
  <cp:revision>2</cp:revision>
  <dcterms:created xsi:type="dcterms:W3CDTF">2026-09-29T18:55:34Z</dcterms:created>
  <dcterms:modified xsi:type="dcterms:W3CDTF">2026-09-29T19:21:48Z</dcterms:modified>
</cp:coreProperties>
</file>